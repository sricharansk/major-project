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27" r:id="rId16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TIMELINE / GANTT CHART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(all suites)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73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models, but stays within 0.01–0.05 mph of the GRU and temporal Transformer with one seed, so no superiority is claimed.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TIMELINE / GANTT CHART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Phase (planned hours in the 24-hour plan)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1691640"/>
            <a:ext cx="146304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 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81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4 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10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8 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770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12 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 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106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48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20 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774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5156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029968"/>
            <a:ext cx="0" cy="4233672"/>
          </a:xfrm>
          <a:prstGeom prst="line">
            <a:avLst/>
          </a:prstGeom>
          <a:ln w="9525">
            <a:solidFill>
              <a:srgbClr val="D5DD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07568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Hardware audit, repository, source checks</a:t>
            </a:r>
          </a:p>
        </p:txBody>
      </p:sp>
      <p:sp>
        <p:nvSpPr>
          <p:cNvPr id="22" name="Planned Hardware audit, repository, source checks"/>
          <p:cNvSpPr/>
          <p:nvPr/>
        </p:nvSpPr>
        <p:spPr>
          <a:xfrm>
            <a:off x="4343400" y="2121408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207568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42773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download, database, schema reports</a:t>
            </a:r>
          </a:p>
        </p:txBody>
      </p:sp>
      <p:sp>
        <p:nvSpPr>
          <p:cNvPr id="25" name="Planned Real-data download, database, schema reports"/>
          <p:cNvSpPr/>
          <p:nvPr/>
        </p:nvSpPr>
        <p:spPr>
          <a:xfrm>
            <a:off x="4610100" y="2473452"/>
            <a:ext cx="5334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242773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77977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Preprocessing, graph, features, leakage tests</a:t>
            </a:r>
          </a:p>
        </p:txBody>
      </p:sp>
      <p:sp>
        <p:nvSpPr>
          <p:cNvPr id="28" name="Planned Preprocessing, graph, features, leakage tests"/>
          <p:cNvSpPr/>
          <p:nvPr/>
        </p:nvSpPr>
        <p:spPr>
          <a:xfrm>
            <a:off x="4876800" y="2825496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27080" y="277977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13182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Baselines and proposed-model training</a:t>
            </a:r>
          </a:p>
        </p:txBody>
      </p:sp>
      <p:sp>
        <p:nvSpPr>
          <p:cNvPr id="31" name="Planned Baselines and proposed-model training"/>
          <p:cNvSpPr/>
          <p:nvPr/>
        </p:nvSpPr>
        <p:spPr>
          <a:xfrm>
            <a:off x="5410200" y="3177539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27080" y="313182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483864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Calibration and model explanations</a:t>
            </a:r>
          </a:p>
        </p:txBody>
      </p:sp>
      <p:sp>
        <p:nvSpPr>
          <p:cNvPr id="34" name="Planned Calibration and model explanations"/>
          <p:cNvSpPr/>
          <p:nvPr/>
        </p:nvSpPr>
        <p:spPr>
          <a:xfrm>
            <a:off x="5943600" y="3529584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27080" y="3483864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83590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Corpus, FAISS, real LLM, RAG evaluation</a:t>
            </a:r>
          </a:p>
        </p:txBody>
      </p:sp>
      <p:sp>
        <p:nvSpPr>
          <p:cNvPr id="37" name="Planned Corpus, FAISS, real LLM, RAG evaluation"/>
          <p:cNvSpPr/>
          <p:nvPr/>
        </p:nvSpPr>
        <p:spPr>
          <a:xfrm>
            <a:off x="6210300" y="3881628"/>
            <a:ext cx="10668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383590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18795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mapping, demand, baseline controllers</a:t>
            </a:r>
          </a:p>
        </p:txBody>
      </p:sp>
      <p:sp>
        <p:nvSpPr>
          <p:cNvPr id="40" name="Planned SUMO mapping, demand, baseline controllers"/>
          <p:cNvSpPr/>
          <p:nvPr/>
        </p:nvSpPr>
        <p:spPr>
          <a:xfrm>
            <a:off x="6743700" y="4233672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27080" y="418795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539996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LangGraph, constraints, worker, human review</a:t>
            </a:r>
          </a:p>
        </p:txBody>
      </p:sp>
      <p:sp>
        <p:nvSpPr>
          <p:cNvPr id="43" name="Planned LangGraph, constraints, worker, human review"/>
          <p:cNvSpPr/>
          <p:nvPr/>
        </p:nvSpPr>
        <p:spPr>
          <a:xfrm>
            <a:off x="7277100" y="4585716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27080" y="4539996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92040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dashboard, MLflow tracking</a:t>
            </a:r>
          </a:p>
        </p:txBody>
      </p:sp>
      <p:sp>
        <p:nvSpPr>
          <p:cNvPr id="46" name="Planned FastAPI, dashboard, MLflow tracking"/>
          <p:cNvSpPr/>
          <p:nvPr/>
        </p:nvSpPr>
        <p:spPr>
          <a:xfrm>
            <a:off x="7810500" y="4937759"/>
            <a:ext cx="13335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27080" y="4892040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244083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End-to-end tests, ablations, paired simulation</a:t>
            </a:r>
          </a:p>
        </p:txBody>
      </p:sp>
      <p:sp>
        <p:nvSpPr>
          <p:cNvPr id="49" name="Planned End-to-end tests, ablations, paired simulation"/>
          <p:cNvSpPr/>
          <p:nvPr/>
        </p:nvSpPr>
        <p:spPr>
          <a:xfrm>
            <a:off x="8610600" y="5289803"/>
            <a:ext cx="1333500" cy="219456"/>
          </a:xfrm>
          <a:prstGeom prst="rect">
            <a:avLst/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27080" y="5244083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Partial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596128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README, Docker verification, clean-up</a:t>
            </a:r>
          </a:p>
        </p:txBody>
      </p:sp>
      <p:sp>
        <p:nvSpPr>
          <p:cNvPr id="52" name="Planned README, Docker verification, clean-up"/>
          <p:cNvSpPr/>
          <p:nvPr/>
        </p:nvSpPr>
        <p:spPr>
          <a:xfrm>
            <a:off x="9677400" y="5641848"/>
            <a:ext cx="8001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27080" y="5596128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948172"/>
            <a:ext cx="384048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Freeze artifacts, status report, final review</a:t>
            </a:r>
          </a:p>
        </p:txBody>
      </p:sp>
      <p:sp>
        <p:nvSpPr>
          <p:cNvPr id="55" name="Planned Freeze artifacts, status report, final review"/>
          <p:cNvSpPr/>
          <p:nvPr/>
        </p:nvSpPr>
        <p:spPr>
          <a:xfrm>
            <a:off x="10477500" y="5993892"/>
            <a:ext cx="266700" cy="21945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27080" y="5948172"/>
            <a:ext cx="1463040" cy="30175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Completed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327648"/>
            <a:ext cx="118872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Bars: planned window (project specification). Colour: actual status, 19–21 Oct 2026 (repository history). Next milestones: calibrate West St signal timing to the observed 10.95 mph (or obtain DOT timing plans) → controller comparison; multi-seed training; paper submission.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