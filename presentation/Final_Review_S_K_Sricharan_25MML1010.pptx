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324" r:id="rId3"/>
    <p:sldId id="259" r:id="rId4"/>
    <p:sldId id="260" r:id="rId5"/>
    <p:sldId id="325" r:id="rId6"/>
    <p:sldId id="336" r:id="rId23"/>
    <p:sldId id="333" r:id="rId7"/>
    <p:sldId id="334" r:id="rId8"/>
    <p:sldId id="265" r:id="rId9"/>
    <p:sldId id="335" r:id="rId10"/>
    <p:sldId id="312" r:id="rId11"/>
    <p:sldId id="328" r:id="rId12"/>
    <p:sldId id="330" r:id="rId13"/>
    <p:sldId id="332" r:id="rId14"/>
    <p:sldId id="331" r:id="rId15"/>
    <p:sldId id="337" r:id="rId24"/>
    <p:sldId id="339" r:id="rId26"/>
    <p:sldId id="340" r:id="rId27"/>
    <p:sldId id="341" r:id="rId28"/>
    <p:sldId id="342" r:id="rId29"/>
    <p:sldId id="327" r:id="rId16"/>
    <p:sldId id="343" r:id="rId30"/>
    <p:sldId id="338" r:id="rId25"/>
    <p:sldId id="321" r:id="rId17"/>
  </p:sldIdLst>
  <p:sldSz cx="12801600" cy="7315200"/>
  <p:notesSz cx="6858000" cy="9144000"/>
  <p:defaultTextStyle>
    <a:defPPr>
      <a:defRPr lang="en-US"/>
    </a:defPPr>
    <a:lvl1pPr marL="0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04">
          <p15:clr>
            <a:srgbClr val="A4A3A4"/>
          </p15:clr>
        </p15:guide>
        <p15:guide id="2" pos="403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E1F2"/>
    <a:srgbClr val="558ED5"/>
    <a:srgbClr val="C6D9F1"/>
    <a:srgbClr val="558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902" y="67"/>
      </p:cViewPr>
      <p:guideLst>
        <p:guide orient="horz" pos="2304"/>
        <p:guide pos="4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21.xml"/><Relationship Id="rId17" Type="http://schemas.openxmlformats.org/officeDocument/2006/relationships/slide" Target="slides/slide2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6.xml"/><Relationship Id="rId24" Type="http://schemas.openxmlformats.org/officeDocument/2006/relationships/slide" Target="slides/slide16.xml"/><Relationship Id="rId25" Type="http://schemas.openxmlformats.org/officeDocument/2006/relationships/slide" Target="slides/slide23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Test MAE (mph) by model and horizon — lower is better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15 min</c:v>
                </c:pt>
              </c:strCache>
            </c:strRef>
          </c:tx>
          <c:spPr>
            <a:solidFill>
              <a:srgbClr val="9CBCE6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5.1386</c:v>
                </c:pt>
                <c:pt idx="1">
                  <c:v>7.6321</c:v>
                </c:pt>
                <c:pt idx="2">
                  <c:v>4.8229</c:v>
                </c:pt>
                <c:pt idx="3">
                  <c:v>4.8725</c:v>
                </c:pt>
                <c:pt idx="4">
                  <c:v>4.7145</c:v>
                </c:pt>
                <c:pt idx="5">
                  <c:v>4.7334</c:v>
                </c:pt>
                <c:pt idx="6">
                  <c:v>4.7726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 min</c:v>
                </c:pt>
              </c:strCache>
            </c:strRef>
          </c:tx>
          <c:spPr>
            <a:solidFill>
              <a:srgbClr val="548DD4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6.0556</c:v>
                </c:pt>
                <c:pt idx="1">
                  <c:v>7.6329</c:v>
                </c:pt>
                <c:pt idx="2">
                  <c:v>5.5792</c:v>
                </c:pt>
                <c:pt idx="3">
                  <c:v>5.5993</c:v>
                </c:pt>
                <c:pt idx="4">
                  <c:v>5.3731</c:v>
                </c:pt>
                <c:pt idx="5">
                  <c:v>5.3375</c:v>
                </c:pt>
                <c:pt idx="6">
                  <c:v>5.3308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60 min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7.2875</c:v>
                </c:pt>
                <c:pt idx="1">
                  <c:v>7.6369</c:v>
                </c:pt>
                <c:pt idx="2">
                  <c:v>6.3079</c:v>
                </c:pt>
                <c:pt idx="3">
                  <c:v>6.315</c:v>
                </c:pt>
                <c:pt idx="4">
                  <c:v>6.1742</c:v>
                </c:pt>
                <c:pt idx="5">
                  <c:v>6.1835</c:v>
                </c:pt>
                <c:pt idx="6">
                  <c:v>6.1546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A1A1A"/>
                  </a:solidFill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Gridlines>
          <c:spPr>
            <a:ln>
              <a:solidFill>
                <a:srgbClr val="DDE3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Advisory decisions in 19 workflow runs (REPLAY cases)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Runs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Sheet1!$A$2:$A$6</c:f>
              <c:strCache>
                <c:ptCount val="5"/>
                <c:pt idx="0">
                  <c:v>PENDING_HUMAN_REVIEW</c:v>
                </c:pt>
                <c:pt idx="1">
                  <c:v>REJECT_CONSTRAINT</c:v>
                </c:pt>
                <c:pt idx="2">
                  <c:v>DEFER_UNCERTAINTY</c:v>
                </c:pt>
                <c:pt idx="3">
                  <c:v>DEFER_DATA</c:v>
                </c:pt>
                <c:pt idx="4">
                  <c:v>DEFER_EVIDENCE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5</c:v>
                </c:pt>
                <c:pt idx="2">
                  <c:v>5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CD7A36-15CF-4B40-B7C9-B299C824610E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8625" y="685800"/>
            <a:ext cx="6000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DE4103-D868-498D-BB7B-ABDA25F974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36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2272456"/>
            <a:ext cx="10881360" cy="156802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0240" y="4145280"/>
            <a:ext cx="8961120" cy="18694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747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494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241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98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736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48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230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977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2E1E87-9C15-4984-91E0-215221CAF7F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82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16BE9-D6CB-4D14-A12D-7F5512E1435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61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238" y="4700695"/>
            <a:ext cx="10881360" cy="1452880"/>
          </a:xfrm>
        </p:spPr>
        <p:txBody>
          <a:bodyPr anchor="t"/>
          <a:lstStyle>
            <a:lvl1pPr algn="l">
              <a:defRPr sz="51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1238" y="3100496"/>
            <a:ext cx="10881360" cy="1600199"/>
          </a:xfrm>
        </p:spPr>
        <p:txBody>
          <a:bodyPr anchor="b"/>
          <a:lstStyle>
            <a:lvl1pPr marL="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1pPr>
            <a:lvl2pPr marL="57472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14944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3pPr>
            <a:lvl4pPr marL="172417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29889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87362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44834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402306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5977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A9D04-24B9-408C-A000-3B78FDBD0AE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23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74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91B48-F2B5-44C0-A324-732125246729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833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37454"/>
            <a:ext cx="5656263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319868"/>
            <a:ext cx="5656263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03037" y="1637454"/>
            <a:ext cx="5658485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3037" y="2319868"/>
            <a:ext cx="5658485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37E91-F602-4F18-92CA-FB1A231376B0}" type="datetime1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7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18EFE-411D-495F-AE32-482368671348}" type="datetime1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217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129DD-E279-4A67-BA32-75987FE76FB7}" type="datetime1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10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2" y="291252"/>
            <a:ext cx="4211638" cy="1239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5070" y="291255"/>
            <a:ext cx="7156450" cy="6243321"/>
          </a:xfrm>
        </p:spPr>
        <p:txBody>
          <a:bodyPr/>
          <a:lstStyle>
            <a:lvl1pPr>
              <a:defRPr sz="3900"/>
            </a:lvl1pPr>
            <a:lvl2pPr>
              <a:defRPr sz="35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2" y="1530775"/>
            <a:ext cx="4211638" cy="5003802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BA02B-9B73-458F-B848-E99C8FA83242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43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9203" y="5120640"/>
            <a:ext cx="7680960" cy="604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09203" y="653626"/>
            <a:ext cx="7680960" cy="4389120"/>
          </a:xfrm>
        </p:spPr>
        <p:txBody>
          <a:bodyPr/>
          <a:lstStyle>
            <a:lvl1pPr marL="0" indent="0">
              <a:buNone/>
              <a:defRPr sz="3900"/>
            </a:lvl1pPr>
            <a:lvl2pPr marL="574724" indent="0">
              <a:buNone/>
              <a:defRPr sz="3500"/>
            </a:lvl2pPr>
            <a:lvl3pPr marL="1149448" indent="0">
              <a:buNone/>
              <a:defRPr sz="3000"/>
            </a:lvl3pPr>
            <a:lvl4pPr marL="1724172" indent="0">
              <a:buNone/>
              <a:defRPr sz="2500"/>
            </a:lvl4pPr>
            <a:lvl5pPr marL="2298895" indent="0">
              <a:buNone/>
              <a:defRPr sz="2500"/>
            </a:lvl5pPr>
            <a:lvl6pPr marL="2873621" indent="0">
              <a:buNone/>
              <a:defRPr sz="2500"/>
            </a:lvl6pPr>
            <a:lvl7pPr marL="3448344" indent="0">
              <a:buNone/>
              <a:defRPr sz="2500"/>
            </a:lvl7pPr>
            <a:lvl8pPr marL="4023069" indent="0">
              <a:buNone/>
              <a:defRPr sz="2500"/>
            </a:lvl8pPr>
            <a:lvl9pPr marL="4597793" indent="0">
              <a:buNone/>
              <a:defRPr sz="2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09203" y="5725161"/>
            <a:ext cx="7680960" cy="858519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52997-1B9E-4EF2-B260-9EB38D81F553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600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370E5-7D69-44CE-AE73-71BFC3B68EE4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0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81160" y="292948"/>
            <a:ext cx="2880360" cy="624162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92948"/>
            <a:ext cx="8427720" cy="624162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F8B80-F83C-48AA-AA3F-63D37C1606D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35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92946"/>
            <a:ext cx="11521440" cy="1219200"/>
          </a:xfrm>
          <a:prstGeom prst="rect">
            <a:avLst/>
          </a:prstGeom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706880"/>
            <a:ext cx="11521440" cy="4827694"/>
          </a:xfrm>
          <a:prstGeom prst="rect">
            <a:avLst/>
          </a:prstGeom>
        </p:spPr>
        <p:txBody>
          <a:bodyPr vert="horz" lIns="114945" tIns="57473" rIns="114945" bIns="5747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5C8E2D-1657-4F9E-9BA7-8881C66FCBC2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73880" y="6780107"/>
            <a:ext cx="40538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744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038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1149448" rtl="0" eaLnBrk="1" latinLnBrk="0" hangingPunct="1">
        <a:spcBef>
          <a:spcPct val="0"/>
        </a:spcBef>
        <a:buNone/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044" indent="-431044" algn="l" defTabSz="1149448" rtl="0" eaLnBrk="1" latinLnBrk="0" hangingPunct="1">
        <a:spcBef>
          <a:spcPct val="20000"/>
        </a:spcBef>
        <a:buFont typeface="Arial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1pPr>
      <a:lvl2pPr marL="933926" indent="-359202" algn="l" defTabSz="1149448" rtl="0" eaLnBrk="1" latinLnBrk="0" hangingPunct="1">
        <a:spcBef>
          <a:spcPct val="20000"/>
        </a:spcBef>
        <a:buFont typeface="Arial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3681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1534" indent="-287362" algn="l" defTabSz="1149448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86258" indent="-287362" algn="l" defTabSz="1149448" rtl="0" eaLnBrk="1" latinLnBrk="0" hangingPunct="1">
        <a:spcBef>
          <a:spcPct val="20000"/>
        </a:spcBef>
        <a:buFont typeface="Arial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0983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35707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1043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85155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472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49448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4172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298895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73621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4834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23069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97793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801600" cy="1600199"/>
          </a:xfrm>
          <a:solidFill>
            <a:schemeClr val="tx2">
              <a:lumMod val="60000"/>
              <a:lumOff val="40000"/>
            </a:schemeClr>
          </a:solidFill>
        </p:spPr>
        <p:txBody>
          <a:bodyPr anchor="ctr">
            <a:noAutofit/>
          </a:bodyPr>
          <a:lstStyle/>
          <a:p>
            <a:pPr algn="ctr"/>
            <a:r>
              <a:rPr lang="en-US" sz="4000" b="0" dirty="0" i="0">
                <a:solidFill>
                  <a:srgbClr val="1A1A1A"/>
                </a:solidFill>
                <a:latin typeface="Arial" panose="020B0604020202020204" pitchFamily="34" charset="0"/>
                <a:cs typeface="Arial" panose="020B0604020202020204" pitchFamily="34" charset="0"/>
                <a:ea typeface="Arial"/>
              </a:rPr>
              <a:t>Predictive Analytics for Smart City Infrastructure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3200400"/>
            <a:ext cx="12070080" cy="3977639"/>
          </a:xfrm>
        </p:spPr>
        <p:txBody>
          <a:bodyPr wrap="square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Project Work Final Review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Presented by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 K Sricharan (25MML1010)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(Artificial Intelligence and Machine Learning – In collaboration with LTI Mindtree)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Under the Guidance of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Dr R. Srinivasa Perumal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Associate Professor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School of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Vellore Institute of Technology, Chennai.</a:t>
            </a:r>
          </a:p>
        </p:txBody>
      </p:sp>
      <p:pic>
        <p:nvPicPr>
          <p:cNvPr id="4" name="VIT Chennai 15 years logo" descr="vit_chennai_15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783080"/>
            <a:ext cx="4937760" cy="132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843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76200" y="1600200"/>
            <a:ext cx="12649200" cy="5638800"/>
          </a:xfrm>
          <a:prstGeom prst="rect">
            <a:avLst/>
          </a:prstGeom>
        </p:spPr>
        <p:txBody>
          <a:bodyPr vert="horz" lIns="114945" tIns="57473" rIns="114945" bIns="57473" rtlCol="0">
            <a:normAutofit fontScale="92500" lnSpcReduction="20000"/>
          </a:bodyPr>
          <a:lstStyle>
            <a:lvl1pPr marL="431044" indent="-431044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33926" indent="-35920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3681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11534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86258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160983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735707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31043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85155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ABSTRACT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LITERATURE SURVEY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GAPS 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OBJECTIVES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WORK DONE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RESULTS &amp; OUTCOMES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490154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783080"/>
            <a:ext cx="11978640" cy="4892040"/>
          </a:xfrm>
        </p:spPr>
        <p:txBody>
          <a:bodyPr wrap="square">
            <a:normAutofit/>
          </a:bodyPr>
          <a:lstStyle/>
          <a:p>
            <a:pPr marL="0" indent="0" algn="just">
              <a:lnSpc>
                <a:spcPct val="105000"/>
              </a:lnSpc>
              <a:spcAft>
                <a:spcPts val="0"/>
              </a:spcAft>
              <a:buNone/>
            </a:pPr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Traffic control rooms can see congestion as it happens, but rarely receive forecasts that are explained, honest about their uncertainty and tested before an action is suggested. This project builds a decision-support prototype on public New York City data. A context-gated GATv2–Transformer forecasts link speeds 15, 30 and 60 minutes ahead on a graph of 16 Manhattan DOT speed links (January–October 2026), fusing weather, 311 and calendar context through an availability-aware gate. Split-conformal intervals quantify uncertainty, grouped SHAP explains the trained model, and a LangGraph workflow uses a local LLM (qwen2.5 7B) with FAISS retrieval to draft signal advisories that deterministic safety rules and a SUMO simulation must pass before human review. On a 45-day test period the model reaches 4.77, 5.33 and 6.15 mph MAE, 7–16 % below persistence; intervals reach 90 % coverage overall, and retrieval removed every fabricated citation. An audit of the simulation testbed showed it cannot yet support a controller comparison, which is therefore reported as not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943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2920" y="1783080"/>
            <a:ext cx="11795760" cy="384048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Urban congestion depends on demand, neighbouring roads, weather, events and incidents, yet control rooms mostly see only current conditions.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neural networks forecast traffic on road networks [1]–[3], but give point forecasts without uncertainty or explanation.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An LLM can phrase advice convincingly without evidence; retrieval grounding [4] and simulation testing [5] are needed before any signal action.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Objective: join forecasts, uncertainty, explanations, cited evidence and simulation checks in one auditable, human-in-the-loop advisory pipeline on real NYC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5760720"/>
            <a:ext cx="11795760" cy="987552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[5] P. A. Lopez et al., “Microscopic traffic simulation using SUMO,” in Proc. IEEE ITSC, 2018, pp. 2575–2582.</a:t>
            </a:r>
          </a:p>
        </p:txBody>
      </p:sp>
    </p:spTree>
    <p:extLst>
      <p:ext uri="{BB962C8B-B14F-4D97-AF65-F5344CB8AC3E}">
        <p14:creationId xmlns:p14="http://schemas.microsoft.com/office/powerpoint/2010/main" val="2973974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1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[1] Li et al., Diffusion Convolutional Recurrent Neural Network (ICLR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Diffusion convolution on a directed road graph inside a GRU encoder–decoder (seq2seq)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Modelling traffic as diffusion on the directed graph improved multi-step speed forecasts over non-graph baselines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Fixed, predefined graph; point forecasts only; no exogenous context or uncertainty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2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[2] Yu et al., Spatio-Temporal Graph Convolutional Networks (IJCAI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Graph convolution combined with gated temporal convolution; fully convolutional, no recurrence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Accurate short-term forecasts with faster training and fewer parameters than recurrent models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Static graph; point forecasts; no weather or event context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3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[3] Wu et al., Graph WaveNet (IJCAI 2019)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Self-adaptive adjacency matrix learned from data plus dilated causal convolutions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Captures hidden spatial dependencies even when the given graph is incomplete; long receptive field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Learned graph is hard to interpret; no uncertainty estimates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[6] Brody et al., How Attentive are Graph Attention Networks? (ICLR 2022)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GATv2: reorders the attention computation so that attention becomes dynamic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Shows that GAT attention is static; GATv2 is strictly more expressive and performs better on benchmarks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General-purpose graph layer; no temporal modelling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[6] S. Brody, U. Alon, and E. Yahav, “How attentive are graph attention networks?,” in Proc. ICLR, 2022.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 (CONTD.)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[7] Angelopoulos &amp; Bates, A Gentle Introduction to Conformal Prediction (2021)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Split conformal prediction wrapped around any trained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Distribution-free, finite-sample marginal coverage guarantee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Assumes exchangeable data; guarantees marginal, not conditional, coverage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[8] Xu &amp; Xie, Conformal Prediction Interval for Dynamic Time-Series (ICML 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EnbPI: bootstrap ensemble with conformal-style intervals for time series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Approximately valid intervals without exchangeability, under stated assumptions on the errors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Requires an ensemble of models; validity is approximate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7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[9] Lundberg &amp; Lee, A Unified Approach to Interpreting Model Predictions (NeurIPS 2017)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SHAP: Shapley-value feature attribution (KernelSHAP and model-specific variants)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Unifies additive attribution methods with consistency guarantees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Cost grows with the number of features; attributions describe the model, not causes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8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[4] Lewis et al., Retrieval-Augmented Generation (NeurIPS 2020)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Dense passage retriever combined with a seq2seq generator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More specific and factual generation on knowledge-intensive tasks than a parametric-only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Bounded by corpus and retriever quality; can still produce unsupported 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[9] S. M. Lundberg and S.-I. Lee, “A unified approach to interpreting model predictions,” in Proc. NeurIPS, 2017.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4. RESEARCH GAPS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7</a:t>
            </a:fld>
            <a:endParaRPr lang="en-US"/>
          </a:p>
        </p:txBody>
      </p:sp>
      <p:sp>
        <p:nvSpPr>
          <p:cNvPr id="5" name="Gap 1"/>
          <p:cNvSpPr/>
          <p:nvPr/>
        </p:nvSpPr>
        <p:spPr>
          <a:xfrm>
            <a:off x="45720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G1  Forecast stops at the number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forecasting studies [1]–[3] report accuracy but do not connect the forecast to a checked, testable action.</a:t>
            </a:r>
          </a:p>
        </p:txBody>
      </p:sp>
      <p:sp>
        <p:nvSpPr>
          <p:cNvPr id="6" name="Gap 2"/>
          <p:cNvSpPr/>
          <p:nvPr/>
        </p:nvSpPr>
        <p:spPr>
          <a:xfrm>
            <a:off x="448056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G2  Uncertainty does not decide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Point forecasts dominate; interval width and data quality rarely decide whether an advisory is issued.</a:t>
            </a:r>
          </a:p>
        </p:txBody>
      </p:sp>
      <p:sp>
        <p:nvSpPr>
          <p:cNvPr id="7" name="Gap 3"/>
          <p:cNvSpPr/>
          <p:nvPr/>
        </p:nvSpPr>
        <p:spPr>
          <a:xfrm>
            <a:off x="850392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G3  Surrogate explanations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Explanations are often computed on simpler surrogate models instead of the deployed forecaster.</a:t>
            </a:r>
          </a:p>
        </p:txBody>
      </p:sp>
      <p:sp>
        <p:nvSpPr>
          <p:cNvPr id="8" name="Gap 4"/>
          <p:cNvSpPr/>
          <p:nvPr/>
        </p:nvSpPr>
        <p:spPr>
          <a:xfrm>
            <a:off x="45720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G4  Ungrounded LLM advice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LLM recommendations are rarely tied to cited, allow-listed evidence or bounded by deterministic safety rules.</a:t>
            </a:r>
          </a:p>
        </p:txBody>
      </p:sp>
      <p:sp>
        <p:nvSpPr>
          <p:cNvPr id="9" name="Gap 5"/>
          <p:cNvSpPr/>
          <p:nvPr/>
        </p:nvSpPr>
        <p:spPr>
          <a:xfrm>
            <a:off x="448056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G5  Missing context is hidden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Dead sensors and unavailable feeds are usually imputed silently instead of being modelled with availability masks.</a:t>
            </a:r>
          </a:p>
        </p:txBody>
      </p:sp>
      <p:sp>
        <p:nvSpPr>
          <p:cNvPr id="10" name="Gap 6"/>
          <p:cNvSpPr/>
          <p:nvPr/>
        </p:nvSpPr>
        <p:spPr>
          <a:xfrm>
            <a:off x="850392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G6  Untested testbeds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Simulation studies seldom audit route choice, demand and signal timing before comparing controllers.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266A5-DEC6-423E-4642-6DAA4690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9D02-AB68-99CB-182A-0A2671D6B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GB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 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A4E0E-51B9-057E-EB16-03F096791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8</a:t>
            </a:fld>
            <a:endParaRPr lang="en-US"/>
          </a:p>
        </p:txBody>
      </p:sp>
      <p:sp>
        <p:nvSpPr>
          <p:cNvPr id="5" name="Objective badge O1"/>
          <p:cNvSpPr/>
          <p:nvPr/>
        </p:nvSpPr>
        <p:spPr>
          <a:xfrm>
            <a:off x="45720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O1</a:t>
            </a:r>
          </a:p>
        </p:txBody>
      </p:sp>
      <p:sp>
        <p:nvSpPr>
          <p:cNvPr id="6" name="Objective O1"/>
          <p:cNvSpPr txBox="1"/>
          <p:nvPr/>
        </p:nvSpPr>
        <p:spPr>
          <a:xfrm>
            <a:off x="141732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 link speeds 15, 30 and 60 min ahead with a context-gated GATv2–Transformer and compare it with six baselines on identical data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G1, G5</a:t>
            </a:r>
          </a:p>
        </p:txBody>
      </p:sp>
      <p:sp>
        <p:nvSpPr>
          <p:cNvPr id="7" name="Objective badge O2"/>
          <p:cNvSpPr/>
          <p:nvPr/>
        </p:nvSpPr>
        <p:spPr>
          <a:xfrm>
            <a:off x="649224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O2</a:t>
            </a:r>
          </a:p>
        </p:txBody>
      </p:sp>
      <p:sp>
        <p:nvSpPr>
          <p:cNvPr id="8" name="Objective O2"/>
          <p:cNvSpPr txBox="1"/>
          <p:nvPr/>
        </p:nvSpPr>
        <p:spPr>
          <a:xfrm>
            <a:off x="745236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Quantify uncertainty with per-horizon split-conformal intervals and defer advisories when reliability is 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G2</a:t>
            </a:r>
          </a:p>
        </p:txBody>
      </p:sp>
      <p:sp>
        <p:nvSpPr>
          <p:cNvPr id="9" name="Objective badge O3"/>
          <p:cNvSpPr/>
          <p:nvPr/>
        </p:nvSpPr>
        <p:spPr>
          <a:xfrm>
            <a:off x="45720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O3</a:t>
            </a:r>
          </a:p>
        </p:txBody>
      </p:sp>
      <p:sp>
        <p:nvSpPr>
          <p:cNvPr id="10" name="Objective O3"/>
          <p:cNvSpPr txBox="1"/>
          <p:nvPr/>
        </p:nvSpPr>
        <p:spPr>
          <a:xfrm>
            <a:off x="141732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Explain the trained model itself with grouped SHAP and sensitivity tests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G3</a:t>
            </a:r>
          </a:p>
        </p:txBody>
      </p:sp>
      <p:sp>
        <p:nvSpPr>
          <p:cNvPr id="11" name="Objective badge O4"/>
          <p:cNvSpPr/>
          <p:nvPr/>
        </p:nvSpPr>
        <p:spPr>
          <a:xfrm>
            <a:off x="649224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O4</a:t>
            </a:r>
          </a:p>
        </p:txBody>
      </p:sp>
      <p:sp>
        <p:nvSpPr>
          <p:cNvPr id="12" name="Objective O4"/>
          <p:cNvSpPr txBox="1"/>
          <p:nvPr/>
        </p:nvSpPr>
        <p:spPr>
          <a:xfrm>
            <a:off x="745236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Draft advisories with a local LLM that must cite retrieved evidence and pass deterministic safety checks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G4</a:t>
            </a:r>
          </a:p>
        </p:txBody>
      </p:sp>
      <p:sp>
        <p:nvSpPr>
          <p:cNvPr id="13" name="Objective badge O5"/>
          <p:cNvSpPr/>
          <p:nvPr/>
        </p:nvSpPr>
        <p:spPr>
          <a:xfrm>
            <a:off x="45720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O5</a:t>
            </a:r>
          </a:p>
        </p:txBody>
      </p:sp>
      <p:sp>
        <p:nvSpPr>
          <p:cNvPr id="14" name="Objective O5"/>
          <p:cNvSpPr txBox="1"/>
          <p:nvPr/>
        </p:nvSpPr>
        <p:spPr>
          <a:xfrm>
            <a:off x="141732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Test admissible advisories in a SUMO simulation, after verifying the testbed itself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G6</a:t>
            </a:r>
          </a:p>
        </p:txBody>
      </p:sp>
      <p:sp>
        <p:nvSpPr>
          <p:cNvPr id="15" name="Objective badge O6"/>
          <p:cNvSpPr/>
          <p:nvPr/>
        </p:nvSpPr>
        <p:spPr>
          <a:xfrm>
            <a:off x="649224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O6</a:t>
            </a:r>
          </a:p>
        </p:txBody>
      </p:sp>
      <p:sp>
        <p:nvSpPr>
          <p:cNvPr id="16" name="Objective O6"/>
          <p:cNvSpPr txBox="1"/>
          <p:nvPr/>
        </p:nvSpPr>
        <p:spPr>
          <a:xfrm>
            <a:off x="745236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Make every result reproducible and traceable: tests, MLflow, Docker, evidence registry and a paper generated from artifacts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all</a:t>
            </a:r>
          </a:p>
        </p:txBody>
      </p:sp>
    </p:spTree>
    <p:extLst>
      <p:ext uri="{BB962C8B-B14F-4D97-AF65-F5344CB8AC3E}">
        <p14:creationId xmlns:p14="http://schemas.microsoft.com/office/powerpoint/2010/main" val="78698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6. RESEARCH WORK DONE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1521440" cy="301752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4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The research work is organised in four parts: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MODULE IDENTIFICATION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SYSTEM ARCHITECTURE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DEVELOPMENT &amp; INTEGRATION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PROTOTYPE / RESEARCH 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9</a:t>
            </a:fld>
            <a:endParaRPr lang="en-US"/>
          </a:p>
        </p:txBody>
      </p:sp>
      <p:sp>
        <p:nvSpPr>
          <p:cNvPr id="5" name="Stat 1"/>
          <p:cNvSpPr/>
          <p:nvPr/>
        </p:nvSpPr>
        <p:spPr>
          <a:xfrm>
            <a:off x="45720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1,968,303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raw speed records processed</a:t>
            </a:r>
          </a:p>
        </p:txBody>
      </p:sp>
      <p:sp>
        <p:nvSpPr>
          <p:cNvPr id="6" name="Stat 2"/>
          <p:cNvSpPr/>
          <p:nvPr/>
        </p:nvSpPr>
        <p:spPr>
          <a:xfrm>
            <a:off x="347472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Manhattan links modelled</a:t>
            </a:r>
          </a:p>
        </p:txBody>
      </p:sp>
      <p:sp>
        <p:nvSpPr>
          <p:cNvPr id="7" name="Stat 3"/>
          <p:cNvSpPr/>
          <p:nvPr/>
        </p:nvSpPr>
        <p:spPr>
          <a:xfrm>
            <a:off x="649224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forecasting models compared</a:t>
            </a:r>
          </a:p>
        </p:txBody>
      </p:sp>
      <p:sp>
        <p:nvSpPr>
          <p:cNvPr id="8" name="Stat 4"/>
          <p:cNvSpPr/>
          <p:nvPr/>
        </p:nvSpPr>
        <p:spPr>
          <a:xfrm>
            <a:off x="9509759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75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automated tests passing</a:t>
            </a:r>
          </a:p>
        </p:txBody>
      </p:sp>
    </p:spTree>
    <p:extLst>
      <p:ext uri="{BB962C8B-B14F-4D97-AF65-F5344CB8AC3E}">
        <p14:creationId xmlns:p14="http://schemas.microsoft.com/office/powerpoint/2010/main" val="194441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8DAA3-E6F2-B842-5B2C-24A7FD7C2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44116-6BAB-BDE0-8F36-5DA7BCF9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 lvl="1" algn="ctr" fontAlgn="ctr"/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5EFEC-6BF3-4447-1E0F-489E9855A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10</a:t>
            </a:fld>
            <a:endParaRPr lang="en-US"/>
          </a:p>
        </p:txBody>
      </p:sp>
      <p:sp>
        <p:nvSpPr>
          <p:cNvPr id="5" name="Module 1"/>
          <p:cNvSpPr/>
          <p:nvPr/>
        </p:nvSpPr>
        <p:spPr>
          <a:xfrm>
            <a:off x="45720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  Data ingestion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NYC Open Data, Open-Meteo, OSM; resumable downloads with SHA-256 provenance</a:t>
            </a:r>
          </a:p>
        </p:txBody>
      </p:sp>
      <p:sp>
        <p:nvSpPr>
          <p:cNvPr id="6" name="Module 2"/>
          <p:cNvSpPr/>
          <p:nvPr/>
        </p:nvSpPr>
        <p:spPr>
          <a:xfrm>
            <a:off x="347472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M2  Preprocessing &amp; features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5-minute grid, causal lags, availability masks, leakage-tested splits</a:t>
            </a:r>
          </a:p>
        </p:txBody>
      </p:sp>
      <p:sp>
        <p:nvSpPr>
          <p:cNvPr id="7" name="Module 3"/>
          <p:cNvSpPr/>
          <p:nvPr/>
        </p:nvSpPr>
        <p:spPr>
          <a:xfrm>
            <a:off x="649224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M3  Road graph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Directed DOT-link graph (26 nodes, 16 edges) as a PyG Temporal signal [10]</a:t>
            </a:r>
          </a:p>
        </p:txBody>
      </p:sp>
      <p:sp>
        <p:nvSpPr>
          <p:cNvPr id="8" name="Module 4"/>
          <p:cNvSpPr/>
          <p:nvPr/>
        </p:nvSpPr>
        <p:spPr>
          <a:xfrm>
            <a:off x="9509759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M4  Forecasting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Context-gated GATv2–Transformer plus six baselines at 15/30/60 min</a:t>
            </a:r>
          </a:p>
        </p:txBody>
      </p:sp>
      <p:sp>
        <p:nvSpPr>
          <p:cNvPr id="9" name="Module 5"/>
          <p:cNvSpPr/>
          <p:nvPr/>
        </p:nvSpPr>
        <p:spPr>
          <a:xfrm>
            <a:off x="45720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M5  Uncertainty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Per-horizon split-conformal intervals and a reliability gate</a:t>
            </a:r>
          </a:p>
        </p:txBody>
      </p:sp>
      <p:sp>
        <p:nvSpPr>
          <p:cNvPr id="10" name="Module 6"/>
          <p:cNvSpPr/>
          <p:nvPr/>
        </p:nvSpPr>
        <p:spPr>
          <a:xfrm>
            <a:off x="347472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M6  Explainability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Grouped KernelSHAP on the trained model; neighbour and window sensitivity</a:t>
            </a:r>
          </a:p>
        </p:txBody>
      </p:sp>
      <p:sp>
        <p:nvSpPr>
          <p:cNvPr id="11" name="Module 7"/>
          <p:cNvSpPr/>
          <p:nvPr/>
        </p:nvSpPr>
        <p:spPr>
          <a:xfrm>
            <a:off x="649224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M7  Knowledge &amp; RAG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15 approved documents, MiniLM embeddings, FAISS index</a:t>
            </a:r>
          </a:p>
        </p:txBody>
      </p:sp>
      <p:sp>
        <p:nvSpPr>
          <p:cNvPr id="12" name="Module 8"/>
          <p:cNvSpPr/>
          <p:nvPr/>
        </p:nvSpPr>
        <p:spPr>
          <a:xfrm>
            <a:off x="9509759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M8  LLM agent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 workflow; local qwen2.5 7B via Ollama; schema-validated JSON</a:t>
            </a:r>
          </a:p>
        </p:txBody>
      </p:sp>
      <p:sp>
        <p:nvSpPr>
          <p:cNvPr id="13" name="Module 9"/>
          <p:cNvSpPr/>
          <p:nvPr/>
        </p:nvSpPr>
        <p:spPr>
          <a:xfrm>
            <a:off x="45720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M9  Safety constraints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13 deterministic checks; protected TraCI signal controller</a:t>
            </a:r>
          </a:p>
        </p:txBody>
      </p:sp>
      <p:sp>
        <p:nvSpPr>
          <p:cNvPr id="14" name="Module 10"/>
          <p:cNvSpPr/>
          <p:nvPr/>
        </p:nvSpPr>
        <p:spPr>
          <a:xfrm>
            <a:off x="347472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M10  Simulation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1.28 West Street corridor; matched seeds; testbed audit</a:t>
            </a:r>
          </a:p>
        </p:txBody>
      </p:sp>
      <p:sp>
        <p:nvSpPr>
          <p:cNvPr id="15" name="Module 11"/>
          <p:cNvSpPr/>
          <p:nvPr/>
        </p:nvSpPr>
        <p:spPr>
          <a:xfrm>
            <a:off x="649224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M11  Services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PostgreSQL/PostGIS job queue, worker, Streamlit dashboard</a:t>
            </a:r>
          </a:p>
        </p:txBody>
      </p:sp>
      <p:sp>
        <p:nvSpPr>
          <p:cNvPr id="16" name="Module 12"/>
          <p:cNvSpPr/>
          <p:nvPr/>
        </p:nvSpPr>
        <p:spPr>
          <a:xfrm>
            <a:off x="9509759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M12  Tracking &amp; reporting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MLflow, evidence registry, claims ledger, paper tables from artifacts</a:t>
            </a:r>
          </a:p>
        </p:txBody>
      </p:sp>
    </p:spTree>
    <p:extLst>
      <p:ext uri="{BB962C8B-B14F-4D97-AF65-F5344CB8AC3E}">
        <p14:creationId xmlns:p14="http://schemas.microsoft.com/office/powerpoint/2010/main" val="2855362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11</a:t>
            </a:fld>
            <a:endParaRPr lang="en-US"/>
          </a:p>
        </p:txBody>
      </p:sp>
      <p:sp>
        <p:nvSpPr>
          <p:cNvPr id="5" name="Arch stage 1"/>
          <p:cNvSpPr/>
          <p:nvPr/>
        </p:nvSpPr>
        <p:spPr>
          <a:xfrm>
            <a:off x="457200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Public data sources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(NYC DOT, ATR, 311, events, Open-Meteo, OSM)</a:t>
            </a:r>
          </a:p>
        </p:txBody>
      </p:sp>
      <p:sp>
        <p:nvSpPr>
          <p:cNvPr id="6" name="Arch stage 2"/>
          <p:cNvSpPr/>
          <p:nvPr/>
        </p:nvSpPr>
        <p:spPr>
          <a:xfrm>
            <a:off x="2889503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Ingestion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provenance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33472" y="2308860"/>
            <a:ext cx="23774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h stage 3"/>
          <p:cNvSpPr/>
          <p:nvPr/>
        </p:nvSpPr>
        <p:spPr>
          <a:xfrm>
            <a:off x="5321807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Preprocessing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causal features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65775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rch stage 4"/>
          <p:cNvSpPr/>
          <p:nvPr/>
        </p:nvSpPr>
        <p:spPr>
          <a:xfrm>
            <a:off x="7754111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Directed road graph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(PyG Temporal)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79" y="2308860"/>
            <a:ext cx="23774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h stage 5"/>
          <p:cNvSpPr/>
          <p:nvPr/>
        </p:nvSpPr>
        <p:spPr>
          <a:xfrm>
            <a:off x="10186415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Forecasting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(GATv2–Transformer)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30383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dvisory stage 1"/>
          <p:cNvSpPr/>
          <p:nvPr/>
        </p:nvSpPr>
        <p:spPr>
          <a:xfrm>
            <a:off x="457200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Conformal intervals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reliability gate</a:t>
            </a:r>
          </a:p>
        </p:txBody>
      </p:sp>
      <p:sp>
        <p:nvSpPr>
          <p:cNvPr id="15" name="Advisory stage 2"/>
          <p:cNvSpPr/>
          <p:nvPr/>
        </p:nvSpPr>
        <p:spPr>
          <a:xfrm>
            <a:off x="2481681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SHAP explanation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FAISS retrieval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40280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dvisory stage 3"/>
          <p:cNvSpPr/>
          <p:nvPr/>
        </p:nvSpPr>
        <p:spPr>
          <a:xfrm>
            <a:off x="4506163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LLM recommendation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(qwen2.5 7B)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64761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dvisory stage 4"/>
          <p:cNvSpPr/>
          <p:nvPr/>
        </p:nvSpPr>
        <p:spPr>
          <a:xfrm>
            <a:off x="6530644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Deterministic safety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constraints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89243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dvisory stage 5"/>
          <p:cNvSpPr/>
          <p:nvPr/>
        </p:nvSpPr>
        <p:spPr>
          <a:xfrm>
            <a:off x="8555126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/ TraCI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simulation gate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13724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Advisory stage 6"/>
          <p:cNvSpPr/>
          <p:nvPr/>
        </p:nvSpPr>
        <p:spPr>
          <a:xfrm>
            <a:off x="10579608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Human review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(simulation only)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38206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265407" y="2843784"/>
            <a:ext cx="0" cy="283464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339595" y="3127248"/>
            <a:ext cx="9925812" cy="0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339595" y="3127248"/>
            <a:ext cx="0" cy="283464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ata flow"/>
          <p:cNvSpPr/>
          <p:nvPr/>
        </p:nvSpPr>
        <p:spPr>
          <a:xfrm>
            <a:off x="45720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Data flow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Raw API responses stored verbatim with hashes → 5-minute grid per link → windows of 24 steps × nodes × features → forecasts with 90 % intervals → advisory state in LangGraph → decision and audit trail persisted in PostgreSQL/PostGIS; every run logged in MLflow.</a:t>
            </a:r>
          </a:p>
        </p:txBody>
      </p:sp>
      <p:sp>
        <p:nvSpPr>
          <p:cNvPr id="29" name="Technology stack"/>
          <p:cNvSpPr/>
          <p:nvPr/>
        </p:nvSpPr>
        <p:spPr>
          <a:xfrm>
            <a:off x="653796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Technology stack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Python 3.12 · Pandas/Polars · PyTorch + PyTorch Geometric + PyG Temporal · XGBoost/LightGBM · SHAP · sentence-transformers + FAISS · Ollama (qwen2.5:7b) · LangGraph · SUMO 1.28 / TraCI · FastAPI · Streamlit · PostgreSQL/PostGIS · MLflow · Docker Compose · Pytest</a:t>
            </a:r>
          </a:p>
        </p:txBody>
      </p:sp>
    </p:spTree>
    <p:extLst>
      <p:ext uri="{BB962C8B-B14F-4D97-AF65-F5344CB8AC3E}">
        <p14:creationId xmlns:p14="http://schemas.microsoft.com/office/powerpoint/2010/main" val="1380825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4F7B-448F-5933-E4F5-9F6656ACE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B1540-D08A-936D-657B-2CA7AA0EF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69C87-894B-EA46-CE5B-2DDA46DB8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12</a:t>
            </a:fld>
            <a:endParaRPr lang="en-US"/>
          </a:p>
        </p:txBody>
      </p:sp>
      <p:sp>
        <p:nvSpPr>
          <p:cNvPr id="5" name="Implementation of modules"/>
          <p:cNvSpPr/>
          <p:nvPr/>
        </p:nvSpPr>
        <p:spPr>
          <a:xfrm>
            <a:off x="4572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Implementation of modules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One Python package with a staged command-line interface, YAML configuration and Pydantic contracts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stage writes artifacts with run IDs and SHA-256 hashes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same code path runs the smoke tests and the full experiment</a:t>
            </a:r>
          </a:p>
        </p:txBody>
      </p:sp>
      <p:sp>
        <p:nvSpPr>
          <p:cNvPr id="6" name="Integration strategy"/>
          <p:cNvSpPr/>
          <p:nvPr/>
        </p:nvSpPr>
        <p:spPr>
          <a:xfrm>
            <a:off x="41148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Integration strategy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Shared contracts frozen first: forecast, uncertainty, evidence, candidate action, decision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stage runner executes the real-data pipeline in fixed order with a stage log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Only the recommendation node calls the LLM; every gate is deterministic code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75 automated tests: unit, leakage, safety, integration, end-to-end (CI, 2026-10-21)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783080"/>
            <a:ext cx="45720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Challenges faced → solutions</a:t>
            </a:r>
          </a:p>
        </p:txBody>
      </p:sp>
      <p:sp>
        <p:nvSpPr>
          <p:cNvPr id="8" name="Challenge 1"/>
          <p:cNvSpPr txBox="1"/>
          <p:nvPr/>
        </p:nvSpPr>
        <p:spPr>
          <a:xfrm>
            <a:off x="7772400" y="224028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7 of 26 links report zero speed all year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treated as missing; 16 links kept by a train-coverage rule</a:t>
            </a:r>
          </a:p>
        </p:txBody>
      </p:sp>
      <p:sp>
        <p:nvSpPr>
          <p:cNvPr id="9" name="Challenge 2"/>
          <p:cNvSpPr txBox="1"/>
          <p:nvPr/>
        </p:nvSpPr>
        <p:spPr>
          <a:xfrm>
            <a:off x="7772400" y="2980944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DOT link geometries stop short of link ends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three documented graph-edge rules</a:t>
            </a:r>
          </a:p>
        </p:txBody>
      </p:sp>
      <p:sp>
        <p:nvSpPr>
          <p:cNvPr id="10" name="Challenge 3"/>
          <p:cNvSpPr txBox="1"/>
          <p:nvPr/>
        </p:nvSpPr>
        <p:spPr>
          <a:xfrm>
            <a:off x="7772400" y="3721608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GRU crash with cuDNN on Windows/CUDA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cuDNN disabled for GRU runs only</a:t>
            </a:r>
          </a:p>
        </p:txBody>
      </p:sp>
      <p:sp>
        <p:nvSpPr>
          <p:cNvPr id="11" name="Challenge 4"/>
          <p:cNvSpPr txBox="1"/>
          <p:nvPr/>
        </p:nvSpPr>
        <p:spPr>
          <a:xfrm>
            <a:off x="7772400" y="4462272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Bootstrap resampled 5-minute steps, not days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unit fixed and ablations re-run</a:t>
            </a:r>
          </a:p>
        </p:txBody>
      </p:sp>
      <p:sp>
        <p:nvSpPr>
          <p:cNvPr id="12" name="Challenge 5"/>
          <p:cNvSpPr txBox="1"/>
          <p:nvPr/>
        </p:nvSpPr>
        <p:spPr>
          <a:xfrm>
            <a:off x="7772400" y="5202936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missing field silently blocked every LLM call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and agent evaluation re-run</a:t>
            </a:r>
          </a:p>
        </p:txBody>
      </p:sp>
      <p:sp>
        <p:nvSpPr>
          <p:cNvPr id="13" name="Challenge 6"/>
          <p:cNvSpPr txBox="1"/>
          <p:nvPr/>
        </p:nvSpPr>
        <p:spPr>
          <a:xfrm>
            <a:off x="7772400" y="594360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SUMO re-routed half the corridor traffic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routes and a testbed audit</a:t>
            </a:r>
          </a:p>
        </p:txBody>
      </p:sp>
    </p:spTree>
    <p:extLst>
      <p:ext uri="{BB962C8B-B14F-4D97-AF65-F5344CB8AC3E}">
        <p14:creationId xmlns:p14="http://schemas.microsoft.com/office/powerpoint/2010/main" val="3369243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FF5EA-D62B-1983-B948-F514CA25F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138A4-31C7-3BA3-41EC-856FFC3F2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DCD9C-F660-95CA-73DE-982F8EE86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783080"/>
            <a:ext cx="6309360" cy="489204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Command-line pipeline: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one command per stage, from data audit to paper tables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 service: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18 endpoints for forecasts, explanations, retrieval, advisories, simulations and review; long jobs run in a PostgreSQL-backed worker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Streamlit dashboard: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11 pages, from data audit and traffic map to forecasts, explanations, agent traces, SUMO results and the model card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Every view labels its mode: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LIVE, REPLAY or SIMULATION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Docker Compose: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PostGIS, API, worker and dashboard images, built and smoke-tested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Human review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approves or rejects for simulation only; nothing is sent to real signals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83B01-BF0B-D797-AC89-252288DAD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86600" y="1737360"/>
            <a:ext cx="530352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Advisory workflow (LangGraph)</a:t>
            </a:r>
          </a:p>
        </p:txBody>
      </p:sp>
      <p:sp>
        <p:nvSpPr>
          <p:cNvPr id="6" name="Workflow step 1"/>
          <p:cNvSpPr/>
          <p:nvPr/>
        </p:nvSpPr>
        <p:spPr>
          <a:xfrm>
            <a:off x="7086600" y="210312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1  Data quality 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81060" y="2551176"/>
            <a:ext cx="0" cy="109727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893808" y="232257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222992" y="213969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DEFER_DATA</a:t>
            </a:r>
          </a:p>
        </p:txBody>
      </p:sp>
      <p:sp>
        <p:nvSpPr>
          <p:cNvPr id="10" name="Workflow step 2"/>
          <p:cNvSpPr/>
          <p:nvPr/>
        </p:nvSpPr>
        <p:spPr>
          <a:xfrm>
            <a:off x="7086600" y="267004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2  Forecast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81060" y="311810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Workflow step 3"/>
          <p:cNvSpPr/>
          <p:nvPr/>
        </p:nvSpPr>
        <p:spPr>
          <a:xfrm>
            <a:off x="7086600" y="323697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3  Uncertainty gate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81060" y="3685032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893808" y="345643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222992" y="327355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DEFER_UNCERTAINTY</a:t>
            </a:r>
          </a:p>
        </p:txBody>
      </p:sp>
      <p:sp>
        <p:nvSpPr>
          <p:cNvPr id="16" name="Workflow step 4"/>
          <p:cNvSpPr/>
          <p:nvPr/>
        </p:nvSpPr>
        <p:spPr>
          <a:xfrm>
            <a:off x="7086600" y="3803904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4  SHAP + evidence retrieval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81060" y="4251960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893808" y="4023360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22992" y="3840480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DEFER_EVIDENCE</a:t>
            </a:r>
          </a:p>
        </p:txBody>
      </p:sp>
      <p:sp>
        <p:nvSpPr>
          <p:cNvPr id="20" name="Workflow step 5"/>
          <p:cNvSpPr/>
          <p:nvPr/>
        </p:nvSpPr>
        <p:spPr>
          <a:xfrm>
            <a:off x="7086600" y="4370831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5  LLM candidate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81060" y="4818888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93808" y="4590288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22992" y="4407407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REJECT_SCHEMA</a:t>
            </a:r>
          </a:p>
        </p:txBody>
      </p:sp>
      <p:sp>
        <p:nvSpPr>
          <p:cNvPr id="24" name="Workflow step 6"/>
          <p:cNvSpPr/>
          <p:nvPr/>
        </p:nvSpPr>
        <p:spPr>
          <a:xfrm>
            <a:off x="7086600" y="493776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6  Safety constraints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81060" y="5385816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893808" y="515721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22992" y="497433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REJECT_CONSTRAINT</a:t>
            </a:r>
          </a:p>
        </p:txBody>
      </p:sp>
      <p:sp>
        <p:nvSpPr>
          <p:cNvPr id="28" name="Workflow step 7"/>
          <p:cNvSpPr/>
          <p:nvPr/>
        </p:nvSpPr>
        <p:spPr>
          <a:xfrm>
            <a:off x="7086600" y="550468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7  SUMO simulation gate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81060" y="595274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93808" y="5724144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222992" y="5541264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REJECT_SIMULATION</a:t>
            </a:r>
          </a:p>
        </p:txBody>
      </p:sp>
      <p:sp>
        <p:nvSpPr>
          <p:cNvPr id="32" name="Workflow step 8"/>
          <p:cNvSpPr/>
          <p:nvPr/>
        </p:nvSpPr>
        <p:spPr>
          <a:xfrm>
            <a:off x="7086600" y="607161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8  Human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93808" y="629107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222992" y="610819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PENDING_HUMAN_REVIEW</a:t>
            </a:r>
          </a:p>
        </p:txBody>
      </p:sp>
    </p:spTree>
    <p:extLst>
      <p:ext uri="{BB962C8B-B14F-4D97-AF65-F5344CB8AC3E}">
        <p14:creationId xmlns:p14="http://schemas.microsoft.com/office/powerpoint/2010/main" val="1145004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A6C8D-B43E-DA7C-E00A-0FC4EA185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C6AA-E1C2-EA6C-246E-CC1479CDE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7. CONCLUSIONS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B0C0-AF3E-C46D-0A00-DD8E18E78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94360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Performance metrics (test period 6 Sep – 20 Oct 2026)</a:t>
            </a:r>
          </a:p>
        </p:txBody>
      </p:sp>
      <p:graphicFrame>
        <p:nvGraphicFramePr>
          <p:cNvPr id="6" name="Performance metrics"/>
          <p:cNvGraphicFramePr>
            <a:graphicFrameLocks noGrp="1"/>
          </p:cNvGraphicFramePr>
          <p:nvPr/>
        </p:nvGraphicFramePr>
        <p:xfrm>
          <a:off x="457200" y="2148840"/>
          <a:ext cx="5943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914400"/>
                <a:gridCol w="914400"/>
              </a:tblGrid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Metric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15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Proposed model MAE (mph)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4.77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5.33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6.15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Proposed, mean of 3 seeds (mph)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Persistence MAE (mph)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5.14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6.06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7.29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90 % interval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Coverage under congestion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0.798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0.794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0.757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3107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MAE kept after gate (≈26 % deferred)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3.72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49240"/>
            <a:ext cx="5943600" cy="1325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Validation of approach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Chronological splits with purge gaps and leakage tests; identical targets and masks for every model; day-block bootstrap for ablations; a preregistered simulation baseline test; failed runs kept and reported.</a:t>
            </a:r>
          </a:p>
        </p:txBody>
      </p:sp>
      <p:sp>
        <p:nvSpPr>
          <p:cNvPr id="8" name="Observations"/>
          <p:cNvSpPr/>
          <p:nvPr/>
        </p:nvSpPr>
        <p:spPr>
          <a:xfrm>
            <a:off x="6766560" y="17373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Observations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proposed model beats persistence by 7–16 % and both tree models. Over three seeds it is 0.03–0.08 mph below the temporal Transformer at every horizon and the GRU at 30/60 min; the GRU is better at 15 min. Small, not decisive.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availability-aware gate helps (MAE +0.067 mph when removed); operational weather features hurt (−0.046 mph), a negative result.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Intervals meet 90 % overall but under-cover congestion, the regime that matters for advisories.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Retrieval removed fabricated citations (3 of 3 without it, 0 of 9 with it); the constraint layer, not the LLM, decides admissibility.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simulation testbed fails its own baseline test, so the controller comparison is not run.</a:t>
            </a:r>
          </a:p>
        </p:txBody>
      </p:sp>
    </p:spTree>
    <p:extLst>
      <p:ext uri="{BB962C8B-B14F-4D97-AF65-F5344CB8AC3E}">
        <p14:creationId xmlns:p14="http://schemas.microsoft.com/office/powerpoint/2010/main" val="1375399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15</a:t>
            </a:fld>
            <a:endParaRPr lang="en-US"/>
          </a:p>
        </p:txBody>
      </p:sp>
      <p:graphicFrame>
        <p:nvGraphicFramePr>
          <p:cNvPr id="5" name="MAE by model"/>
          <p:cNvGraphicFramePr>
            <a:graphicFrameLocks noGrp="1"/>
          </p:cNvGraphicFramePr>
          <p:nvPr/>
        </p:nvGraphicFramePr>
        <p:xfrm>
          <a:off x="365760" y="1691640"/>
          <a:ext cx="7863840" cy="4983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Forecast results"/>
          <p:cNvSpPr/>
          <p:nvPr/>
        </p:nvSpPr>
        <p:spPr>
          <a:xfrm>
            <a:off x="8503920" y="1783080"/>
            <a:ext cx="384048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Key results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learned model beats persistence and the historical average.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Proposed model: 4.77 / 5.33 / 6.15 mph; lowest at 30 and 60 min, GRU lowest at 15 min.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R² rises from 0.55 / 0.46 / 0.30 (persistence) to 0.69 / 0.63 / 0.56.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144,205–144,217 test targets per horizon, identical for every model.</a:t>
            </a:r>
          </a:p>
          <a:p>
            <a:pPr algn="l" marL="0" indent="0">
              <a:spcAft>
                <a:spcPts val="9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Data: NYC DOT speeds [11], 1 Jan – 20 Oct 2026.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 (CONTD.)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5" name="Advisory outcomes"/>
          <p:cNvGraphicFramePr>
            <a:graphicFrameLocks noGrp="1"/>
          </p:cNvGraphicFramePr>
          <p:nvPr/>
        </p:nvGraphicFramePr>
        <p:xfrm>
          <a:off x="365760" y="1691640"/>
          <a:ext cx="58521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5760720" cy="11887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12 of 12 LLM responses were schema-valid. Without retrieval the model cited non-existent evidence in 3 of 3 cases (all rejected); with retrieval in 0 of 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576072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testbed outcome (simulation only)</a:t>
            </a:r>
          </a:p>
        </p:txBody>
      </p:sp>
      <p:graphicFrame>
        <p:nvGraphicFramePr>
          <p:cNvPr id="8" name="Simulation protocols"/>
          <p:cNvGraphicFramePr>
            <a:graphicFrameLocks noGrp="1"/>
          </p:cNvGraphicFramePr>
          <p:nvPr/>
        </p:nvGraphicFramePr>
        <p:xfrm>
          <a:off x="6583680" y="2148840"/>
          <a:ext cx="57607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188720"/>
                <a:gridCol w="1280160"/>
              </a:tblGrid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Protocol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Unfinished*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Result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First comparison, 20 Oct (45 runs)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Withdrawn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count, generated signal timing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17.7 %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count, Webster re-timed signals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4.3 %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2025 counts, Webster, no turn-lane limits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10.1 %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0" y="4480560"/>
            <a:ext cx="5760720" cy="22402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2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* Vehicles not finishing with no side-street traffic; the preregistered test allows at most 1 % and no stuck vehicles.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first comparison let SUMO re-route 1,120 of 2,189 main-road vehicles off West Street, so it did not test the corridor.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With real 2025 counts (2,510 NB / 2,444 SB veh/h) the modelled link runs at 5.8 mph; the real street runs at 10.95 mph in the PM peak.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test was not relaxed: the comparison is reported as not run, and 10.95 mph is now the calibration target.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OUTCOME: WORKING DASHBOARD (1/4)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Overview &amp; status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(status page, no mode label)</a:t>
            </a:r>
          </a:p>
        </p:txBody>
      </p:sp>
      <p:pic>
        <p:nvPicPr>
          <p:cNvPr id="6" name="Dashboard: Overview &amp; status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58368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Data audit &amp; provenance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8" name="Dashboard: Data audit &amp; provenance" descr="data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6423916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Screenshots of the project's Streamlit dashboard (src/smartcity/dashboard/app.py) captured on 21 Oct 2026; every number on them is read from committed result files. Live NYC feeds were not reachable from the capture machine, so no LIVE view is shown.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OUTCOME: WORKING DASHBOARD (2/4)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Experiment results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6" name="Dashboard: Experiment results" descr="experi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58368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Uncertainty &amp; reliability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8" name="Dashboard: Uncertainty &amp; reliability" descr="uncertain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6423916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Screenshots of the project's Streamlit dashboard (src/smartcity/dashboard/app.py) captured on 21 Oct 2026; every number on them is read from committed result files. Live NYC feeds were not reachable from the capture machine, so no LIVE view is shown.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OUTCOME: WORKING DASHBOARD (3/4)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Explainability (proposed model)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6" name="Dashboard: Explainability (proposed model)" descr="expl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58368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Agent trace &amp; advisory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8" name="Dashboard: Agent trace &amp; advisory" descr="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6423916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Screenshots of the project's Streamlit dashboard (src/smartcity/dashboard/app.py) captured on 21 Oct 2026; every number on them is read from committed result files. Live NYC feeds were not reachable from the capture machine, so no LIVE view is shown.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OUTCOME: WORKING DASHBOARD (4/4)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SUMO comparisons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6A3FA0"/>
                </a:solidFill>
                <a:latin typeface="Arial"/>
                <a:cs typeface="Arial"/>
                <a:ea typeface="Arial"/>
              </a:rPr>
              <a:t>SIMULATION</a:t>
            </a:r>
          </a:p>
        </p:txBody>
      </p:sp>
      <p:pic>
        <p:nvPicPr>
          <p:cNvPr id="6" name="Dashboard: SUMO comparisons" descr="su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6423916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Screenshots of the project's Streamlit dashboard (src/smartcity/dashboard/app.py) captured on 21 Oct 2026; every number on them is read from committed result files. Live NYC feeds were not reachable from the capture machine, so no LIVE view is shown.</a:t>
            </a:r>
          </a:p>
        </p:txBody>
      </p:sp>
      <p:sp>
        <p:nvSpPr>
          <p:cNvPr id="8" name="Dashboard notes"/>
          <p:cNvSpPr/>
          <p:nvPr/>
        </p:nvSpPr>
        <p:spPr>
          <a:xfrm>
            <a:off x="6583680" y="1984248"/>
            <a:ext cx="5715000" cy="4370832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What the dashboard shows, and what it does not</a:t>
            </a:r>
          </a:p>
          <a:p>
            <a:pPr algn="l" marL="274320" indent="-228600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The SUMO page states the first 45-run comparison is SUPERSEDED and the controller comparison NOT RUN, so it shows no simulated gain.</a:t>
            </a:r>
          </a:p>
          <a:p>
            <a:pPr algn="l" marL="274320" indent="-228600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Agent traces end in PENDING_HUMAN_REVIEW, DEFER or REJECT; approval is for simulation only and nothing is sent to real signals.</a:t>
            </a:r>
          </a:p>
          <a:p>
            <a:pPr algn="l" marL="274320" indent="-228600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Not captured yet: the Multi-horizon forecast and Traffic map pages need the trained model file and processed data held on the training laptop; they will be captured there for the final version.</a:t>
            </a:r>
          </a:p>
          <a:p>
            <a:pPr algn="l" marL="274320" indent="-228600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The Experiment results page shows the seed-42 runs; the three-seed results are on slide 21.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 RESULTS &amp; OUTCOMES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79576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4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Held-out test period 6 Sep – 20 Oct 2026, 16 Manhattan links; advisory and retrieval results from the REPLAY workflow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11680"/>
            <a:ext cx="603504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Test MAE (mph): mean ± s.d. over seeds 42, 1 and 2</a:t>
            </a:r>
          </a:p>
        </p:txBody>
      </p:sp>
      <p:graphicFrame>
        <p:nvGraphicFramePr>
          <p:cNvPr id="7" name="Three-seed results"/>
          <p:cNvGraphicFramePr>
            <a:graphicFrameLocks noGrp="1"/>
          </p:cNvGraphicFramePr>
          <p:nvPr/>
        </p:nvGraphicFramePr>
        <p:xfrm>
          <a:off x="502920" y="2423160"/>
          <a:ext cx="60350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143000"/>
                <a:gridCol w="1143000"/>
                <a:gridCol w="1143000"/>
              </a:tblGrid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15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30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60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Proposed GATv2–Transformer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4.69 ± 0.06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5.34 ± 0.03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6.15 ± 0.02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GRU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4.67 ± 0.06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5.37 ± 0.02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6.18 ± 0.01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Temporal Transformer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4.72 ± 0.03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5.38 ± 0.03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6.23 ± 0.08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Proposed, seed 42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4.77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5.33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6.15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Persistence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5.14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6.06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7.29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983480"/>
            <a:ext cx="6035040" cy="17373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Paired day-block bootstrap (44 test days): the proposed model is lower than the temporal Transformer at every horizon (0.035 / 0.037 / 0.080 mph) and than the GRU at 30 and 60 min (0.032 / 0.031); the GRU is lower at 15 min (0.021). All intervals exclude zero, but with three seeds the advantage is small, not decisive.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Source: reports/experiments/multi_seed_summary.csv (nine GPU runs, 21 Oct 2026).</a:t>
            </a:r>
          </a:p>
        </p:txBody>
      </p:sp>
      <p:sp>
        <p:nvSpPr>
          <p:cNvPr id="9" name="Result 1"/>
          <p:cNvSpPr/>
          <p:nvPr/>
        </p:nvSpPr>
        <p:spPr>
          <a:xfrm>
            <a:off x="6858000" y="2011680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7–16 %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lower MAE than persistence (seed 42 run)</a:t>
            </a:r>
          </a:p>
        </p:txBody>
      </p:sp>
      <p:sp>
        <p:nvSpPr>
          <p:cNvPr id="10" name="Result 2"/>
          <p:cNvSpPr/>
          <p:nvPr/>
        </p:nvSpPr>
        <p:spPr>
          <a:xfrm>
            <a:off x="9601200" y="2011680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0.91 / 0.91 / 0.90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coverage of the 90 % conformal intervals; 0.76–0.80 under congestion</a:t>
            </a:r>
          </a:p>
        </p:txBody>
      </p:sp>
      <p:sp>
        <p:nvSpPr>
          <p:cNvPr id="11" name="Result 3"/>
          <p:cNvSpPr/>
          <p:nvPr/>
        </p:nvSpPr>
        <p:spPr>
          <a:xfrm>
            <a:off x="6858000" y="3493008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15–22 %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lower MAE on forecasts the reliability gate keeps (≈26 % deferred)</a:t>
            </a:r>
          </a:p>
        </p:txBody>
      </p:sp>
      <p:sp>
        <p:nvSpPr>
          <p:cNvPr id="12" name="Result 4"/>
          <p:cNvSpPr/>
          <p:nvPr/>
        </p:nvSpPr>
        <p:spPr>
          <a:xfrm>
            <a:off x="9601200" y="3493008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24 / 24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local-LLM responses schema-valid over two workflow passes (qwen2.5 7B)</a:t>
            </a:r>
          </a:p>
        </p:txBody>
      </p:sp>
      <p:sp>
        <p:nvSpPr>
          <p:cNvPr id="13" name="Result 5"/>
          <p:cNvSpPr/>
          <p:nvPr/>
        </p:nvSpPr>
        <p:spPr>
          <a:xfrm>
            <a:off x="6858000" y="4974336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3 of 3 → 0 of 9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advisories citing non-existent evidence, without vs with retrieval</a:t>
            </a:r>
          </a:p>
        </p:txBody>
      </p:sp>
      <p:sp>
        <p:nvSpPr>
          <p:cNvPr id="14" name="Result 6"/>
          <p:cNvSpPr/>
          <p:nvPr/>
        </p:nvSpPr>
        <p:spPr>
          <a:xfrm>
            <a:off x="9601200" y="4974336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19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workflow runs per pass: 7 pending human review, 5 rejected by safety checks, 7 deferred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Also measured: </a:t>
            </a: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removing the availability-aware gate raises MAE by 0.067 mph (95 % CI 0.048–0.086); removing operational weather features lowers it by 0.046 mph (a negative result). No simulated controller gain is claimed: the SUMO testbed fails its own baseline test (5.8 vs 10.95 mph).</a:t>
            </a:r>
          </a:p>
        </p:txBody>
      </p:sp>
    </p:spTree>
    <p:extLst>
      <p:ext uri="{BB962C8B-B14F-4D97-AF65-F5344CB8AC3E}">
        <p14:creationId xmlns:p14="http://schemas.microsoft.com/office/powerpoint/2010/main" val="31872962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 RESULTS &amp; OUTCOMES (CONTD.)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22</a:t>
            </a:fld>
            <a:endParaRPr lang="en-US"/>
          </a:p>
        </p:txBody>
      </p:sp>
      <p:sp>
        <p:nvSpPr>
          <p:cNvPr id="5" name="Implemented and verified header"/>
          <p:cNvSpPr/>
          <p:nvPr/>
        </p:nvSpPr>
        <p:spPr>
          <a:xfrm>
            <a:off x="502920" y="1691640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Implemented and verified</a:t>
            </a:r>
          </a:p>
        </p:txBody>
      </p:sp>
      <p:sp>
        <p:nvSpPr>
          <p:cNvPr id="6" name="Implemented and verified"/>
          <p:cNvSpPr/>
          <p:nvPr/>
        </p:nvSpPr>
        <p:spPr>
          <a:xfrm>
            <a:off x="502920" y="2240280"/>
            <a:ext cx="3749039" cy="4480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Real-data pipeline on NYC DOT speeds, 1 Jan – 20 Oct 2026, with provenance hashes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Seven forecasting models on identical targets; three-seed study of the deep models; ablations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Conformal intervals, reliability gate and grouped SHAP on the trained model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FAISS retrieval over 15 approved documents; local LLM with schema validation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 workflow with 13 deterministic safety checks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PostGIS jobs, Streamlit, MLflow, Docker Compose</a:t>
            </a:r>
          </a:p>
        </p:txBody>
      </p:sp>
      <p:sp>
        <p:nvSpPr>
          <p:cNvPr id="7" name="Partial or not run header"/>
          <p:cNvSpPr/>
          <p:nvPr/>
        </p:nvSpPr>
        <p:spPr>
          <a:xfrm>
            <a:off x="4498848" y="1691640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Partial or not run</a:t>
            </a:r>
          </a:p>
        </p:txBody>
      </p:sp>
      <p:sp>
        <p:nvSpPr>
          <p:cNvPr id="8" name="Partial or not run"/>
          <p:cNvSpPr/>
          <p:nvPr/>
        </p:nvSpPr>
        <p:spPr>
          <a:xfrm>
            <a:off x="4498848" y="2240280"/>
            <a:ext cx="3749039" cy="4480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controller comparison NOT RUN; the first 45-run comparison is superseded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No real advisory has reached the simulation gate (the LLM chose monitor-only in both passes)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Only three seeds; the proposed model is not bit-reproducible on GPU at a fixed seed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Road graph is sparse: 26 nodes, 16 edges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Intervals under-cover congested periods</a:t>
            </a:r>
          </a:p>
        </p:txBody>
      </p:sp>
      <p:sp>
        <p:nvSpPr>
          <p:cNvPr id="9" name="Outcomes and next steps header"/>
          <p:cNvSpPr/>
          <p:nvPr/>
        </p:nvSpPr>
        <p:spPr>
          <a:xfrm>
            <a:off x="8494776" y="1691640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Outcomes and next steps</a:t>
            </a:r>
          </a:p>
        </p:txBody>
      </p:sp>
      <p:sp>
        <p:nvSpPr>
          <p:cNvPr id="10" name="Outcomes and next steps"/>
          <p:cNvSpPr/>
          <p:nvPr/>
        </p:nvSpPr>
        <p:spPr>
          <a:xfrm>
            <a:off x="8494776" y="2240280"/>
            <a:ext cx="3749039" cy="4480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IEEE conference paper (LaTeX and Word), every claim traced in the claims ledger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GitHub repository with tests, runbooks and result files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Next: calibrate West St signal timing to 10.95 mph or obtain NYC DOT timing plans, then run the comparison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Next: more seeds without the compute budget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Next: paper submission</a:t>
            </a:r>
          </a:p>
        </p:txBody>
      </p:sp>
    </p:spTree>
    <p:extLst>
      <p:ext uri="{BB962C8B-B14F-4D97-AF65-F5344CB8AC3E}">
        <p14:creationId xmlns:p14="http://schemas.microsoft.com/office/powerpoint/2010/main" val="3187296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704320" cy="489204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[5] P. A. Lopez et al., “Microscopic traffic simulation using SUMO,” in Proc. IEEE ITSC, 2018, pp. 2575–2582.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[6] S. Brody, U. Alon, and E. Yahav, “How attentive are graph attention networks?,” in Proc. ICLR, 2022.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[9] S. M. Lundberg and S.-I. Lee, “A unified approach to interpreting model predictions,” in Proc. NeurIPS, 2017.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[10] B. Rozemberczki et al., “PyTorch Geometric Temporal: Spatiotemporal signal processing with neural machine learning models,” in Proc. ACM CIKM, 2021, pp. 4564–4573.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[11] NYC Department of Transportation, “DOT Traffic Speeds NBE,” NYC Open Data, dataset i4gi-tjb9, accessed Oct. 2026.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[12] NYC Department of Transportation, “Automated Traffic Volume Counts,” NYC Open Data, dataset 7ym2-wayt, accessed Oct. 2026.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819401"/>
            <a:ext cx="11521440" cy="1219200"/>
          </a:xfrm>
        </p:spPr>
        <p:txBody>
          <a:bodyPr>
            <a:normAutofit fontScale="90000"/>
          </a:bodyPr>
          <a:lstStyle/>
          <a:p>
            <a:r>
              <a:rPr lang="en-US" sz="10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98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15877</TotalTime>
  <Words>376</Words>
  <Application>Microsoft Office PowerPoint</Application>
  <PresentationFormat>Custom</PresentationFormat>
  <Paragraphs>99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Wingdings</vt:lpstr>
      <vt:lpstr>Office Theme</vt:lpstr>
      <vt:lpstr>&lt;&lt;PROJECT TITLE **ARIAL FONT SIZE 40**&gt;&gt;</vt:lpstr>
      <vt:lpstr>CONTENTS</vt:lpstr>
      <vt:lpstr>1.ABSTRACT</vt:lpstr>
      <vt:lpstr>2. INTRODUCTION</vt:lpstr>
      <vt:lpstr>3.LITERATURE SURVEY</vt:lpstr>
      <vt:lpstr>4. RESEARCH GAPS</vt:lpstr>
      <vt:lpstr>5. OBJECTIVES</vt:lpstr>
      <vt:lpstr>6. RESEARCH WORK DONE</vt:lpstr>
      <vt:lpstr>MODULE IDENTIFICATION</vt:lpstr>
      <vt:lpstr>SYSTEM ARCHITECTURE</vt:lpstr>
      <vt:lpstr>DEVELOPMENT &amp; INTEGRATION</vt:lpstr>
      <vt:lpstr>PROTOTYPE / RESEARCH FRAMEWORK</vt:lpstr>
      <vt:lpstr>7. CONCLUSIONS</vt:lpstr>
      <vt:lpstr>8. OUTCOME</vt:lpstr>
      <vt:lpstr>9. TIMELINE / GANTT CHART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APPROACH TO REDUCE LOAD ON CHANGE IMPACT ANALYSIS OVER SOFTWARE DEVELOPMENT</dc:title>
  <dc:creator>admin</dc:creator>
  <cp:lastModifiedBy>Saravana Rajendran</cp:lastModifiedBy>
  <cp:revision>136</cp:revision>
  <dcterms:created xsi:type="dcterms:W3CDTF">2020-07-13T09:49:45Z</dcterms:created>
  <dcterms:modified xsi:type="dcterms:W3CDTF">2026-09-26T07:05:43Z</dcterms:modified>
</cp:coreProperties>
</file>