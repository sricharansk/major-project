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8"/>
  </p:notesMasterIdLst>
  <p:sldIdLst>
    <p:sldId id="256" r:id="rId2"/>
    <p:sldId id="324" r:id="rId3"/>
    <p:sldId id="259" r:id="rId4"/>
    <p:sldId id="260" r:id="rId5"/>
    <p:sldId id="325" r:id="rId6"/>
    <p:sldId id="336" r:id="rId23"/>
    <p:sldId id="333" r:id="rId7"/>
    <p:sldId id="334" r:id="rId8"/>
    <p:sldId id="265" r:id="rId9"/>
    <p:sldId id="335" r:id="rId10"/>
    <p:sldId id="312" r:id="rId11"/>
    <p:sldId id="328" r:id="rId12"/>
    <p:sldId id="330" r:id="rId13"/>
    <p:sldId id="332" r:id="rId14"/>
    <p:sldId id="331" r:id="rId15"/>
    <p:sldId id="337" r:id="rId24"/>
    <p:sldId id="339" r:id="rId26"/>
    <p:sldId id="340" r:id="rId27"/>
    <p:sldId id="341" r:id="rId28"/>
    <p:sldId id="342" r:id="rId29"/>
    <p:sldId id="344" r:id="rId31"/>
    <p:sldId id="327" r:id="rId16"/>
    <p:sldId id="343" r:id="rId30"/>
    <p:sldId id="338" r:id="rId25"/>
    <p:sldId id="321" r:id="rId17"/>
  </p:sldIdLst>
  <p:sldSz cx="12801600" cy="7315200"/>
  <p:notesSz cx="6858000" cy="9144000"/>
  <p:defaultTextStyle>
    <a:defPPr>
      <a:defRPr lang="en-US"/>
    </a:defPPr>
    <a:lvl1pPr marL="0" algn="l" defTabSz="1149448" rtl="0" eaLnBrk="1" latinLnBrk="0" hangingPunct="1">
      <a:defRPr sz="2300" kern="1200">
        <a:solidFill>
          <a:schemeClr val="tx1"/>
        </a:solidFill>
        <a:latin typeface="+mn-lt"/>
        <a:ea typeface="+mn-ea"/>
        <a:cs typeface="+mn-cs"/>
      </a:defRPr>
    </a:lvl1pPr>
    <a:lvl2pPr marL="574724" algn="l" defTabSz="1149448" rtl="0" eaLnBrk="1" latinLnBrk="0" hangingPunct="1">
      <a:defRPr sz="2300" kern="1200">
        <a:solidFill>
          <a:schemeClr val="tx1"/>
        </a:solidFill>
        <a:latin typeface="+mn-lt"/>
        <a:ea typeface="+mn-ea"/>
        <a:cs typeface="+mn-cs"/>
      </a:defRPr>
    </a:lvl2pPr>
    <a:lvl3pPr marL="1149448" algn="l" defTabSz="1149448" rtl="0" eaLnBrk="1" latinLnBrk="0" hangingPunct="1">
      <a:defRPr sz="2300" kern="1200">
        <a:solidFill>
          <a:schemeClr val="tx1"/>
        </a:solidFill>
        <a:latin typeface="+mn-lt"/>
        <a:ea typeface="+mn-ea"/>
        <a:cs typeface="+mn-cs"/>
      </a:defRPr>
    </a:lvl3pPr>
    <a:lvl4pPr marL="1724172" algn="l" defTabSz="1149448" rtl="0" eaLnBrk="1" latinLnBrk="0" hangingPunct="1">
      <a:defRPr sz="2300" kern="1200">
        <a:solidFill>
          <a:schemeClr val="tx1"/>
        </a:solidFill>
        <a:latin typeface="+mn-lt"/>
        <a:ea typeface="+mn-ea"/>
        <a:cs typeface="+mn-cs"/>
      </a:defRPr>
    </a:lvl4pPr>
    <a:lvl5pPr marL="2298895" algn="l" defTabSz="1149448" rtl="0" eaLnBrk="1" latinLnBrk="0" hangingPunct="1">
      <a:defRPr sz="2300" kern="1200">
        <a:solidFill>
          <a:schemeClr val="tx1"/>
        </a:solidFill>
        <a:latin typeface="+mn-lt"/>
        <a:ea typeface="+mn-ea"/>
        <a:cs typeface="+mn-cs"/>
      </a:defRPr>
    </a:lvl5pPr>
    <a:lvl6pPr marL="2873621" algn="l" defTabSz="1149448" rtl="0" eaLnBrk="1" latinLnBrk="0" hangingPunct="1">
      <a:defRPr sz="2300" kern="1200">
        <a:solidFill>
          <a:schemeClr val="tx1"/>
        </a:solidFill>
        <a:latin typeface="+mn-lt"/>
        <a:ea typeface="+mn-ea"/>
        <a:cs typeface="+mn-cs"/>
      </a:defRPr>
    </a:lvl6pPr>
    <a:lvl7pPr marL="3448344" algn="l" defTabSz="1149448" rtl="0" eaLnBrk="1" latinLnBrk="0" hangingPunct="1">
      <a:defRPr sz="2300" kern="1200">
        <a:solidFill>
          <a:schemeClr val="tx1"/>
        </a:solidFill>
        <a:latin typeface="+mn-lt"/>
        <a:ea typeface="+mn-ea"/>
        <a:cs typeface="+mn-cs"/>
      </a:defRPr>
    </a:lvl7pPr>
    <a:lvl8pPr marL="4023069" algn="l" defTabSz="1149448" rtl="0" eaLnBrk="1" latinLnBrk="0" hangingPunct="1">
      <a:defRPr sz="2300" kern="1200">
        <a:solidFill>
          <a:schemeClr val="tx1"/>
        </a:solidFill>
        <a:latin typeface="+mn-lt"/>
        <a:ea typeface="+mn-ea"/>
        <a:cs typeface="+mn-cs"/>
      </a:defRPr>
    </a:lvl8pPr>
    <a:lvl9pPr marL="4597793" algn="l" defTabSz="1149448" rtl="0" eaLnBrk="1" latinLnBrk="0" hangingPunct="1">
      <a:defRPr sz="23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304">
          <p15:clr>
            <a:srgbClr val="A4A3A4"/>
          </p15:clr>
        </p15:guide>
        <p15:guide id="2" pos="4032">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4E1F2"/>
    <a:srgbClr val="558ED5"/>
    <a:srgbClr val="C6D9F1"/>
    <a:srgbClr val="558E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73" d="100"/>
          <a:sy n="73" d="100"/>
        </p:scale>
        <p:origin x="902" y="67"/>
      </p:cViewPr>
      <p:guideLst>
        <p:guide orient="horz" pos="2304"/>
        <p:guide pos="403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22.xml"/><Relationship Id="rId17" Type="http://schemas.openxmlformats.org/officeDocument/2006/relationships/slide" Target="slides/slide25.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6.xml"/><Relationship Id="rId24" Type="http://schemas.openxmlformats.org/officeDocument/2006/relationships/slide" Target="slides/slide16.xml"/><Relationship Id="rId25" Type="http://schemas.openxmlformats.org/officeDocument/2006/relationships/slide" Target="slides/slide24.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3.xml"/><Relationship Id="rId31"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solidFill>
                  <a:srgbClr val="1F497D"/>
                </a:solidFill>
                <a:latin typeface="Times New Roman"/>
              </a:rPr>
              <a:t>Test MAE (mph) by model and horizon — lower is better</a:t>
            </a:r>
          </a:p>
        </c:rich>
      </c:tx>
      <c:layout/>
      <c:overlay val="0"/>
    </c:title>
    <c:autoTitleDeleted val="0"/>
    <c:plotArea>
      <c:barChart>
        <c:barDir val="col"/>
        <c:grouping val="clustered"/>
        <c:ser>
          <c:idx val="0"/>
          <c:order val="0"/>
          <c:tx>
            <c:strRef>
              <c:f>Sheet1!$B$1</c:f>
              <c:strCache>
                <c:ptCount val="1"/>
                <c:pt idx="0">
                  <c:v>15 min</c:v>
                </c:pt>
              </c:strCache>
            </c:strRef>
          </c:tx>
          <c:spPr>
            <a:solidFill>
              <a:srgbClr val="9CBCE6"/>
            </a:solidFill>
          </c:spPr>
          <c:cat>
            <c:strRef>
              <c:f>Sheet1!$A$2:$A$8</c:f>
              <c:strCache>
                <c:ptCount val="7"/>
                <c:pt idx="0">
                  <c:v>Persistence</c:v>
                </c:pt>
                <c:pt idx="1">
                  <c:v>Historical avg</c:v>
                </c:pt>
                <c:pt idx="2">
                  <c:v>XGBoost</c:v>
                </c:pt>
                <c:pt idx="3">
                  <c:v>LightGBM</c:v>
                </c:pt>
                <c:pt idx="4">
                  <c:v>GRU</c:v>
                </c:pt>
                <c:pt idx="5">
                  <c:v>Temporal Transformer</c:v>
                </c:pt>
                <c:pt idx="6">
                  <c:v>Proposed</c:v>
                </c:pt>
              </c:strCache>
            </c:strRef>
          </c:cat>
          <c:val>
            <c:numRef>
              <c:f>Sheet1!$B$2:$B$8</c:f>
              <c:numCache>
                <c:formatCode>General</c:formatCode>
                <c:ptCount val="7"/>
                <c:pt idx="0">
                  <c:v>5.1386</c:v>
                </c:pt>
                <c:pt idx="1">
                  <c:v>7.6321</c:v>
                </c:pt>
                <c:pt idx="2">
                  <c:v>4.8229</c:v>
                </c:pt>
                <c:pt idx="3">
                  <c:v>4.8725</c:v>
                </c:pt>
                <c:pt idx="4">
                  <c:v>4.7145</c:v>
                </c:pt>
                <c:pt idx="5">
                  <c:v>4.7334</c:v>
                </c:pt>
                <c:pt idx="6">
                  <c:v>4.7726</c:v>
                </c:pt>
              </c:numCache>
            </c:numRef>
          </c:val>
        </c:ser>
        <c:ser>
          <c:idx val="1"/>
          <c:order val="1"/>
          <c:tx>
            <c:strRef>
              <c:f>Sheet1!$C$1</c:f>
              <c:strCache>
                <c:ptCount val="1"/>
                <c:pt idx="0">
                  <c:v>30 min</c:v>
                </c:pt>
              </c:strCache>
            </c:strRef>
          </c:tx>
          <c:spPr>
            <a:solidFill>
              <a:srgbClr val="548DD4"/>
            </a:solidFill>
          </c:spPr>
          <c:cat>
            <c:strRef>
              <c:f>Sheet1!$A$2:$A$8</c:f>
              <c:strCache>
                <c:ptCount val="7"/>
                <c:pt idx="0">
                  <c:v>Persistence</c:v>
                </c:pt>
                <c:pt idx="1">
                  <c:v>Historical avg</c:v>
                </c:pt>
                <c:pt idx="2">
                  <c:v>XGBoost</c:v>
                </c:pt>
                <c:pt idx="3">
                  <c:v>LightGBM</c:v>
                </c:pt>
                <c:pt idx="4">
                  <c:v>GRU</c:v>
                </c:pt>
                <c:pt idx="5">
                  <c:v>Temporal Transformer</c:v>
                </c:pt>
                <c:pt idx="6">
                  <c:v>Proposed</c:v>
                </c:pt>
              </c:strCache>
            </c:strRef>
          </c:cat>
          <c:val>
            <c:numRef>
              <c:f>Sheet1!$C$2:$C$8</c:f>
              <c:numCache>
                <c:formatCode>General</c:formatCode>
                <c:ptCount val="7"/>
                <c:pt idx="0">
                  <c:v>6.0556</c:v>
                </c:pt>
                <c:pt idx="1">
                  <c:v>7.6329</c:v>
                </c:pt>
                <c:pt idx="2">
                  <c:v>5.5792</c:v>
                </c:pt>
                <c:pt idx="3">
                  <c:v>5.5993</c:v>
                </c:pt>
                <c:pt idx="4">
                  <c:v>5.3731</c:v>
                </c:pt>
                <c:pt idx="5">
                  <c:v>5.3375</c:v>
                </c:pt>
                <c:pt idx="6">
                  <c:v>5.3308</c:v>
                </c:pt>
              </c:numCache>
            </c:numRef>
          </c:val>
        </c:ser>
        <c:ser>
          <c:idx val="2"/>
          <c:order val="2"/>
          <c:tx>
            <c:strRef>
              <c:f>Sheet1!$D$1</c:f>
              <c:strCache>
                <c:ptCount val="1"/>
                <c:pt idx="0">
                  <c:v>60 min</c:v>
                </c:pt>
              </c:strCache>
            </c:strRef>
          </c:tx>
          <c:spPr>
            <a:solidFill>
              <a:srgbClr val="1F497D"/>
            </a:solidFill>
          </c:spPr>
          <c:cat>
            <c:strRef>
              <c:f>Sheet1!$A$2:$A$8</c:f>
              <c:strCache>
                <c:ptCount val="7"/>
                <c:pt idx="0">
                  <c:v>Persistence</c:v>
                </c:pt>
                <c:pt idx="1">
                  <c:v>Historical avg</c:v>
                </c:pt>
                <c:pt idx="2">
                  <c:v>XGBoost</c:v>
                </c:pt>
                <c:pt idx="3">
                  <c:v>LightGBM</c:v>
                </c:pt>
                <c:pt idx="4">
                  <c:v>GRU</c:v>
                </c:pt>
                <c:pt idx="5">
                  <c:v>Temporal Transformer</c:v>
                </c:pt>
                <c:pt idx="6">
                  <c:v>Proposed</c:v>
                </c:pt>
              </c:strCache>
            </c:strRef>
          </c:cat>
          <c:val>
            <c:numRef>
              <c:f>Sheet1!$D$2:$D$8</c:f>
              <c:numCache>
                <c:formatCode>General</c:formatCode>
                <c:ptCount val="7"/>
                <c:pt idx="0">
                  <c:v>7.2875</c:v>
                </c:pt>
                <c:pt idx="1">
                  <c:v>7.6369</c:v>
                </c:pt>
                <c:pt idx="2">
                  <c:v>6.3079</c:v>
                </c:pt>
                <c:pt idx="3">
                  <c:v>6.315</c:v>
                </c:pt>
                <c:pt idx="4">
                  <c:v>6.1742</c:v>
                </c:pt>
                <c:pt idx="5">
                  <c:v>6.1835</c:v>
                </c:pt>
                <c:pt idx="6">
                  <c:v>6.1546</c:v>
                </c:pt>
              </c:numCache>
            </c:numRef>
          </c:val>
        </c:ser>
        <c:dLbls>
          <c:numFmt formatCode="0.00" sourceLinked="0"/>
          <c:txPr>
            <a:bodyPr/>
            <a:lstStyle/>
            <a:p>
              <a:pPr>
                <a:defRPr sz="900">
                  <a:solidFill>
                    <a:srgbClr val="1A1A1A"/>
                  </a:solidFill>
                  <a:latin typeface="Times New Roman"/>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txPr>
          <a:bodyPr/>
          <a:lstStyle/>
          <a:p>
            <a:pPr>
              <a:defRPr sz="1200">
                <a:latin typeface="Times New Roman"/>
              </a:defRPr>
            </a:pPr>
          </a:p>
        </c:txPr>
        <c:crossAx val="-2113994440"/>
        <c:crosses val="autoZero"/>
        <c:auto val="1"/>
        <c:lblAlgn val="ctr"/>
        <c:lblOffset val="100"/>
        <c:noMultiLvlLbl val="0"/>
      </c:catAx>
      <c:valAx>
        <c:axId val="-2113994440"/>
        <c:scaling>
          <c:max val="8.5"/>
          <c:min val="0.0"/>
        </c:scaling>
        <c:delete val="0"/>
        <c:axPos val="l"/>
        <c:majorGridlines>
          <c:spPr>
            <a:ln>
              <a:solidFill>
                <a:srgbClr val="DDE3EA"/>
              </a:solidFill>
            </a:ln>
          </c:spPr>
        </c:majorGridlines>
        <c:majorTickMark val="out"/>
        <c:minorTickMark val="none"/>
        <c:tickLblPos val="nextTo"/>
        <c:spPr>
          <a:ln>
            <a:noFill/>
          </a:ln>
        </c:spPr>
        <c:txPr>
          <a:bodyPr/>
          <a:lstStyle/>
          <a:p>
            <a:pPr>
              <a:defRPr sz="1200">
                <a:latin typeface="Times New Roman"/>
              </a:defRPr>
            </a:pPr>
          </a:p>
        </c:txPr>
        <c:crossAx val="-2068027336"/>
        <c:crosses val="autoZero"/>
      </c:valAx>
    </c:plotArea>
    <c:legend>
      <c:legendPos val="b"/>
      <c:overlay val="0"/>
      <c:txPr>
        <a:bodyPr/>
        <a:lstStyle/>
        <a:p>
          <a:pPr>
            <a:defRPr sz="1300">
              <a:latin typeface="Times New Roman"/>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solidFill>
                  <a:srgbClr val="1F497D"/>
                </a:solidFill>
                <a:latin typeface="Times New Roman"/>
              </a:rPr>
              <a:t>Advisory decisions in 19 workflow runs (REPLAY cases)</a:t>
            </a:r>
          </a:p>
        </c:rich>
      </c:tx>
      <c:layout/>
      <c:overlay val="0"/>
    </c:title>
    <c:autoTitleDeleted val="0"/>
    <c:plotArea>
      <c:barChart>
        <c:barDir val="bar"/>
        <c:grouping val="clustered"/>
        <c:ser>
          <c:idx val="0"/>
          <c:order val="0"/>
          <c:tx>
            <c:strRef>
              <c:f>Sheet1!$B$1</c:f>
              <c:strCache>
                <c:ptCount val="1"/>
                <c:pt idx="0">
                  <c:v>Runs</c:v>
                </c:pt>
              </c:strCache>
            </c:strRef>
          </c:tx>
          <c:spPr>
            <a:solidFill>
              <a:srgbClr val="1F497D"/>
            </a:solidFill>
          </c:spPr>
          <c:cat>
            <c:strRef>
              <c:f>Sheet1!$A$2:$A$6</c:f>
              <c:strCache>
                <c:ptCount val="5"/>
                <c:pt idx="0">
                  <c:v>PENDING_HUMAN_REVIEW</c:v>
                </c:pt>
                <c:pt idx="1">
                  <c:v>REJECT_CONSTRAINT</c:v>
                </c:pt>
                <c:pt idx="2">
                  <c:v>DEFER_UNCERTAINTY</c:v>
                </c:pt>
                <c:pt idx="3">
                  <c:v>DEFER_DATA</c:v>
                </c:pt>
                <c:pt idx="4">
                  <c:v>DEFER_EVIDENCE</c:v>
                </c:pt>
              </c:strCache>
            </c:strRef>
          </c:cat>
          <c:val>
            <c:numRef>
              <c:f>Sheet1!$B$2:$B$6</c:f>
              <c:numCache>
                <c:formatCode>General</c:formatCode>
                <c:ptCount val="5"/>
                <c:pt idx="0">
                  <c:v>7</c:v>
                </c:pt>
                <c:pt idx="1">
                  <c:v>5</c:v>
                </c:pt>
                <c:pt idx="2">
                  <c:v>5</c:v>
                </c:pt>
                <c:pt idx="3">
                  <c:v>1</c:v>
                </c:pt>
                <c:pt idx="4">
                  <c:v>1</c:v>
                </c:pt>
              </c:numCache>
            </c:numRef>
          </c:val>
        </c:ser>
        <c:dLbls>
          <c:txPr>
            <a:bodyPr/>
            <a:lstStyle/>
            <a:p>
              <a:pPr>
                <a:defRPr sz="1200">
                  <a:latin typeface="Times New Roman"/>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txPr>
          <a:bodyPr/>
          <a:lstStyle/>
          <a:p>
            <a:pPr>
              <a:defRPr sz="1100">
                <a:latin typeface="Times New Roman"/>
              </a:defRPr>
            </a:pPr>
          </a:p>
        </c:txPr>
        <c:crossAx val="-2113994440"/>
        <c:crosses val="autoZero"/>
        <c:auto val="1"/>
        <c:lblAlgn val="ctr"/>
        <c:lblOffset val="100"/>
        <c:noMultiLvlLbl val="0"/>
      </c:catAx>
      <c:valAx>
        <c:axId val="-2113994440"/>
        <c:scaling>
          <c:max val="8.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Fixed time (calibrated plan)</c:v>
                </c:pt>
              </c:strCache>
            </c:strRef>
          </c:tx>
          <c:spPr>
            <a:solidFill>
              <a:srgbClr val="555F6B"/>
            </a:solidFill>
          </c:spPr>
          <c:cat>
            <c:strRef>
              <c:f>Sheet1!$A$2:$A$4</c:f>
              <c:strCache>
                <c:ptCount val="3"/>
                <c:pt idx="0">
                  <c:v>Routine peak</c:v>
                </c:pt>
                <c:pt idx="1">
                  <c:v>Event surge ×1.25</c:v>
                </c:pt>
                <c:pt idx="2">
                  <c:v>Incident</c:v>
                </c:pt>
              </c:strCache>
            </c:strRef>
          </c:cat>
          <c:val>
            <c:numRef>
              <c:f>Sheet1!$B$2:$B$4</c:f>
              <c:numCache>
                <c:formatCode>General</c:formatCode>
                <c:ptCount val="3"/>
                <c:pt idx="0">
                  <c:v>271.6</c:v>
                </c:pt>
                <c:pt idx="1">
                  <c:v>450.2</c:v>
                </c:pt>
                <c:pt idx="2">
                  <c:v>465.9</c:v>
                </c:pt>
              </c:numCache>
            </c:numRef>
          </c:val>
        </c:ser>
        <c:ser>
          <c:idx val="1"/>
          <c:order val="1"/>
          <c:tx>
            <c:strRef>
              <c:f>Sheet1!$C$1</c:f>
              <c:strCache>
                <c:ptCount val="1"/>
                <c:pt idx="0">
                  <c:v>Forecast rule</c:v>
                </c:pt>
              </c:strCache>
            </c:strRef>
          </c:tx>
          <c:spPr>
            <a:solidFill>
              <a:srgbClr val="1F497D"/>
            </a:solidFill>
          </c:spPr>
          <c:cat>
            <c:strRef>
              <c:f>Sheet1!$A$2:$A$4</c:f>
              <c:strCache>
                <c:ptCount val="3"/>
                <c:pt idx="0">
                  <c:v>Routine peak</c:v>
                </c:pt>
                <c:pt idx="1">
                  <c:v>Event surge ×1.25</c:v>
                </c:pt>
                <c:pt idx="2">
                  <c:v>Incident</c:v>
                </c:pt>
              </c:strCache>
            </c:strRef>
          </c:cat>
          <c:val>
            <c:numRef>
              <c:f>Sheet1!$C$2:$C$4</c:f>
              <c:numCache>
                <c:formatCode>General</c:formatCode>
                <c:ptCount val="3"/>
                <c:pt idx="0">
                  <c:v>271.6</c:v>
                </c:pt>
                <c:pt idx="1">
                  <c:v>426.0</c:v>
                </c:pt>
                <c:pt idx="2">
                  <c:v>443.9</c:v>
                </c:pt>
              </c:numCache>
            </c:numRef>
          </c:val>
        </c:ser>
        <c:dLbls>
          <c:numFmt formatCode="0.0" sourceLinked="0"/>
          <c:txPr>
            <a:bodyPr/>
            <a:lstStyle/>
            <a:p>
              <a:pPr>
                <a:defRPr sz="1000">
                  <a:latin typeface="Arial"/>
                </a:defRPr>
              </a:pPr>
            </a:p>
          </c:txPr>
          <c:dLblPos val="outEnd"/>
          <c:showLegendKey val="0"/>
          <c:showVal val="1"/>
          <c:showCatName val="0"/>
          <c:showSerName val="0"/>
          <c:showPercent val="0"/>
          <c:showBubbleSize val="0"/>
          <c:showLeaderLines val="1"/>
        </c:dLbls>
        <c:gapWidth val="70"/>
        <c:overlap val="-5"/>
        <c:axId val="-2068027336"/>
        <c:axId val="-2113994440"/>
      </c:barChart>
      <c:catAx>
        <c:axId val="-2068027336"/>
        <c:scaling>
          <c:orientation val="minMax"/>
        </c:scaling>
        <c:delete val="0"/>
        <c:axPos val="b"/>
        <c:majorTickMark val="out"/>
        <c:minorTickMark val="none"/>
        <c:tickLblPos val="nextTo"/>
        <c:txPr>
          <a:bodyPr/>
          <a:lstStyle/>
          <a:p>
            <a:pPr>
              <a:defRPr sz="1000">
                <a:latin typeface="Arial"/>
              </a:defRPr>
            </a:pPr>
          </a:p>
        </c:txPr>
        <c:crossAx val="-2113994440"/>
        <c:crosses val="autoZero"/>
        <c:auto val="1"/>
        <c:lblAlgn val="ctr"/>
        <c:lblOffset val="100"/>
        <c:noMultiLvlLbl val="0"/>
      </c:catAx>
      <c:valAx>
        <c:axId val="-2113994440"/>
        <c:scaling>
          <c:max val="550.0"/>
          <c:min val="0.0"/>
        </c:scaling>
        <c:delete val="0"/>
        <c:axPos val="l"/>
        <c:majorGridlines>
          <c:spPr>
            <a:ln>
              <a:solidFill>
                <a:srgbClr val="D9DFE7"/>
              </a:solidFill>
            </a:ln>
          </c:spPr>
        </c:majorGridlines>
        <c:title>
          <c:tx>
            <c:rich>
              <a:bodyPr/>
              <a:lstStyle/>
              <a:p>
                <a:r>
                  <a:rPr sz="1000" b="0">
                    <a:latin typeface="Arial"/>
                  </a:rPr>
                  <a:t>mean time loss (s), 5 seeds</a:t>
                </a:r>
              </a:p>
            </c:rich>
          </c:tx>
          <c:layout/>
          <c:overlay val="0"/>
        </c:title>
        <c:majorTickMark val="out"/>
        <c:minorTickMark val="none"/>
        <c:tickLblPos val="nextTo"/>
        <c:txPr>
          <a:bodyPr/>
          <a:lstStyle/>
          <a:p>
            <a:pPr>
              <a:defRPr sz="1000">
                <a:latin typeface="Arial"/>
              </a:defRPr>
            </a:pPr>
          </a:p>
        </c:txPr>
        <c:crossAx val="-2068027336"/>
        <c:crosses val="autoZero"/>
      </c:valAx>
    </c:plotArea>
    <c:legend>
      <c:legendPos val="b"/>
      <c:overlay val="0"/>
      <c:txPr>
        <a:bodyPr/>
        <a:lstStyle/>
        <a:p>
          <a:pPr>
            <a:defRPr sz="11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C4CD7A36-15CF-4B40-B7C9-B299C824610E}" type="datetimeFigureOut">
              <a:rPr lang="en-US" smtClean="0"/>
              <a:t>9/26/2026</a:t>
            </a:fld>
            <a:endParaRPr lang="en-US"/>
          </a:p>
        </p:txBody>
      </p:sp>
      <p:sp>
        <p:nvSpPr>
          <p:cNvPr id="4" name="Slide Image Placeholder 3"/>
          <p:cNvSpPr>
            <a:spLocks noGrp="1" noRot="1" noChangeAspect="1"/>
          </p:cNvSpPr>
          <p:nvPr>
            <p:ph type="sldImg" idx="2"/>
          </p:nvPr>
        </p:nvSpPr>
        <p:spPr>
          <a:xfrm>
            <a:off x="428625" y="685800"/>
            <a:ext cx="600075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83DE4103-D868-498D-BB7B-ABDA25F9744E}" type="slidenum">
              <a:rPr lang="en-US" smtClean="0"/>
              <a:t>‹#›</a:t>
            </a:fld>
            <a:endParaRPr lang="en-US"/>
          </a:p>
        </p:txBody>
      </p:sp>
    </p:spTree>
    <p:extLst>
      <p:ext uri="{BB962C8B-B14F-4D97-AF65-F5344CB8AC3E}">
        <p14:creationId xmlns:p14="http://schemas.microsoft.com/office/powerpoint/2010/main" val="4146365420"/>
      </p:ext>
    </p:extLst>
  </p:cSld>
  <p:clrMap bg1="lt1" tx1="dk1" bg2="lt2" tx2="dk2" accent1="accent1" accent2="accent2" accent3="accent3" accent4="accent4" accent5="accent5" accent6="accent6" hlink="hlink" folHlink="folHlink"/>
  <p:notesStyle>
    <a:lvl1pPr marL="0" algn="l" defTabSz="1149448" rtl="0" eaLnBrk="1" latinLnBrk="0" hangingPunct="1">
      <a:defRPr sz="1500" kern="1200">
        <a:solidFill>
          <a:schemeClr val="tx1"/>
        </a:solidFill>
        <a:latin typeface="+mn-lt"/>
        <a:ea typeface="+mn-ea"/>
        <a:cs typeface="+mn-cs"/>
      </a:defRPr>
    </a:lvl1pPr>
    <a:lvl2pPr marL="574724" algn="l" defTabSz="1149448" rtl="0" eaLnBrk="1" latinLnBrk="0" hangingPunct="1">
      <a:defRPr sz="1500" kern="1200">
        <a:solidFill>
          <a:schemeClr val="tx1"/>
        </a:solidFill>
        <a:latin typeface="+mn-lt"/>
        <a:ea typeface="+mn-ea"/>
        <a:cs typeface="+mn-cs"/>
      </a:defRPr>
    </a:lvl2pPr>
    <a:lvl3pPr marL="1149448" algn="l" defTabSz="1149448" rtl="0" eaLnBrk="1" latinLnBrk="0" hangingPunct="1">
      <a:defRPr sz="1500" kern="1200">
        <a:solidFill>
          <a:schemeClr val="tx1"/>
        </a:solidFill>
        <a:latin typeface="+mn-lt"/>
        <a:ea typeface="+mn-ea"/>
        <a:cs typeface="+mn-cs"/>
      </a:defRPr>
    </a:lvl3pPr>
    <a:lvl4pPr marL="1724172" algn="l" defTabSz="1149448" rtl="0" eaLnBrk="1" latinLnBrk="0" hangingPunct="1">
      <a:defRPr sz="1500" kern="1200">
        <a:solidFill>
          <a:schemeClr val="tx1"/>
        </a:solidFill>
        <a:latin typeface="+mn-lt"/>
        <a:ea typeface="+mn-ea"/>
        <a:cs typeface="+mn-cs"/>
      </a:defRPr>
    </a:lvl4pPr>
    <a:lvl5pPr marL="2298895" algn="l" defTabSz="1149448" rtl="0" eaLnBrk="1" latinLnBrk="0" hangingPunct="1">
      <a:defRPr sz="1500" kern="1200">
        <a:solidFill>
          <a:schemeClr val="tx1"/>
        </a:solidFill>
        <a:latin typeface="+mn-lt"/>
        <a:ea typeface="+mn-ea"/>
        <a:cs typeface="+mn-cs"/>
      </a:defRPr>
    </a:lvl5pPr>
    <a:lvl6pPr marL="2873621" algn="l" defTabSz="1149448" rtl="0" eaLnBrk="1" latinLnBrk="0" hangingPunct="1">
      <a:defRPr sz="1500" kern="1200">
        <a:solidFill>
          <a:schemeClr val="tx1"/>
        </a:solidFill>
        <a:latin typeface="+mn-lt"/>
        <a:ea typeface="+mn-ea"/>
        <a:cs typeface="+mn-cs"/>
      </a:defRPr>
    </a:lvl6pPr>
    <a:lvl7pPr marL="3448344" algn="l" defTabSz="1149448" rtl="0" eaLnBrk="1" latinLnBrk="0" hangingPunct="1">
      <a:defRPr sz="1500" kern="1200">
        <a:solidFill>
          <a:schemeClr val="tx1"/>
        </a:solidFill>
        <a:latin typeface="+mn-lt"/>
        <a:ea typeface="+mn-ea"/>
        <a:cs typeface="+mn-cs"/>
      </a:defRPr>
    </a:lvl7pPr>
    <a:lvl8pPr marL="4023069" algn="l" defTabSz="1149448" rtl="0" eaLnBrk="1" latinLnBrk="0" hangingPunct="1">
      <a:defRPr sz="1500" kern="1200">
        <a:solidFill>
          <a:schemeClr val="tx1"/>
        </a:solidFill>
        <a:latin typeface="+mn-lt"/>
        <a:ea typeface="+mn-ea"/>
        <a:cs typeface="+mn-cs"/>
      </a:defRPr>
    </a:lvl8pPr>
    <a:lvl9pPr marL="4597793" algn="l" defTabSz="1149448" rtl="0" eaLnBrk="1" latinLnBrk="0" hangingPunct="1">
      <a:defRPr sz="15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60120" y="2272456"/>
            <a:ext cx="10881360" cy="1568027"/>
          </a:xfrm>
        </p:spPr>
        <p:txBody>
          <a:bodyPr/>
          <a:lstStyle/>
          <a:p>
            <a:r>
              <a:rPr lang="en-US"/>
              <a:t>Click to edit Master title style</a:t>
            </a:r>
          </a:p>
        </p:txBody>
      </p:sp>
      <p:sp>
        <p:nvSpPr>
          <p:cNvPr id="3" name="Subtitle 2"/>
          <p:cNvSpPr>
            <a:spLocks noGrp="1"/>
          </p:cNvSpPr>
          <p:nvPr>
            <p:ph type="subTitle" idx="1"/>
          </p:nvPr>
        </p:nvSpPr>
        <p:spPr>
          <a:xfrm>
            <a:off x="1920240" y="4145280"/>
            <a:ext cx="8961120" cy="1869440"/>
          </a:xfrm>
        </p:spPr>
        <p:txBody>
          <a:bodyPr/>
          <a:lstStyle>
            <a:lvl1pPr marL="0" indent="0" algn="ctr">
              <a:buNone/>
              <a:defRPr>
                <a:solidFill>
                  <a:schemeClr val="tx1">
                    <a:tint val="75000"/>
                  </a:schemeClr>
                </a:solidFill>
              </a:defRPr>
            </a:lvl1pPr>
            <a:lvl2pPr marL="574724" indent="0" algn="ctr">
              <a:buNone/>
              <a:defRPr>
                <a:solidFill>
                  <a:schemeClr val="tx1">
                    <a:tint val="75000"/>
                  </a:schemeClr>
                </a:solidFill>
              </a:defRPr>
            </a:lvl2pPr>
            <a:lvl3pPr marL="1149448" indent="0" algn="ctr">
              <a:buNone/>
              <a:defRPr>
                <a:solidFill>
                  <a:schemeClr val="tx1">
                    <a:tint val="75000"/>
                  </a:schemeClr>
                </a:solidFill>
              </a:defRPr>
            </a:lvl3pPr>
            <a:lvl4pPr marL="1724172" indent="0" algn="ctr">
              <a:buNone/>
              <a:defRPr>
                <a:solidFill>
                  <a:schemeClr val="tx1">
                    <a:tint val="75000"/>
                  </a:schemeClr>
                </a:solidFill>
              </a:defRPr>
            </a:lvl4pPr>
            <a:lvl5pPr marL="2298895" indent="0" algn="ctr">
              <a:buNone/>
              <a:defRPr>
                <a:solidFill>
                  <a:schemeClr val="tx1">
                    <a:tint val="75000"/>
                  </a:schemeClr>
                </a:solidFill>
              </a:defRPr>
            </a:lvl5pPr>
            <a:lvl6pPr marL="2873621" indent="0" algn="ctr">
              <a:buNone/>
              <a:defRPr>
                <a:solidFill>
                  <a:schemeClr val="tx1">
                    <a:tint val="75000"/>
                  </a:schemeClr>
                </a:solidFill>
              </a:defRPr>
            </a:lvl6pPr>
            <a:lvl7pPr marL="3448344" indent="0" algn="ctr">
              <a:buNone/>
              <a:defRPr>
                <a:solidFill>
                  <a:schemeClr val="tx1">
                    <a:tint val="75000"/>
                  </a:schemeClr>
                </a:solidFill>
              </a:defRPr>
            </a:lvl7pPr>
            <a:lvl8pPr marL="4023069" indent="0" algn="ctr">
              <a:buNone/>
              <a:defRPr>
                <a:solidFill>
                  <a:schemeClr val="tx1">
                    <a:tint val="75000"/>
                  </a:schemeClr>
                </a:solidFill>
              </a:defRPr>
            </a:lvl8pPr>
            <a:lvl9pPr marL="4597793"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C2E1E87-9C15-4984-91E0-215221CAF7F6}" type="datetime1">
              <a:rPr lang="en-US" smtClean="0"/>
              <a:t>9/26/2026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25058825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1116BE9-D6CB-4D14-A12D-7F5512E1435B}" type="datetime1">
              <a:rPr lang="en-US" smtClean="0"/>
              <a:t>9/26/2026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1141061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011238" y="4700695"/>
            <a:ext cx="10881360" cy="1452880"/>
          </a:xfrm>
        </p:spPr>
        <p:txBody>
          <a:bodyPr anchor="t"/>
          <a:lstStyle>
            <a:lvl1pPr algn="l">
              <a:defRPr sz="5100" b="1" cap="all"/>
            </a:lvl1pPr>
          </a:lstStyle>
          <a:p>
            <a:r>
              <a:rPr lang="en-US"/>
              <a:t>Click to edit Master title style</a:t>
            </a:r>
          </a:p>
        </p:txBody>
      </p:sp>
      <p:sp>
        <p:nvSpPr>
          <p:cNvPr id="3" name="Text Placeholder 2"/>
          <p:cNvSpPr>
            <a:spLocks noGrp="1"/>
          </p:cNvSpPr>
          <p:nvPr>
            <p:ph type="body" idx="1"/>
          </p:nvPr>
        </p:nvSpPr>
        <p:spPr>
          <a:xfrm>
            <a:off x="1011238" y="3100496"/>
            <a:ext cx="10881360" cy="1600199"/>
          </a:xfrm>
        </p:spPr>
        <p:txBody>
          <a:bodyPr anchor="b"/>
          <a:lstStyle>
            <a:lvl1pPr marL="0" indent="0">
              <a:buNone/>
              <a:defRPr sz="2500">
                <a:solidFill>
                  <a:schemeClr val="tx1">
                    <a:tint val="75000"/>
                  </a:schemeClr>
                </a:solidFill>
              </a:defRPr>
            </a:lvl1pPr>
            <a:lvl2pPr marL="574724" indent="0">
              <a:buNone/>
              <a:defRPr sz="2300">
                <a:solidFill>
                  <a:schemeClr val="tx1">
                    <a:tint val="75000"/>
                  </a:schemeClr>
                </a:solidFill>
              </a:defRPr>
            </a:lvl2pPr>
            <a:lvl3pPr marL="1149448" indent="0">
              <a:buNone/>
              <a:defRPr sz="2000">
                <a:solidFill>
                  <a:schemeClr val="tx1">
                    <a:tint val="75000"/>
                  </a:schemeClr>
                </a:solidFill>
              </a:defRPr>
            </a:lvl3pPr>
            <a:lvl4pPr marL="1724172" indent="0">
              <a:buNone/>
              <a:defRPr sz="1800">
                <a:solidFill>
                  <a:schemeClr val="tx1">
                    <a:tint val="75000"/>
                  </a:schemeClr>
                </a:solidFill>
              </a:defRPr>
            </a:lvl4pPr>
            <a:lvl5pPr marL="2298895" indent="0">
              <a:buNone/>
              <a:defRPr sz="1800">
                <a:solidFill>
                  <a:schemeClr val="tx1">
                    <a:tint val="75000"/>
                  </a:schemeClr>
                </a:solidFill>
              </a:defRPr>
            </a:lvl5pPr>
            <a:lvl6pPr marL="2873621" indent="0">
              <a:buNone/>
              <a:defRPr sz="1800">
                <a:solidFill>
                  <a:schemeClr val="tx1">
                    <a:tint val="75000"/>
                  </a:schemeClr>
                </a:solidFill>
              </a:defRPr>
            </a:lvl6pPr>
            <a:lvl7pPr marL="3448344" indent="0">
              <a:buNone/>
              <a:defRPr sz="1800">
                <a:solidFill>
                  <a:schemeClr val="tx1">
                    <a:tint val="75000"/>
                  </a:schemeClr>
                </a:solidFill>
              </a:defRPr>
            </a:lvl7pPr>
            <a:lvl8pPr marL="4023069" indent="0">
              <a:buNone/>
              <a:defRPr sz="1800">
                <a:solidFill>
                  <a:schemeClr val="tx1">
                    <a:tint val="75000"/>
                  </a:schemeClr>
                </a:solidFill>
              </a:defRPr>
            </a:lvl8pPr>
            <a:lvl9pPr marL="4597793" indent="0">
              <a:buNone/>
              <a:defRPr sz="18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12A9D04-24B9-408C-A000-3B78FDBD0AEB}" type="datetime1">
              <a:rPr lang="en-US" smtClean="0"/>
              <a:t>9/26/2026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4860235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40080" y="1706880"/>
            <a:ext cx="5654040" cy="4827694"/>
          </a:xfrm>
        </p:spPr>
        <p:txBody>
          <a:bodyPr/>
          <a:lstStyle>
            <a:lvl1pPr>
              <a:defRPr sz="3500"/>
            </a:lvl1pPr>
            <a:lvl2pPr>
              <a:defRPr sz="3000"/>
            </a:lvl2pPr>
            <a:lvl3pPr>
              <a:defRPr sz="2500"/>
            </a:lvl3pPr>
            <a:lvl4pPr>
              <a:defRPr sz="2300"/>
            </a:lvl4pPr>
            <a:lvl5pPr>
              <a:defRPr sz="2300"/>
            </a:lvl5pPr>
            <a:lvl6pPr>
              <a:defRPr sz="2300"/>
            </a:lvl6pPr>
            <a:lvl7pPr>
              <a:defRPr sz="2300"/>
            </a:lvl7pPr>
            <a:lvl8pPr>
              <a:defRPr sz="2300"/>
            </a:lvl8pPr>
            <a:lvl9pPr>
              <a:defRPr sz="2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507480" y="1706880"/>
            <a:ext cx="5654040" cy="4827694"/>
          </a:xfrm>
        </p:spPr>
        <p:txBody>
          <a:bodyPr/>
          <a:lstStyle>
            <a:lvl1pPr>
              <a:defRPr sz="3500"/>
            </a:lvl1pPr>
            <a:lvl2pPr>
              <a:defRPr sz="3000"/>
            </a:lvl2pPr>
            <a:lvl3pPr>
              <a:defRPr sz="2500"/>
            </a:lvl3pPr>
            <a:lvl4pPr>
              <a:defRPr sz="2300"/>
            </a:lvl4pPr>
            <a:lvl5pPr>
              <a:defRPr sz="2300"/>
            </a:lvl5pPr>
            <a:lvl6pPr>
              <a:defRPr sz="2300"/>
            </a:lvl6pPr>
            <a:lvl7pPr>
              <a:defRPr sz="2300"/>
            </a:lvl7pPr>
            <a:lvl8pPr>
              <a:defRPr sz="2300"/>
            </a:lvl8pPr>
            <a:lvl9pPr>
              <a:defRPr sz="2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2B91B48-F2B5-44C0-A324-732125246729}" type="datetime1">
              <a:rPr lang="en-US" smtClean="0"/>
              <a:t>9/26/2026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41898333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40080" y="1637454"/>
            <a:ext cx="5656263" cy="682414"/>
          </a:xfrm>
        </p:spPr>
        <p:txBody>
          <a:bodyPr anchor="b"/>
          <a:lstStyle>
            <a:lvl1pPr marL="0" indent="0">
              <a:buNone/>
              <a:defRPr sz="3000" b="1"/>
            </a:lvl1pPr>
            <a:lvl2pPr marL="574724" indent="0">
              <a:buNone/>
              <a:defRPr sz="2500" b="1"/>
            </a:lvl2pPr>
            <a:lvl3pPr marL="1149448" indent="0">
              <a:buNone/>
              <a:defRPr sz="2300" b="1"/>
            </a:lvl3pPr>
            <a:lvl4pPr marL="1724172" indent="0">
              <a:buNone/>
              <a:defRPr sz="2000" b="1"/>
            </a:lvl4pPr>
            <a:lvl5pPr marL="2298895" indent="0">
              <a:buNone/>
              <a:defRPr sz="2000" b="1"/>
            </a:lvl5pPr>
            <a:lvl6pPr marL="2873621" indent="0">
              <a:buNone/>
              <a:defRPr sz="2000" b="1"/>
            </a:lvl6pPr>
            <a:lvl7pPr marL="3448344" indent="0">
              <a:buNone/>
              <a:defRPr sz="2000" b="1"/>
            </a:lvl7pPr>
            <a:lvl8pPr marL="4023069" indent="0">
              <a:buNone/>
              <a:defRPr sz="2000" b="1"/>
            </a:lvl8pPr>
            <a:lvl9pPr marL="4597793" indent="0">
              <a:buNone/>
              <a:defRPr sz="2000" b="1"/>
            </a:lvl9pPr>
          </a:lstStyle>
          <a:p>
            <a:pPr lvl="0"/>
            <a:r>
              <a:rPr lang="en-US"/>
              <a:t>Click to edit Master text styles</a:t>
            </a:r>
          </a:p>
        </p:txBody>
      </p:sp>
      <p:sp>
        <p:nvSpPr>
          <p:cNvPr id="4" name="Content Placeholder 3"/>
          <p:cNvSpPr>
            <a:spLocks noGrp="1"/>
          </p:cNvSpPr>
          <p:nvPr>
            <p:ph sz="half" idx="2"/>
          </p:nvPr>
        </p:nvSpPr>
        <p:spPr>
          <a:xfrm>
            <a:off x="640080" y="2319868"/>
            <a:ext cx="5656263" cy="4214707"/>
          </a:xfrm>
        </p:spPr>
        <p:txBody>
          <a:bodyPr/>
          <a:lstStyle>
            <a:lvl1pPr>
              <a:defRPr sz="3000"/>
            </a:lvl1pPr>
            <a:lvl2pPr>
              <a:defRPr sz="2500"/>
            </a:lvl2pPr>
            <a:lvl3pPr>
              <a:defRPr sz="23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503037" y="1637454"/>
            <a:ext cx="5658485" cy="682414"/>
          </a:xfrm>
        </p:spPr>
        <p:txBody>
          <a:bodyPr anchor="b"/>
          <a:lstStyle>
            <a:lvl1pPr marL="0" indent="0">
              <a:buNone/>
              <a:defRPr sz="3000" b="1"/>
            </a:lvl1pPr>
            <a:lvl2pPr marL="574724" indent="0">
              <a:buNone/>
              <a:defRPr sz="2500" b="1"/>
            </a:lvl2pPr>
            <a:lvl3pPr marL="1149448" indent="0">
              <a:buNone/>
              <a:defRPr sz="2300" b="1"/>
            </a:lvl3pPr>
            <a:lvl4pPr marL="1724172" indent="0">
              <a:buNone/>
              <a:defRPr sz="2000" b="1"/>
            </a:lvl4pPr>
            <a:lvl5pPr marL="2298895" indent="0">
              <a:buNone/>
              <a:defRPr sz="2000" b="1"/>
            </a:lvl5pPr>
            <a:lvl6pPr marL="2873621" indent="0">
              <a:buNone/>
              <a:defRPr sz="2000" b="1"/>
            </a:lvl6pPr>
            <a:lvl7pPr marL="3448344" indent="0">
              <a:buNone/>
              <a:defRPr sz="2000" b="1"/>
            </a:lvl7pPr>
            <a:lvl8pPr marL="4023069" indent="0">
              <a:buNone/>
              <a:defRPr sz="2000" b="1"/>
            </a:lvl8pPr>
            <a:lvl9pPr marL="4597793" indent="0">
              <a:buNone/>
              <a:defRPr sz="2000" b="1"/>
            </a:lvl9pPr>
          </a:lstStyle>
          <a:p>
            <a:pPr lvl="0"/>
            <a:r>
              <a:rPr lang="en-US"/>
              <a:t>Click to edit Master text styles</a:t>
            </a:r>
          </a:p>
        </p:txBody>
      </p:sp>
      <p:sp>
        <p:nvSpPr>
          <p:cNvPr id="6" name="Content Placeholder 5"/>
          <p:cNvSpPr>
            <a:spLocks noGrp="1"/>
          </p:cNvSpPr>
          <p:nvPr>
            <p:ph sz="quarter" idx="4"/>
          </p:nvPr>
        </p:nvSpPr>
        <p:spPr>
          <a:xfrm>
            <a:off x="6503037" y="2319868"/>
            <a:ext cx="5658485" cy="4214707"/>
          </a:xfrm>
        </p:spPr>
        <p:txBody>
          <a:bodyPr/>
          <a:lstStyle>
            <a:lvl1pPr>
              <a:defRPr sz="3000"/>
            </a:lvl1pPr>
            <a:lvl2pPr>
              <a:defRPr sz="2500"/>
            </a:lvl2pPr>
            <a:lvl3pPr>
              <a:defRPr sz="23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E8337E91-F602-4F18-92CA-FB1A231376B0}" type="datetime1">
              <a:rPr lang="en-US" smtClean="0"/>
              <a:t>9/26/2026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1793677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0818EFE-411D-495F-AE32-482368671348}" type="datetime1">
              <a:rPr lang="en-US" smtClean="0"/>
              <a:t>9/26/2026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20362177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C6129DD-E279-4A67-BA32-75987FE76FB7}" type="datetime1">
              <a:rPr lang="en-US" smtClean="0"/>
              <a:t>9/26/2026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18440107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40082" y="291252"/>
            <a:ext cx="4211638" cy="1239521"/>
          </a:xfrm>
        </p:spPr>
        <p:txBody>
          <a:bodyPr anchor="b"/>
          <a:lstStyle>
            <a:lvl1pPr algn="l">
              <a:defRPr sz="2500" b="1"/>
            </a:lvl1pPr>
          </a:lstStyle>
          <a:p>
            <a:r>
              <a:rPr lang="en-US"/>
              <a:t>Click to edit Master title style</a:t>
            </a:r>
          </a:p>
        </p:txBody>
      </p:sp>
      <p:sp>
        <p:nvSpPr>
          <p:cNvPr id="3" name="Content Placeholder 2"/>
          <p:cNvSpPr>
            <a:spLocks noGrp="1"/>
          </p:cNvSpPr>
          <p:nvPr>
            <p:ph idx="1"/>
          </p:nvPr>
        </p:nvSpPr>
        <p:spPr>
          <a:xfrm>
            <a:off x="5005070" y="291255"/>
            <a:ext cx="7156450" cy="6243321"/>
          </a:xfrm>
        </p:spPr>
        <p:txBody>
          <a:bodyPr/>
          <a:lstStyle>
            <a:lvl1pPr>
              <a:defRPr sz="3900"/>
            </a:lvl1pPr>
            <a:lvl2pPr>
              <a:defRPr sz="3500"/>
            </a:lvl2pPr>
            <a:lvl3pPr>
              <a:defRPr sz="3000"/>
            </a:lvl3pPr>
            <a:lvl4pPr>
              <a:defRPr sz="2500"/>
            </a:lvl4pPr>
            <a:lvl5pPr>
              <a:defRPr sz="2500"/>
            </a:lvl5pPr>
            <a:lvl6pPr>
              <a:defRPr sz="2500"/>
            </a:lvl6pPr>
            <a:lvl7pPr>
              <a:defRPr sz="2500"/>
            </a:lvl7pPr>
            <a:lvl8pPr>
              <a:defRPr sz="2500"/>
            </a:lvl8pPr>
            <a:lvl9pPr>
              <a:defRPr sz="2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40082" y="1530775"/>
            <a:ext cx="4211638" cy="5003802"/>
          </a:xfrm>
        </p:spPr>
        <p:txBody>
          <a:bodyPr/>
          <a:lstStyle>
            <a:lvl1pPr marL="0" indent="0">
              <a:buNone/>
              <a:defRPr sz="1800"/>
            </a:lvl1pPr>
            <a:lvl2pPr marL="574724" indent="0">
              <a:buNone/>
              <a:defRPr sz="1500"/>
            </a:lvl2pPr>
            <a:lvl3pPr marL="1149448" indent="0">
              <a:buNone/>
              <a:defRPr sz="1300"/>
            </a:lvl3pPr>
            <a:lvl4pPr marL="1724172" indent="0">
              <a:buNone/>
              <a:defRPr sz="1100"/>
            </a:lvl4pPr>
            <a:lvl5pPr marL="2298895" indent="0">
              <a:buNone/>
              <a:defRPr sz="1100"/>
            </a:lvl5pPr>
            <a:lvl6pPr marL="2873621" indent="0">
              <a:buNone/>
              <a:defRPr sz="1100"/>
            </a:lvl6pPr>
            <a:lvl7pPr marL="3448344" indent="0">
              <a:buNone/>
              <a:defRPr sz="1100"/>
            </a:lvl7pPr>
            <a:lvl8pPr marL="4023069" indent="0">
              <a:buNone/>
              <a:defRPr sz="1100"/>
            </a:lvl8pPr>
            <a:lvl9pPr marL="4597793" indent="0">
              <a:buNone/>
              <a:defRPr sz="1100"/>
            </a:lvl9pPr>
          </a:lstStyle>
          <a:p>
            <a:pPr lvl="0"/>
            <a:r>
              <a:rPr lang="en-US"/>
              <a:t>Click to edit Master text styles</a:t>
            </a:r>
          </a:p>
        </p:txBody>
      </p:sp>
      <p:sp>
        <p:nvSpPr>
          <p:cNvPr id="5" name="Date Placeholder 4"/>
          <p:cNvSpPr>
            <a:spLocks noGrp="1"/>
          </p:cNvSpPr>
          <p:nvPr>
            <p:ph type="dt" sz="half" idx="10"/>
          </p:nvPr>
        </p:nvSpPr>
        <p:spPr/>
        <p:txBody>
          <a:bodyPr/>
          <a:lstStyle/>
          <a:p>
            <a:fld id="{E97BA02B-9B73-458F-B848-E99C8FA83242}" type="datetime1">
              <a:rPr lang="en-US" smtClean="0"/>
              <a:t>9/26/2026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16849433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09203" y="5120640"/>
            <a:ext cx="7680960" cy="604521"/>
          </a:xfrm>
        </p:spPr>
        <p:txBody>
          <a:bodyPr anchor="b"/>
          <a:lstStyle>
            <a:lvl1pPr algn="l">
              <a:defRPr sz="2500" b="1"/>
            </a:lvl1pPr>
          </a:lstStyle>
          <a:p>
            <a:r>
              <a:rPr lang="en-US"/>
              <a:t>Click to edit Master title style</a:t>
            </a:r>
          </a:p>
        </p:txBody>
      </p:sp>
      <p:sp>
        <p:nvSpPr>
          <p:cNvPr id="3" name="Picture Placeholder 2"/>
          <p:cNvSpPr>
            <a:spLocks noGrp="1"/>
          </p:cNvSpPr>
          <p:nvPr>
            <p:ph type="pic" idx="1"/>
          </p:nvPr>
        </p:nvSpPr>
        <p:spPr>
          <a:xfrm>
            <a:off x="2509203" y="653626"/>
            <a:ext cx="7680960" cy="4389120"/>
          </a:xfrm>
        </p:spPr>
        <p:txBody>
          <a:bodyPr/>
          <a:lstStyle>
            <a:lvl1pPr marL="0" indent="0">
              <a:buNone/>
              <a:defRPr sz="3900"/>
            </a:lvl1pPr>
            <a:lvl2pPr marL="574724" indent="0">
              <a:buNone/>
              <a:defRPr sz="3500"/>
            </a:lvl2pPr>
            <a:lvl3pPr marL="1149448" indent="0">
              <a:buNone/>
              <a:defRPr sz="3000"/>
            </a:lvl3pPr>
            <a:lvl4pPr marL="1724172" indent="0">
              <a:buNone/>
              <a:defRPr sz="2500"/>
            </a:lvl4pPr>
            <a:lvl5pPr marL="2298895" indent="0">
              <a:buNone/>
              <a:defRPr sz="2500"/>
            </a:lvl5pPr>
            <a:lvl6pPr marL="2873621" indent="0">
              <a:buNone/>
              <a:defRPr sz="2500"/>
            </a:lvl6pPr>
            <a:lvl7pPr marL="3448344" indent="0">
              <a:buNone/>
              <a:defRPr sz="2500"/>
            </a:lvl7pPr>
            <a:lvl8pPr marL="4023069" indent="0">
              <a:buNone/>
              <a:defRPr sz="2500"/>
            </a:lvl8pPr>
            <a:lvl9pPr marL="4597793" indent="0">
              <a:buNone/>
              <a:defRPr sz="2500"/>
            </a:lvl9pPr>
          </a:lstStyle>
          <a:p>
            <a:endParaRPr lang="en-US"/>
          </a:p>
        </p:txBody>
      </p:sp>
      <p:sp>
        <p:nvSpPr>
          <p:cNvPr id="4" name="Text Placeholder 3"/>
          <p:cNvSpPr>
            <a:spLocks noGrp="1"/>
          </p:cNvSpPr>
          <p:nvPr>
            <p:ph type="body" sz="half" idx="2"/>
          </p:nvPr>
        </p:nvSpPr>
        <p:spPr>
          <a:xfrm>
            <a:off x="2509203" y="5725161"/>
            <a:ext cx="7680960" cy="858519"/>
          </a:xfrm>
        </p:spPr>
        <p:txBody>
          <a:bodyPr/>
          <a:lstStyle>
            <a:lvl1pPr marL="0" indent="0">
              <a:buNone/>
              <a:defRPr sz="1800"/>
            </a:lvl1pPr>
            <a:lvl2pPr marL="574724" indent="0">
              <a:buNone/>
              <a:defRPr sz="1500"/>
            </a:lvl2pPr>
            <a:lvl3pPr marL="1149448" indent="0">
              <a:buNone/>
              <a:defRPr sz="1300"/>
            </a:lvl3pPr>
            <a:lvl4pPr marL="1724172" indent="0">
              <a:buNone/>
              <a:defRPr sz="1100"/>
            </a:lvl4pPr>
            <a:lvl5pPr marL="2298895" indent="0">
              <a:buNone/>
              <a:defRPr sz="1100"/>
            </a:lvl5pPr>
            <a:lvl6pPr marL="2873621" indent="0">
              <a:buNone/>
              <a:defRPr sz="1100"/>
            </a:lvl6pPr>
            <a:lvl7pPr marL="3448344" indent="0">
              <a:buNone/>
              <a:defRPr sz="1100"/>
            </a:lvl7pPr>
            <a:lvl8pPr marL="4023069" indent="0">
              <a:buNone/>
              <a:defRPr sz="1100"/>
            </a:lvl8pPr>
            <a:lvl9pPr marL="4597793" indent="0">
              <a:buNone/>
              <a:defRPr sz="1100"/>
            </a:lvl9pPr>
          </a:lstStyle>
          <a:p>
            <a:pPr lvl="0"/>
            <a:r>
              <a:rPr lang="en-US"/>
              <a:t>Click to edit Master text styles</a:t>
            </a:r>
          </a:p>
        </p:txBody>
      </p:sp>
      <p:sp>
        <p:nvSpPr>
          <p:cNvPr id="5" name="Date Placeholder 4"/>
          <p:cNvSpPr>
            <a:spLocks noGrp="1"/>
          </p:cNvSpPr>
          <p:nvPr>
            <p:ph type="dt" sz="half" idx="10"/>
          </p:nvPr>
        </p:nvSpPr>
        <p:spPr/>
        <p:txBody>
          <a:bodyPr/>
          <a:lstStyle/>
          <a:p>
            <a:fld id="{33752997-1B9E-4EF2-B260-9EB38D81F553}" type="datetime1">
              <a:rPr lang="en-US" smtClean="0"/>
              <a:t>9/26/2026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41316001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41370E5-7D69-44CE-AE73-71BFC3B68EE4}" type="datetime1">
              <a:rPr lang="en-US" smtClean="0"/>
              <a:t>9/26/2026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16832098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81160" y="292948"/>
            <a:ext cx="2880360" cy="624162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40080" y="292948"/>
            <a:ext cx="8427720" cy="624162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CFF8B80-F83C-48AA-AA3F-63D37C1606D6}" type="datetime1">
              <a:rPr lang="en-US" smtClean="0"/>
              <a:t>9/26/2026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101113546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40080" y="292946"/>
            <a:ext cx="11521440" cy="1219200"/>
          </a:xfrm>
          <a:prstGeom prst="rect">
            <a:avLst/>
          </a:prstGeom>
        </p:spPr>
        <p:txBody>
          <a:bodyPr vert="horz" lIns="114945" tIns="57473" rIns="114945" bIns="57473" rtlCol="0" anchor="ctr">
            <a:normAutofit/>
          </a:bodyPr>
          <a:lstStyle/>
          <a:p>
            <a:r>
              <a:rPr lang="en-US"/>
              <a:t>Click to edit Master title style</a:t>
            </a:r>
          </a:p>
        </p:txBody>
      </p:sp>
      <p:sp>
        <p:nvSpPr>
          <p:cNvPr id="3" name="Text Placeholder 2"/>
          <p:cNvSpPr>
            <a:spLocks noGrp="1"/>
          </p:cNvSpPr>
          <p:nvPr>
            <p:ph type="body" idx="1"/>
          </p:nvPr>
        </p:nvSpPr>
        <p:spPr>
          <a:xfrm>
            <a:off x="640080" y="1706880"/>
            <a:ext cx="11521440" cy="4827694"/>
          </a:xfrm>
          <a:prstGeom prst="rect">
            <a:avLst/>
          </a:prstGeom>
        </p:spPr>
        <p:txBody>
          <a:bodyPr vert="horz" lIns="114945" tIns="57473" rIns="114945" bIns="57473"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40080" y="6780107"/>
            <a:ext cx="2987040" cy="389467"/>
          </a:xfrm>
          <a:prstGeom prst="rect">
            <a:avLst/>
          </a:prstGeom>
        </p:spPr>
        <p:txBody>
          <a:bodyPr vert="horz" lIns="114945" tIns="57473" rIns="114945" bIns="57473" rtlCol="0" anchor="ctr"/>
          <a:lstStyle>
            <a:lvl1pPr algn="l">
              <a:defRPr sz="1500">
                <a:solidFill>
                  <a:schemeClr val="tx1">
                    <a:tint val="75000"/>
                  </a:schemeClr>
                </a:solidFill>
              </a:defRPr>
            </a:lvl1pPr>
          </a:lstStyle>
          <a:p>
            <a:fld id="{0E5C8E2D-1657-4F9E-9BA7-8881C66FCBC2}" type="datetime1">
              <a:rPr lang="en-US" smtClean="0"/>
              <a:t>9/26/2026</a:t>
            </a:fld>
            <a:endParaRPr lang="en-US"/>
          </a:p>
        </p:txBody>
      </p:sp>
      <p:sp>
        <p:nvSpPr>
          <p:cNvPr id="5" name="Footer Placeholder 4"/>
          <p:cNvSpPr>
            <a:spLocks noGrp="1"/>
          </p:cNvSpPr>
          <p:nvPr>
            <p:ph type="ftr" sz="quarter" idx="3"/>
          </p:nvPr>
        </p:nvSpPr>
        <p:spPr>
          <a:xfrm>
            <a:off x="4373880" y="6780107"/>
            <a:ext cx="4053840" cy="389467"/>
          </a:xfrm>
          <a:prstGeom prst="rect">
            <a:avLst/>
          </a:prstGeom>
        </p:spPr>
        <p:txBody>
          <a:bodyPr vert="horz" lIns="114945" tIns="57473" rIns="114945" bIns="57473" rtlCol="0" anchor="ctr"/>
          <a:lstStyle>
            <a:lvl1pPr algn="ctr">
              <a:defRPr sz="15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9174480" y="6780107"/>
            <a:ext cx="2987040" cy="389467"/>
          </a:xfrm>
          <a:prstGeom prst="rect">
            <a:avLst/>
          </a:prstGeom>
        </p:spPr>
        <p:txBody>
          <a:bodyPr vert="horz" lIns="114945" tIns="57473" rIns="114945" bIns="57473" rtlCol="0" anchor="ctr"/>
          <a:lstStyle>
            <a:lvl1pPr algn="r">
              <a:defRPr sz="1500">
                <a:solidFill>
                  <a:schemeClr val="tx1">
                    <a:tint val="75000"/>
                  </a:schemeClr>
                </a:solidFill>
              </a:defRPr>
            </a:lvl1pPr>
          </a:lstStyle>
          <a:p>
            <a:fld id="{C02A2637-A5A3-49FA-B214-6E67543099EF}" type="slidenum">
              <a:rPr lang="en-US" smtClean="0"/>
              <a:t>‹#›</a:t>
            </a:fld>
            <a:endParaRPr lang="en-US"/>
          </a:p>
        </p:txBody>
      </p:sp>
    </p:spTree>
    <p:extLst>
      <p:ext uri="{BB962C8B-B14F-4D97-AF65-F5344CB8AC3E}">
        <p14:creationId xmlns:p14="http://schemas.microsoft.com/office/powerpoint/2010/main" val="64103873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1149448" rtl="0" eaLnBrk="1" latinLnBrk="0" hangingPunct="1">
        <a:spcBef>
          <a:spcPct val="0"/>
        </a:spcBef>
        <a:buNone/>
        <a:defRPr sz="5500" kern="1200">
          <a:solidFill>
            <a:schemeClr val="tx1"/>
          </a:solidFill>
          <a:latin typeface="+mj-lt"/>
          <a:ea typeface="+mj-ea"/>
          <a:cs typeface="+mj-cs"/>
        </a:defRPr>
      </a:lvl1pPr>
    </p:titleStyle>
    <p:bodyStyle>
      <a:lvl1pPr marL="431044" indent="-431044" algn="l" defTabSz="1149448" rtl="0" eaLnBrk="1" latinLnBrk="0" hangingPunct="1">
        <a:spcBef>
          <a:spcPct val="20000"/>
        </a:spcBef>
        <a:buFont typeface="Arial" pitchFamily="34" charset="0"/>
        <a:buChar char="•"/>
        <a:defRPr sz="3900" kern="1200">
          <a:solidFill>
            <a:schemeClr val="tx1"/>
          </a:solidFill>
          <a:latin typeface="+mn-lt"/>
          <a:ea typeface="+mn-ea"/>
          <a:cs typeface="+mn-cs"/>
        </a:defRPr>
      </a:lvl1pPr>
      <a:lvl2pPr marL="933926" indent="-359202" algn="l" defTabSz="1149448" rtl="0" eaLnBrk="1" latinLnBrk="0" hangingPunct="1">
        <a:spcBef>
          <a:spcPct val="20000"/>
        </a:spcBef>
        <a:buFont typeface="Arial" pitchFamily="34" charset="0"/>
        <a:buChar char="–"/>
        <a:defRPr sz="3500" kern="1200">
          <a:solidFill>
            <a:schemeClr val="tx1"/>
          </a:solidFill>
          <a:latin typeface="+mn-lt"/>
          <a:ea typeface="+mn-ea"/>
          <a:cs typeface="+mn-cs"/>
        </a:defRPr>
      </a:lvl2pPr>
      <a:lvl3pPr marL="1436810" indent="-287362" algn="l" defTabSz="1149448" rtl="0" eaLnBrk="1" latinLnBrk="0" hangingPunct="1">
        <a:spcBef>
          <a:spcPct val="20000"/>
        </a:spcBef>
        <a:buFont typeface="Arial" pitchFamily="34" charset="0"/>
        <a:buChar char="•"/>
        <a:defRPr sz="3000" kern="1200">
          <a:solidFill>
            <a:schemeClr val="tx1"/>
          </a:solidFill>
          <a:latin typeface="+mn-lt"/>
          <a:ea typeface="+mn-ea"/>
          <a:cs typeface="+mn-cs"/>
        </a:defRPr>
      </a:lvl3pPr>
      <a:lvl4pPr marL="2011534"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4pPr>
      <a:lvl5pPr marL="2586258"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5pPr>
      <a:lvl6pPr marL="3160983"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6pPr>
      <a:lvl7pPr marL="3735707"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7pPr>
      <a:lvl8pPr marL="4310430"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8pPr>
      <a:lvl9pPr marL="4885155"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9pPr>
    </p:bodyStyle>
    <p:otherStyle>
      <a:defPPr>
        <a:defRPr lang="en-US"/>
      </a:defPPr>
      <a:lvl1pPr marL="0" algn="l" defTabSz="1149448" rtl="0" eaLnBrk="1" latinLnBrk="0" hangingPunct="1">
        <a:defRPr sz="2300" kern="1200">
          <a:solidFill>
            <a:schemeClr val="tx1"/>
          </a:solidFill>
          <a:latin typeface="+mn-lt"/>
          <a:ea typeface="+mn-ea"/>
          <a:cs typeface="+mn-cs"/>
        </a:defRPr>
      </a:lvl1pPr>
      <a:lvl2pPr marL="574724" algn="l" defTabSz="1149448" rtl="0" eaLnBrk="1" latinLnBrk="0" hangingPunct="1">
        <a:defRPr sz="2300" kern="1200">
          <a:solidFill>
            <a:schemeClr val="tx1"/>
          </a:solidFill>
          <a:latin typeface="+mn-lt"/>
          <a:ea typeface="+mn-ea"/>
          <a:cs typeface="+mn-cs"/>
        </a:defRPr>
      </a:lvl2pPr>
      <a:lvl3pPr marL="1149448" algn="l" defTabSz="1149448" rtl="0" eaLnBrk="1" latinLnBrk="0" hangingPunct="1">
        <a:defRPr sz="2300" kern="1200">
          <a:solidFill>
            <a:schemeClr val="tx1"/>
          </a:solidFill>
          <a:latin typeface="+mn-lt"/>
          <a:ea typeface="+mn-ea"/>
          <a:cs typeface="+mn-cs"/>
        </a:defRPr>
      </a:lvl3pPr>
      <a:lvl4pPr marL="1724172" algn="l" defTabSz="1149448" rtl="0" eaLnBrk="1" latinLnBrk="0" hangingPunct="1">
        <a:defRPr sz="2300" kern="1200">
          <a:solidFill>
            <a:schemeClr val="tx1"/>
          </a:solidFill>
          <a:latin typeface="+mn-lt"/>
          <a:ea typeface="+mn-ea"/>
          <a:cs typeface="+mn-cs"/>
        </a:defRPr>
      </a:lvl4pPr>
      <a:lvl5pPr marL="2298895" algn="l" defTabSz="1149448" rtl="0" eaLnBrk="1" latinLnBrk="0" hangingPunct="1">
        <a:defRPr sz="2300" kern="1200">
          <a:solidFill>
            <a:schemeClr val="tx1"/>
          </a:solidFill>
          <a:latin typeface="+mn-lt"/>
          <a:ea typeface="+mn-ea"/>
          <a:cs typeface="+mn-cs"/>
        </a:defRPr>
      </a:lvl5pPr>
      <a:lvl6pPr marL="2873621" algn="l" defTabSz="1149448" rtl="0" eaLnBrk="1" latinLnBrk="0" hangingPunct="1">
        <a:defRPr sz="2300" kern="1200">
          <a:solidFill>
            <a:schemeClr val="tx1"/>
          </a:solidFill>
          <a:latin typeface="+mn-lt"/>
          <a:ea typeface="+mn-ea"/>
          <a:cs typeface="+mn-cs"/>
        </a:defRPr>
      </a:lvl6pPr>
      <a:lvl7pPr marL="3448344" algn="l" defTabSz="1149448" rtl="0" eaLnBrk="1" latinLnBrk="0" hangingPunct="1">
        <a:defRPr sz="2300" kern="1200">
          <a:solidFill>
            <a:schemeClr val="tx1"/>
          </a:solidFill>
          <a:latin typeface="+mn-lt"/>
          <a:ea typeface="+mn-ea"/>
          <a:cs typeface="+mn-cs"/>
        </a:defRPr>
      </a:lvl7pPr>
      <a:lvl8pPr marL="4023069" algn="l" defTabSz="1149448" rtl="0" eaLnBrk="1" latinLnBrk="0" hangingPunct="1">
        <a:defRPr sz="2300" kern="1200">
          <a:solidFill>
            <a:schemeClr val="tx1"/>
          </a:solidFill>
          <a:latin typeface="+mn-lt"/>
          <a:ea typeface="+mn-ea"/>
          <a:cs typeface="+mn-cs"/>
        </a:defRPr>
      </a:lvl8pPr>
      <a:lvl9pPr marL="4597793" algn="l" defTabSz="1149448" rtl="0" eaLnBrk="1" latinLnBrk="0" hangingPunct="1">
        <a:defRPr sz="23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chart" Target="../charts/char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12801600" cy="1600199"/>
          </a:xfrm>
          <a:solidFill>
            <a:schemeClr val="tx2">
              <a:lumMod val="60000"/>
              <a:lumOff val="40000"/>
            </a:schemeClr>
          </a:solidFill>
        </p:spPr>
        <p:txBody>
          <a:bodyPr anchor="ctr">
            <a:noAutofit/>
          </a:bodyPr>
          <a:lstStyle/>
          <a:p>
            <a:pPr algn="ctr"/>
            <a:r>
              <a:rPr lang="en-US" sz="4000" b="0" dirty="0" i="0">
                <a:solidFill>
                  <a:srgbClr val="1A1A1A"/>
                </a:solidFill>
                <a:latin typeface="Arial" panose="020B0604020202020204" pitchFamily="34" charset="0"/>
                <a:cs typeface="Arial" panose="020B0604020202020204" pitchFamily="34" charset="0"/>
                <a:ea typeface="Arial"/>
              </a:rPr>
              <a:t>Predictive Analytics for Smart City Infrastructure</a:t>
            </a:r>
          </a:p>
        </p:txBody>
      </p:sp>
      <p:sp>
        <p:nvSpPr>
          <p:cNvPr id="3" name="Subtitle 2"/>
          <p:cNvSpPr>
            <a:spLocks noGrp="1"/>
          </p:cNvSpPr>
          <p:nvPr>
            <p:ph type="subTitle" idx="1"/>
          </p:nvPr>
        </p:nvSpPr>
        <p:spPr>
          <a:xfrm>
            <a:off x="365760" y="3200400"/>
            <a:ext cx="12070080" cy="3977639"/>
          </a:xfrm>
        </p:spPr>
        <p:txBody>
          <a:bodyPr wrap="square">
            <a:noAutofit/>
          </a:bodyPr>
          <a:lstStyle/>
          <a:p>
            <a:pPr algn="ctr" marL="0" indent="0">
              <a:lnSpc>
                <a:spcPct val="100000"/>
              </a:lnSpc>
              <a:spcAft>
                <a:spcPts val="0"/>
              </a:spcAft>
              <a:buNone/>
            </a:pPr>
            <a:r>
              <a:rPr sz="2000" b="0" i="0">
                <a:solidFill>
                  <a:srgbClr val="244061"/>
                </a:solidFill>
                <a:latin typeface="Times New Roman"/>
                <a:cs typeface="Times New Roman"/>
                <a:ea typeface="Times New Roman"/>
              </a:rPr>
              <a:t>M.Tech Project Work Final Review</a:t>
            </a:r>
          </a:p>
          <a:p>
            <a:pPr algn="ctr" marL="0" indent="0">
              <a:lnSpc>
                <a:spcPct val="100000"/>
              </a:lnSpc>
              <a:spcAft>
                <a:spcPts val="0"/>
              </a:spcAft>
              <a:buNone/>
            </a:pPr>
            <a:r>
              <a:rPr sz="2000" b="0" i="0">
                <a:solidFill>
                  <a:srgbClr val="244061"/>
                </a:solidFill>
                <a:latin typeface="Times New Roman"/>
                <a:cs typeface="Times New Roman"/>
                <a:ea typeface="Times New Roman"/>
              </a:rPr>
              <a:t>Presented by</a:t>
            </a:r>
          </a:p>
          <a:p>
            <a:pPr algn="ctr" marL="0" indent="0">
              <a:lnSpc>
                <a:spcPct val="100000"/>
              </a:lnSpc>
              <a:spcBef>
                <a:spcPts val="1400"/>
              </a:spcBef>
              <a:spcAft>
                <a:spcPts val="0"/>
              </a:spcAft>
              <a:buNone/>
            </a:pPr>
            <a:r>
              <a:rPr sz="2000" b="1" i="0">
                <a:solidFill>
                  <a:srgbClr val="244061"/>
                </a:solidFill>
                <a:latin typeface="Times New Roman"/>
                <a:cs typeface="Times New Roman"/>
                <a:ea typeface="Times New Roman"/>
              </a:rPr>
              <a:t>S K Sricharan (25MML1010)</a:t>
            </a:r>
          </a:p>
          <a:p>
            <a:pPr algn="ctr" marL="0" indent="0">
              <a:lnSpc>
                <a:spcPct val="100000"/>
              </a:lnSpc>
              <a:spcAft>
                <a:spcPts val="0"/>
              </a:spcAft>
              <a:buNone/>
            </a:pPr>
            <a:r>
              <a:rPr sz="2000" b="0" i="0">
                <a:solidFill>
                  <a:srgbClr val="244061"/>
                </a:solidFill>
                <a:latin typeface="Times New Roman"/>
                <a:cs typeface="Times New Roman"/>
                <a:ea typeface="Times New Roman"/>
              </a:rPr>
              <a:t>M.Tech Computer Science and Engineering</a:t>
            </a:r>
          </a:p>
          <a:p>
            <a:pPr algn="ctr" marL="0" indent="0">
              <a:lnSpc>
                <a:spcPct val="100000"/>
              </a:lnSpc>
              <a:spcAft>
                <a:spcPts val="0"/>
              </a:spcAft>
              <a:buNone/>
            </a:pPr>
            <a:r>
              <a:rPr sz="2000" b="0" i="0">
                <a:solidFill>
                  <a:srgbClr val="244061"/>
                </a:solidFill>
                <a:latin typeface="Times New Roman"/>
                <a:cs typeface="Times New Roman"/>
                <a:ea typeface="Times New Roman"/>
              </a:rPr>
              <a:t>(Artificial Intelligence and Machine Learning – In collaboration with LTI Mindtree)</a:t>
            </a:r>
          </a:p>
          <a:p>
            <a:pPr algn="ctr" marL="0" indent="0">
              <a:lnSpc>
                <a:spcPct val="100000"/>
              </a:lnSpc>
              <a:spcBef>
                <a:spcPts val="1400"/>
              </a:spcBef>
              <a:spcAft>
                <a:spcPts val="0"/>
              </a:spcAft>
              <a:buNone/>
            </a:pPr>
            <a:r>
              <a:rPr sz="2000" b="0" i="0">
                <a:solidFill>
                  <a:srgbClr val="244061"/>
                </a:solidFill>
                <a:latin typeface="Times New Roman"/>
                <a:cs typeface="Times New Roman"/>
                <a:ea typeface="Times New Roman"/>
              </a:rPr>
              <a:t>Under the Guidance of</a:t>
            </a:r>
          </a:p>
          <a:p>
            <a:pPr algn="ctr" marL="0" indent="0">
              <a:lnSpc>
                <a:spcPct val="100000"/>
              </a:lnSpc>
              <a:spcAft>
                <a:spcPts val="0"/>
              </a:spcAft>
              <a:buNone/>
            </a:pPr>
            <a:r>
              <a:rPr sz="2000" b="0" i="0">
                <a:solidFill>
                  <a:srgbClr val="244061"/>
                </a:solidFill>
                <a:latin typeface="Times New Roman"/>
                <a:cs typeface="Times New Roman"/>
                <a:ea typeface="Times New Roman"/>
              </a:rPr>
              <a:t>Dr R. Srinivasa Perumal</a:t>
            </a:r>
          </a:p>
          <a:p>
            <a:pPr algn="ctr" marL="0" indent="0">
              <a:lnSpc>
                <a:spcPct val="100000"/>
              </a:lnSpc>
              <a:spcAft>
                <a:spcPts val="0"/>
              </a:spcAft>
              <a:buNone/>
            </a:pPr>
            <a:r>
              <a:rPr sz="2000" b="0" i="0">
                <a:solidFill>
                  <a:srgbClr val="244061"/>
                </a:solidFill>
                <a:latin typeface="Times New Roman"/>
                <a:cs typeface="Times New Roman"/>
                <a:ea typeface="Times New Roman"/>
              </a:rPr>
              <a:t>Associate Professor</a:t>
            </a:r>
          </a:p>
          <a:p>
            <a:pPr algn="ctr" marL="0" indent="0">
              <a:lnSpc>
                <a:spcPct val="100000"/>
              </a:lnSpc>
              <a:spcAft>
                <a:spcPts val="0"/>
              </a:spcAft>
              <a:buNone/>
            </a:pPr>
            <a:r>
              <a:rPr sz="2000" b="0" i="0">
                <a:solidFill>
                  <a:srgbClr val="244061"/>
                </a:solidFill>
                <a:latin typeface="Times New Roman"/>
                <a:cs typeface="Times New Roman"/>
                <a:ea typeface="Times New Roman"/>
              </a:rPr>
              <a:t>School of Computer Science and Engineering</a:t>
            </a:r>
          </a:p>
          <a:p>
            <a:pPr algn="ctr" marL="0" indent="0">
              <a:lnSpc>
                <a:spcPct val="100000"/>
              </a:lnSpc>
              <a:spcAft>
                <a:spcPts val="0"/>
              </a:spcAft>
              <a:buNone/>
            </a:pPr>
            <a:r>
              <a:rPr sz="2000" b="0" i="0">
                <a:solidFill>
                  <a:srgbClr val="244061"/>
                </a:solidFill>
                <a:latin typeface="Times New Roman"/>
                <a:cs typeface="Times New Roman"/>
                <a:ea typeface="Times New Roman"/>
              </a:rPr>
              <a:t>Vellore Institute of Technology, Chennai.</a:t>
            </a:r>
          </a:p>
        </p:txBody>
      </p:sp>
      <p:pic>
        <p:nvPicPr>
          <p:cNvPr id="4" name="VIT Chennai 15 years logo" descr="vit_chennai_15_logo.png"/>
          <p:cNvPicPr>
            <a:picLocks noChangeAspect="1"/>
          </p:cNvPicPr>
          <p:nvPr/>
        </p:nvPicPr>
        <p:blipFill>
          <a:blip r:embed="rId3"/>
          <a:stretch>
            <a:fillRect/>
          </a:stretch>
        </p:blipFill>
        <p:spPr>
          <a:xfrm>
            <a:off x="3931920" y="1783080"/>
            <a:ext cx="4937760" cy="1325207"/>
          </a:xfrm>
          <a:prstGeom prst="rect">
            <a:avLst/>
          </a:prstGeom>
        </p:spPr>
      </p:pic>
    </p:spTree>
    <p:extLst>
      <p:ext uri="{BB962C8B-B14F-4D97-AF65-F5344CB8AC3E}">
        <p14:creationId xmlns:p14="http://schemas.microsoft.com/office/powerpoint/2010/main" val="4998431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C02A2637-A5A3-49FA-B214-6E67543099EF}" type="slidenum">
              <a:rPr lang="en-US" smtClean="0"/>
              <a:t>2</a:t>
            </a:fld>
            <a:endParaRPr lang="en-US" dirty="0"/>
          </a:p>
        </p:txBody>
      </p:sp>
      <p:sp>
        <p:nvSpPr>
          <p:cNvPr id="14" name="Title 1"/>
          <p:cNvSpPr>
            <a:spLocks noGrp="1"/>
          </p:cNvSpPr>
          <p:nvPr>
            <p:ph type="title"/>
          </p:nvPr>
        </p:nvSpPr>
        <p:spPr>
          <a:xfrm>
            <a:off x="0" y="0"/>
            <a:ext cx="12801600" cy="1512146"/>
          </a:xfrm>
          <a:solidFill>
            <a:schemeClr val="tx2">
              <a:lumMod val="60000"/>
              <a:lumOff val="40000"/>
            </a:schemeClr>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CONTENTS</a:t>
            </a:r>
          </a:p>
        </p:txBody>
      </p:sp>
      <p:sp>
        <p:nvSpPr>
          <p:cNvPr id="5" name="Content Placeholder 2"/>
          <p:cNvSpPr txBox="1">
            <a:spLocks/>
          </p:cNvSpPr>
          <p:nvPr/>
        </p:nvSpPr>
        <p:spPr>
          <a:xfrm>
            <a:off x="76200" y="1600200"/>
            <a:ext cx="12649200" cy="5638800"/>
          </a:xfrm>
          <a:prstGeom prst="rect">
            <a:avLst/>
          </a:prstGeom>
        </p:spPr>
        <p:txBody>
          <a:bodyPr vert="horz" lIns="114945" tIns="57473" rIns="114945" bIns="57473" rtlCol="0">
            <a:normAutofit fontScale="92500" lnSpcReduction="20000"/>
          </a:bodyPr>
          <a:lstStyle>
            <a:lvl1pPr marL="431044" indent="-431044" algn="l" defTabSz="1149448" rtl="0" eaLnBrk="1" latinLnBrk="0" hangingPunct="1">
              <a:spcBef>
                <a:spcPct val="20000"/>
              </a:spcBef>
              <a:buFont typeface="Arial" pitchFamily="34" charset="0"/>
              <a:buChar char="•"/>
              <a:defRPr sz="3900" kern="1200">
                <a:solidFill>
                  <a:schemeClr val="tx1"/>
                </a:solidFill>
                <a:latin typeface="+mn-lt"/>
                <a:ea typeface="+mn-ea"/>
                <a:cs typeface="+mn-cs"/>
              </a:defRPr>
            </a:lvl1pPr>
            <a:lvl2pPr marL="933926" indent="-359202" algn="l" defTabSz="1149448" rtl="0" eaLnBrk="1" latinLnBrk="0" hangingPunct="1">
              <a:spcBef>
                <a:spcPct val="20000"/>
              </a:spcBef>
              <a:buFont typeface="Arial" pitchFamily="34" charset="0"/>
              <a:buChar char="–"/>
              <a:defRPr sz="3500" kern="1200">
                <a:solidFill>
                  <a:schemeClr val="tx1"/>
                </a:solidFill>
                <a:latin typeface="+mn-lt"/>
                <a:ea typeface="+mn-ea"/>
                <a:cs typeface="+mn-cs"/>
              </a:defRPr>
            </a:lvl2pPr>
            <a:lvl3pPr marL="1436810" indent="-287362" algn="l" defTabSz="1149448" rtl="0" eaLnBrk="1" latinLnBrk="0" hangingPunct="1">
              <a:spcBef>
                <a:spcPct val="20000"/>
              </a:spcBef>
              <a:buFont typeface="Arial" pitchFamily="34" charset="0"/>
              <a:buChar char="•"/>
              <a:defRPr sz="3000" kern="1200">
                <a:solidFill>
                  <a:schemeClr val="tx1"/>
                </a:solidFill>
                <a:latin typeface="+mn-lt"/>
                <a:ea typeface="+mn-ea"/>
                <a:cs typeface="+mn-cs"/>
              </a:defRPr>
            </a:lvl3pPr>
            <a:lvl4pPr marL="2011534"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4pPr>
            <a:lvl5pPr marL="2586258"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5pPr>
            <a:lvl6pPr marL="3160983"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6pPr>
            <a:lvl7pPr marL="3735707"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7pPr>
            <a:lvl8pPr marL="4310430"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8pPr>
            <a:lvl9pPr marL="4885155"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9pPr>
          </a:lstStyle>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ABSTRACT</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INTRODUCTION</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LITERATURE SURVEY</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RESEARCH GAPS </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OBJECTIVES</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RESEARCH WORK DONE</a:t>
            </a:r>
          </a:p>
          <a:p>
            <a:pPr lvl="1" fontAlgn="ctr">
              <a:buFont typeface="Wingdings" panose="05000000000000000000" pitchFamily="2" charset="2"/>
              <a:buChar char="v"/>
            </a:pPr>
            <a:r>
              <a:rPr lang="en-US" sz="2400" dirty="0">
                <a:latin typeface="Arial" panose="020B0604020202020204" pitchFamily="34" charset="0"/>
                <a:cs typeface="Arial" panose="020B0604020202020204" pitchFamily="34" charset="0"/>
              </a:rPr>
              <a:t>MODULE IDENTIFICATION</a:t>
            </a:r>
          </a:p>
          <a:p>
            <a:pPr lvl="1" fontAlgn="ctr">
              <a:buFont typeface="Wingdings" panose="05000000000000000000" pitchFamily="2" charset="2"/>
              <a:buChar char="v"/>
            </a:pPr>
            <a:r>
              <a:rPr lang="en-US" sz="2400" dirty="0">
                <a:latin typeface="Arial" panose="020B0604020202020204" pitchFamily="34" charset="0"/>
                <a:cs typeface="Arial" panose="020B0604020202020204" pitchFamily="34" charset="0"/>
              </a:rPr>
              <a:t>SYSTEM ARCHITECTURE</a:t>
            </a:r>
          </a:p>
          <a:p>
            <a:pPr lvl="1" fontAlgn="ctr">
              <a:buFont typeface="Wingdings" panose="05000000000000000000" pitchFamily="2" charset="2"/>
              <a:buChar char="v"/>
            </a:pPr>
            <a:r>
              <a:rPr lang="en-US" sz="2400" dirty="0">
                <a:latin typeface="Arial" panose="020B0604020202020204" pitchFamily="34" charset="0"/>
                <a:cs typeface="Arial" panose="020B0604020202020204" pitchFamily="34" charset="0"/>
              </a:rPr>
              <a:t>DEVELOPMENT &amp; INTEGRATION</a:t>
            </a:r>
          </a:p>
          <a:p>
            <a:pPr lvl="1" fontAlgn="ctr">
              <a:buFont typeface="Wingdings" panose="05000000000000000000" pitchFamily="2" charset="2"/>
              <a:buChar char="v"/>
            </a:pPr>
            <a:r>
              <a:rPr lang="en-US" sz="2400" dirty="0">
                <a:latin typeface="Arial" panose="020B0604020202020204" pitchFamily="34" charset="0"/>
                <a:cs typeface="Arial" panose="020B0604020202020204" pitchFamily="34" charset="0"/>
              </a:rPr>
              <a:t>PROTOTYPE / RESEARCH FRAMEWORK</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CONCLUSIONS</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OUTCOME</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RESULTS &amp; OUTCOMES</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REFERENCES</a:t>
            </a:r>
          </a:p>
        </p:txBody>
      </p:sp>
    </p:spTree>
    <p:extLst>
      <p:ext uri="{BB962C8B-B14F-4D97-AF65-F5344CB8AC3E}">
        <p14:creationId xmlns:p14="http://schemas.microsoft.com/office/powerpoint/2010/main" val="24901540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801600" cy="1512146"/>
          </a:xfrm>
          <a:solidFill>
            <a:schemeClr val="tx2">
              <a:lumMod val="60000"/>
              <a:lumOff val="40000"/>
            </a:schemeClr>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1.ABSTRACT</a:t>
            </a:r>
          </a:p>
        </p:txBody>
      </p:sp>
      <p:sp>
        <p:nvSpPr>
          <p:cNvPr id="3" name="Content Placeholder 2"/>
          <p:cNvSpPr>
            <a:spLocks noGrp="1"/>
          </p:cNvSpPr>
          <p:nvPr>
            <p:ph idx="1"/>
          </p:nvPr>
        </p:nvSpPr>
        <p:spPr>
          <a:xfrm>
            <a:off x="411480" y="1783080"/>
            <a:ext cx="11978640" cy="4892040"/>
          </a:xfrm>
        </p:spPr>
        <p:txBody>
          <a:bodyPr wrap="square">
            <a:normAutofit/>
          </a:bodyPr>
          <a:lstStyle/>
          <a:p>
            <a:pPr marL="0" indent="0" algn="just">
              <a:lnSpc>
                <a:spcPct val="105000"/>
              </a:lnSpc>
              <a:spcAft>
                <a:spcPts val="0"/>
              </a:spcAft>
              <a:buNone/>
            </a:pPr>
            <a:r>
              <a:rPr sz="2400" b="0" i="0">
                <a:solidFill>
                  <a:srgbClr val="1A1A1A"/>
                </a:solidFill>
                <a:latin typeface="Times New Roman"/>
                <a:cs typeface="Times New Roman"/>
                <a:ea typeface="Times New Roman"/>
              </a:rPr>
              <a:t>Traffic control rooms can see congestion as it happens, but rarely receive forecasts that are explained, honest about their uncertainty and tested before an action is suggested. This project builds a decision-support prototype on public New York City data. A context-gated GATv2–Transformer forecasts link speeds 15, 30 and 60 minutes ahead on a graph of 16 Manhattan DOT speed links (January–October 2026), fusing weather, 311 and calendar context through an availability-aware gate. Split-conformal intervals quantify uncertainty, grouped SHAP explains the trained model, and a LangGraph workflow uses a local LLM (qwen2.5 7B) with FAISS retrieval to draft signal advisories that deterministic safety rules and a SUMO simulation must pass before human review. On a 45-day test period the model reaches 4.77, 5.33 and 6.15 mph MAE, 7–16 % below persistence; intervals reach 90 % coverage overall, and retrieval removed every fabricated citation. On a calibrated SUMO testbed (10.08 vs 10.95 mph observed) a forecast-driven rule cut simulated time loss by 5.4 % and 4.7 % in surge and incident scenarios, a simulated result only.</a:t>
            </a:r>
          </a:p>
        </p:txBody>
      </p:sp>
      <p:sp>
        <p:nvSpPr>
          <p:cNvPr id="4" name="Slide Number Placeholder 3"/>
          <p:cNvSpPr>
            <a:spLocks noGrp="1"/>
          </p:cNvSpPr>
          <p:nvPr>
            <p:ph type="sldNum" sz="quarter" idx="12"/>
          </p:nvPr>
        </p:nvSpPr>
        <p:spPr/>
        <p:txBody>
          <a:bodyPr/>
          <a:lstStyle/>
          <a:p>
            <a:fld id="{C02A2637-A5A3-49FA-B214-6E67543099EF}" type="slidenum">
              <a:rPr lang="en-US" smtClean="0"/>
              <a:t>3</a:t>
            </a:fld>
            <a:endParaRPr lang="en-US"/>
          </a:p>
        </p:txBody>
      </p:sp>
    </p:spTree>
    <p:extLst>
      <p:ext uri="{BB962C8B-B14F-4D97-AF65-F5344CB8AC3E}">
        <p14:creationId xmlns:p14="http://schemas.microsoft.com/office/powerpoint/2010/main" val="7359432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801600" cy="1512146"/>
          </a:xfrm>
          <a:solidFill>
            <a:schemeClr val="tx2">
              <a:lumMod val="60000"/>
              <a:lumOff val="40000"/>
            </a:schemeClr>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2. INTRODUCTION</a:t>
            </a:r>
          </a:p>
        </p:txBody>
      </p:sp>
      <p:sp>
        <p:nvSpPr>
          <p:cNvPr id="3" name="Content Placeholder 2"/>
          <p:cNvSpPr>
            <a:spLocks noGrp="1"/>
          </p:cNvSpPr>
          <p:nvPr>
            <p:ph idx="1"/>
          </p:nvPr>
        </p:nvSpPr>
        <p:spPr>
          <a:xfrm>
            <a:off x="502920" y="1783080"/>
            <a:ext cx="11795760" cy="3840480"/>
          </a:xfrm>
        </p:spPr>
        <p:txBody>
          <a:bodyPr wrap="square">
            <a:normAutofit/>
          </a:bodyPr>
          <a:lstStyle/>
          <a:p>
            <a:pPr algn="l" marL="274320" indent="-228600">
              <a:spcAft>
                <a:spcPts val="1000"/>
              </a:spcAft>
              <a:buFont typeface="Arial"/>
              <a:buChar char="•"/>
            </a:pPr>
            <a:r>
              <a:rPr sz="2400" b="0" i="0">
                <a:solidFill>
                  <a:srgbClr val="1A1A1A"/>
                </a:solidFill>
                <a:latin typeface="Arial"/>
                <a:cs typeface="Arial"/>
                <a:ea typeface="Arial"/>
              </a:rPr>
              <a:t>Urban congestion depends on demand, neighbouring roads, weather, events and incidents, yet control rooms mostly see only current conditions.</a:t>
            </a:r>
          </a:p>
          <a:p>
            <a:pPr algn="l" marL="274320" indent="-228600">
              <a:spcAft>
                <a:spcPts val="1000"/>
              </a:spcAft>
              <a:buFont typeface="Arial"/>
              <a:buChar char="•"/>
            </a:pPr>
            <a:r>
              <a:rPr sz="2400" b="0" i="0">
                <a:solidFill>
                  <a:srgbClr val="1A1A1A"/>
                </a:solidFill>
                <a:latin typeface="Arial"/>
                <a:cs typeface="Arial"/>
                <a:ea typeface="Arial"/>
              </a:rPr>
              <a:t>Graph neural networks forecast traffic on road networks [1]–[3], but give point forecasts without uncertainty or explanation.</a:t>
            </a:r>
          </a:p>
          <a:p>
            <a:pPr algn="l" marL="274320" indent="-228600">
              <a:spcAft>
                <a:spcPts val="1000"/>
              </a:spcAft>
              <a:buFont typeface="Arial"/>
              <a:buChar char="•"/>
            </a:pPr>
            <a:r>
              <a:rPr sz="2400" b="0" i="0">
                <a:solidFill>
                  <a:srgbClr val="1A1A1A"/>
                </a:solidFill>
                <a:latin typeface="Arial"/>
                <a:cs typeface="Arial"/>
                <a:ea typeface="Arial"/>
              </a:rPr>
              <a:t>An LLM can phrase advice convincingly without evidence; retrieval grounding [4] and simulation testing [5] are needed before any signal action.</a:t>
            </a:r>
          </a:p>
          <a:p>
            <a:pPr algn="l" marL="274320" indent="-228600">
              <a:spcAft>
                <a:spcPts val="1000"/>
              </a:spcAft>
              <a:buFont typeface="Arial"/>
              <a:buChar char="•"/>
            </a:pPr>
            <a:r>
              <a:rPr sz="2400" b="0" i="0">
                <a:solidFill>
                  <a:srgbClr val="1A1A1A"/>
                </a:solidFill>
                <a:latin typeface="Arial"/>
                <a:cs typeface="Arial"/>
                <a:ea typeface="Arial"/>
              </a:rPr>
              <a:t>Objective: join forecasts, uncertainty, explanations, cited evidence and simulation checks in one auditable, human-in-the-loop advisory pipeline on real NYC data.</a:t>
            </a:r>
          </a:p>
        </p:txBody>
      </p:sp>
      <p:sp>
        <p:nvSpPr>
          <p:cNvPr id="4" name="Slide Number Placeholder 3"/>
          <p:cNvSpPr>
            <a:spLocks noGrp="1"/>
          </p:cNvSpPr>
          <p:nvPr>
            <p:ph type="sldNum" sz="quarter" idx="12"/>
          </p:nvPr>
        </p:nvSpPr>
        <p:spPr/>
        <p:txBody>
          <a:bodyPr/>
          <a:lstStyle/>
          <a:p>
            <a:fld id="{C02A2637-A5A3-49FA-B214-6E67543099EF}" type="slidenum">
              <a:rPr lang="en-US" smtClean="0"/>
              <a:t>4</a:t>
            </a:fld>
            <a:endParaRPr lang="en-US"/>
          </a:p>
        </p:txBody>
      </p:sp>
      <p:sp>
        <p:nvSpPr>
          <p:cNvPr id="5" name="TextBox 4"/>
          <p:cNvSpPr txBox="1"/>
          <p:nvPr/>
        </p:nvSpPr>
        <p:spPr>
          <a:xfrm>
            <a:off x="502920" y="5760720"/>
            <a:ext cx="11795760" cy="987552"/>
          </a:xfrm>
          <a:prstGeom prst="rect">
            <a:avLst/>
          </a:prstGeom>
          <a:noFill/>
        </p:spPr>
        <p:txBody>
          <a:bodyPr wrap="square" lIns="18288" rIns="18288" tIns="18288" bIns="18288" anchor="t"/>
          <a:lstStyle/>
          <a:p>
            <a:pPr algn="l" marL="0" indent="0">
              <a:spcAft>
                <a:spcPts val="100"/>
              </a:spcAft>
              <a:buNone/>
            </a:pPr>
            <a:r>
              <a:rPr sz="1100" b="0" i="0">
                <a:solidFill>
                  <a:srgbClr val="555F6B"/>
                </a:solidFill>
                <a:latin typeface="Arial"/>
                <a:cs typeface="Arial"/>
                <a:ea typeface="Arial"/>
              </a:rPr>
              <a:t>[1] Y. Li, R. Yu, C. Shahabi, and Y. Liu, “Diffusion convolutional recurrent neural network: Data-driven traffic forecasting,” in Proc. ICLR, 2018.</a:t>
            </a:r>
          </a:p>
          <a:p>
            <a:pPr algn="l" marL="0" indent="0">
              <a:spcAft>
                <a:spcPts val="100"/>
              </a:spcAft>
              <a:buNone/>
            </a:pPr>
            <a:r>
              <a:rPr sz="1100" b="0" i="0">
                <a:solidFill>
                  <a:srgbClr val="555F6B"/>
                </a:solidFill>
                <a:latin typeface="Arial"/>
                <a:cs typeface="Arial"/>
                <a:ea typeface="Arial"/>
              </a:rPr>
              <a:t>[2] B. Yu, H. Yin, and Z. Zhu, “Spatio-temporal graph convolutional networks: A deep learning framework for traffic forecasting,” in Proc. IJCAI, 2018, pp. 3634–3640.</a:t>
            </a:r>
          </a:p>
          <a:p>
            <a:pPr algn="l" marL="0" indent="0">
              <a:spcAft>
                <a:spcPts val="100"/>
              </a:spcAft>
              <a:buNone/>
            </a:pPr>
            <a:r>
              <a:rPr sz="1100" b="0" i="0">
                <a:solidFill>
                  <a:srgbClr val="555F6B"/>
                </a:solidFill>
                <a:latin typeface="Arial"/>
                <a:cs typeface="Arial"/>
                <a:ea typeface="Arial"/>
              </a:rPr>
              <a:t>[3] Z. Wu, S. Pan, G. Long, J. Jiang, and C. Zhang, “Graph WaveNet for deep spatial-temporal graph modeling,” in Proc. IJCAI, 2019, pp. 1907–1913.</a:t>
            </a:r>
          </a:p>
          <a:p>
            <a:pPr algn="l" marL="0" indent="0">
              <a:spcAft>
                <a:spcPts val="100"/>
              </a:spcAft>
              <a:buNone/>
            </a:pPr>
            <a:r>
              <a:rPr sz="1100" b="0" i="0">
                <a:solidFill>
                  <a:srgbClr val="555F6B"/>
                </a:solidFill>
                <a:latin typeface="Arial"/>
                <a:cs typeface="Arial"/>
                <a:ea typeface="Arial"/>
              </a:rPr>
              <a:t>[4] P. Lewis et al., “Retrieval-augmented generation for knowledge-intensive NLP tasks,” in Proc. NeurIPS, 2020.</a:t>
            </a:r>
          </a:p>
          <a:p>
            <a:pPr algn="l" marL="0" indent="0">
              <a:spcAft>
                <a:spcPts val="100"/>
              </a:spcAft>
              <a:buNone/>
            </a:pPr>
            <a:r>
              <a:rPr sz="1100" b="0" i="0">
                <a:solidFill>
                  <a:srgbClr val="555F6B"/>
                </a:solidFill>
                <a:latin typeface="Arial"/>
                <a:cs typeface="Arial"/>
                <a:ea typeface="Arial"/>
              </a:rPr>
              <a:t>[5] P. A. Lopez et al., “Microscopic traffic simulation using SUMO,” in Proc. IEEE ITSC, 2018, pp. 2575–2582.</a:t>
            </a:r>
          </a:p>
        </p:txBody>
      </p:sp>
    </p:spTree>
    <p:extLst>
      <p:ext uri="{BB962C8B-B14F-4D97-AF65-F5344CB8AC3E}">
        <p14:creationId xmlns:p14="http://schemas.microsoft.com/office/powerpoint/2010/main" val="29739748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801600" cy="1512146"/>
          </a:xfrm>
          <a:solidFill>
            <a:schemeClr val="tx2">
              <a:lumMod val="60000"/>
              <a:lumOff val="40000"/>
            </a:schemeClr>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3.LITERATURE SURVEY</a:t>
            </a:r>
          </a:p>
        </p:txBody>
      </p:sp>
      <p:graphicFrame>
        <p:nvGraphicFramePr>
          <p:cNvPr id="5" name="Content Placeholder 5"/>
          <p:cNvGraphicFramePr>
            <a:graphicFrameLocks/>
          </p:cNvGraphicFramePr>
          <p:nvPr>
            <p:extLst>
              <p:ext uri="{D42A27DB-BD31-4B8C-83A1-F6EECF244321}">
                <p14:modId xmlns:p14="http://schemas.microsoft.com/office/powerpoint/2010/main" val="3818914007"/>
              </p:ext>
            </p:extLst>
          </p:nvPr>
        </p:nvGraphicFramePr>
        <p:xfrm>
          <a:off x="685799" y="1664208"/>
          <a:ext cx="11475720" cy="4261104"/>
        </p:xfrm>
        <a:graphic>
          <a:graphicData uri="http://schemas.openxmlformats.org/drawingml/2006/table">
            <a:tbl>
              <a:tblPr firstRow="1" firstCol="1" bandRow="1">
                <a:tableStyleId>{BC89EF96-8CEA-46FF-86C4-4CE0E7609802}</a:tableStyleId>
              </a:tblPr>
              <a:tblGrid>
                <a:gridCol w="702131">
                  <a:extLst>
                    <a:ext uri="{9D8B030D-6E8A-4147-A177-3AD203B41FA5}">
                      <a16:colId xmlns:a16="http://schemas.microsoft.com/office/drawing/2014/main" val="20000"/>
                    </a:ext>
                  </a:extLst>
                </a:gridCol>
                <a:gridCol w="2543764">
                  <a:extLst>
                    <a:ext uri="{9D8B030D-6E8A-4147-A177-3AD203B41FA5}">
                      <a16:colId xmlns:a16="http://schemas.microsoft.com/office/drawing/2014/main" val="20001"/>
                    </a:ext>
                  </a:extLst>
                </a:gridCol>
                <a:gridCol w="2917847">
                  <a:extLst>
                    <a:ext uri="{9D8B030D-6E8A-4147-A177-3AD203B41FA5}">
                      <a16:colId xmlns:a16="http://schemas.microsoft.com/office/drawing/2014/main" val="20002"/>
                    </a:ext>
                  </a:extLst>
                </a:gridCol>
                <a:gridCol w="2843030">
                  <a:extLst>
                    <a:ext uri="{9D8B030D-6E8A-4147-A177-3AD203B41FA5}">
                      <a16:colId xmlns:a16="http://schemas.microsoft.com/office/drawing/2014/main" val="1023101934"/>
                    </a:ext>
                  </a:extLst>
                </a:gridCol>
                <a:gridCol w="2468948">
                  <a:extLst>
                    <a:ext uri="{9D8B030D-6E8A-4147-A177-3AD203B41FA5}">
                      <a16:colId xmlns:a16="http://schemas.microsoft.com/office/drawing/2014/main" val="548304626"/>
                    </a:ext>
                  </a:extLst>
                </a:gridCol>
              </a:tblGrid>
              <a:tr h="384048">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cs typeface="Arial" panose="020B0604020202020204" pitchFamily="34" charset="0"/>
                          <a:ea typeface="Arial"/>
                        </a:rPr>
                        <a:t>S.No</a:t>
                      </a:r>
                      <a:endParaRPr lang="en-US" sz="2000" dirty="0">
                        <a:effectLst/>
                        <a:latin typeface="Arial" panose="020B0604020202020204" pitchFamily="34" charset="0"/>
                        <a:ea typeface="Calibri"/>
                        <a:cs typeface="Arial" panose="020B0604020202020204" pitchFamily="34" charset="0"/>
                      </a:endParaRPr>
                    </a:p>
                  </a:txBody>
                  <a:tcPr marL="67838" marR="67838" marT="0" marB="0"/>
                </a:tc>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cs typeface="Arial" panose="020B0604020202020204" pitchFamily="34" charset="0"/>
                          <a:ea typeface="Arial"/>
                        </a:rPr>
                        <a:t>Article  Title </a:t>
                      </a:r>
                      <a:endParaRPr lang="en-US" sz="2000" dirty="0">
                        <a:effectLst/>
                        <a:latin typeface="Arial" panose="020B0604020202020204" pitchFamily="34" charset="0"/>
                        <a:ea typeface="Calibri"/>
                        <a:cs typeface="Arial" panose="020B0604020202020204" pitchFamily="34" charset="0"/>
                      </a:endParaRPr>
                    </a:p>
                  </a:txBody>
                  <a:tcPr marL="67838" marR="67838" marT="0" marB="0"/>
                </a:tc>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ea typeface="Arial"/>
                          <a:cs typeface="Arial" panose="020B0604020202020204" pitchFamily="34" charset="0"/>
                        </a:rPr>
                        <a:t>Techniques Used</a:t>
                      </a:r>
                    </a:p>
                  </a:txBody>
                  <a:tcPr marL="67838" marR="67838" marT="0" marB="0"/>
                </a:tc>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ea typeface="Arial"/>
                          <a:cs typeface="Arial" panose="020B0604020202020204" pitchFamily="34" charset="0"/>
                        </a:rPr>
                        <a:t>Key Findings</a:t>
                      </a:r>
                    </a:p>
                  </a:txBody>
                  <a:tcPr marL="67838" marR="67838" marT="0" marB="0"/>
                </a:tc>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ea typeface="Arial"/>
                          <a:cs typeface="Arial" panose="020B0604020202020204" pitchFamily="34" charset="0"/>
                        </a:rPr>
                        <a:t>Limitations</a:t>
                      </a:r>
                    </a:p>
                  </a:txBody>
                  <a:tcPr marL="67838" marR="67838" marT="0" marB="0"/>
                </a:tc>
                <a:extLst>
                  <a:ext uri="{0D108BD9-81ED-4DB2-BD59-A6C34878D82A}">
                    <a16:rowId xmlns:a16="http://schemas.microsoft.com/office/drawing/2014/main" val="10000"/>
                  </a:ext>
                </a:extLst>
              </a:tr>
              <a:tr h="969264">
                <a:tc>
                  <a:txBody>
                    <a:bodyPr wrap="square"/>
                    <a:lstStyle/>
                    <a:p>
                      <a:pPr marL="0" marR="0" algn="ctr" indent="0">
                        <a:lnSpc>
                          <a:spcPct val="115000"/>
                        </a:lnSpc>
                        <a:spcBef>
                          <a:spcPts val="0"/>
                        </a:spcBef>
                        <a:spcAft>
                          <a:spcPts val="0"/>
                        </a:spcAft>
                        <a:buNone/>
                      </a:pPr>
                      <a:r>
                        <a:rPr sz="1200" b="0" i="0">
                          <a:solidFill>
                            <a:srgbClr val="1A1A1A"/>
                          </a:solidFill>
                          <a:latin typeface="Arial"/>
                          <a:cs typeface="Arial"/>
                          <a:ea typeface="Arial"/>
                        </a:rPr>
                        <a:t>1</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[1] Li et al., Diffusion Convolutional Recurrent Neural Network (ICLR 2018)</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Diffusion convolution on a directed road graph inside a GRU encoder–decoder (seq2seq)</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Modelling traffic as diffusion on the directed graph improved multi-step speed forecasts over non-graph baselines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Fixed, predefined graph; point forecasts only; no exogenous context or uncertainty</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extLst>
                  <a:ext uri="{0D108BD9-81ED-4DB2-BD59-A6C34878D82A}">
                    <a16:rowId xmlns:a16="http://schemas.microsoft.com/office/drawing/2014/main" val="10001"/>
                  </a:ext>
                </a:extLst>
              </a:tr>
              <a:tr h="969264">
                <a:tc>
                  <a:txBody>
                    <a:bodyPr wrap="square"/>
                    <a:lstStyle/>
                    <a:p>
                      <a:pPr marL="0" marR="0" algn="ctr" indent="0">
                        <a:lnSpc>
                          <a:spcPct val="115000"/>
                        </a:lnSpc>
                        <a:spcBef>
                          <a:spcPts val="0"/>
                        </a:spcBef>
                        <a:spcAft>
                          <a:spcPts val="0"/>
                        </a:spcAft>
                        <a:buNone/>
                      </a:pPr>
                      <a:r>
                        <a:rPr sz="1200" b="0" i="0">
                          <a:solidFill>
                            <a:srgbClr val="1A1A1A"/>
                          </a:solidFill>
                          <a:latin typeface="Arial"/>
                          <a:cs typeface="Arial"/>
                          <a:ea typeface="Arial"/>
                        </a:rPr>
                        <a:t>2</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[2] Yu et al., Spatio-Temporal Graph Convolutional Networks (IJCAI 2018)</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Graph convolution combined with gated temporal convolution; fully convolutional, no recurrence</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Accurate short-term forecasts with faster training and fewer parameters than recurrent models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Static graph; point forecasts; no weather or event context</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extLst>
                  <a:ext uri="{0D108BD9-81ED-4DB2-BD59-A6C34878D82A}">
                    <a16:rowId xmlns:a16="http://schemas.microsoft.com/office/drawing/2014/main" val="10002"/>
                  </a:ext>
                </a:extLst>
              </a:tr>
              <a:tr h="969264">
                <a:tc>
                  <a:txBody>
                    <a:bodyPr wrap="square"/>
                    <a:lstStyle/>
                    <a:p>
                      <a:pPr marL="0" marR="0" algn="ctr" indent="0">
                        <a:lnSpc>
                          <a:spcPct val="115000"/>
                        </a:lnSpc>
                        <a:spcBef>
                          <a:spcPts val="0"/>
                        </a:spcBef>
                        <a:spcAft>
                          <a:spcPts val="0"/>
                        </a:spcAft>
                        <a:buNone/>
                      </a:pPr>
                      <a:r>
                        <a:rPr sz="1200" b="0" i="0">
                          <a:solidFill>
                            <a:srgbClr val="1A1A1A"/>
                          </a:solidFill>
                          <a:latin typeface="Arial"/>
                          <a:cs typeface="Arial"/>
                          <a:ea typeface="Arial"/>
                        </a:rPr>
                        <a:t>3</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indent="0" algn="l" defTabSz="914400" rtl="0" eaLnBrk="1" fontAlgn="auto" latinLnBrk="0" hangingPunct="1">
                        <a:lnSpc>
                          <a:spcPct val="115000"/>
                        </a:lnSpc>
                        <a:spcBef>
                          <a:spcPts val="0"/>
                        </a:spcBef>
                        <a:spcAft>
                          <a:spcPts val="0"/>
                        </a:spcAft>
                        <a:buClrTx/>
                        <a:buSzTx/>
                        <a:buFontTx/>
                        <a:tabLst/>
                        <a:defRPr/>
                        <a:buNone/>
                      </a:pPr>
                      <a:r>
                        <a:rPr sz="1200" b="0" i="0">
                          <a:solidFill>
                            <a:srgbClr val="1A1A1A"/>
                          </a:solidFill>
                          <a:latin typeface="Arial"/>
                          <a:cs typeface="Arial"/>
                          <a:ea typeface="Arial"/>
                        </a:rPr>
                        <a:t>[3] Wu et al., Graph WaveNet (IJCAI 2019)</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Self-adaptive adjacency matrix learned from data plus dilated causal convolutions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Captures hidden spatial dependencies even when the given graph is incomplete; long receptive field</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Learned graph is hard to interpret; no uncertainty estimates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extLst>
                  <a:ext uri="{0D108BD9-81ED-4DB2-BD59-A6C34878D82A}">
                    <a16:rowId xmlns:a16="http://schemas.microsoft.com/office/drawing/2014/main" val="10003"/>
                  </a:ext>
                </a:extLst>
              </a:tr>
              <a:tr h="969264">
                <a:tc>
                  <a:txBody>
                    <a:bodyPr wrap="square"/>
                    <a:lstStyle/>
                    <a:p>
                      <a:pPr marL="0" marR="0" algn="ctr" indent="0">
                        <a:lnSpc>
                          <a:spcPct val="115000"/>
                        </a:lnSpc>
                        <a:spcBef>
                          <a:spcPts val="0"/>
                        </a:spcBef>
                        <a:spcAft>
                          <a:spcPts val="0"/>
                        </a:spcAft>
                        <a:buNone/>
                      </a:pPr>
                      <a:r>
                        <a:rPr sz="1200" b="0" i="0">
                          <a:solidFill>
                            <a:srgbClr val="1A1A1A"/>
                          </a:solidFill>
                          <a:latin typeface="Arial"/>
                          <a:cs typeface="Arial"/>
                          <a:ea typeface="Arial"/>
                        </a:rPr>
                        <a:t>4</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indent="0" algn="l" defTabSz="914400" rtl="0" eaLnBrk="1" fontAlgn="auto" latinLnBrk="0" hangingPunct="1">
                        <a:lnSpc>
                          <a:spcPct val="115000"/>
                        </a:lnSpc>
                        <a:spcBef>
                          <a:spcPts val="0"/>
                        </a:spcBef>
                        <a:spcAft>
                          <a:spcPts val="0"/>
                        </a:spcAft>
                        <a:buClrTx/>
                        <a:buSzTx/>
                        <a:buFontTx/>
                        <a:tabLst/>
                        <a:defRPr/>
                        <a:buNone/>
                      </a:pPr>
                      <a:r>
                        <a:rPr sz="1200" b="0" i="0">
                          <a:solidFill>
                            <a:srgbClr val="1A1A1A"/>
                          </a:solidFill>
                          <a:latin typeface="Arial"/>
                          <a:cs typeface="Arial"/>
                          <a:ea typeface="Arial"/>
                        </a:rPr>
                        <a:t>[6] Brody et al., How Attentive are Graph Attention Networks? (ICLR 2022)</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GATv2: reorders the attention computation so that attention becomes dynamic</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Shows that GAT attention is static; GATv2 is strictly more expressive and performs better on benchmarks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General-purpose graph layer; no temporal modelling</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extLst>
                  <a:ext uri="{0D108BD9-81ED-4DB2-BD59-A6C34878D82A}">
                    <a16:rowId xmlns:a16="http://schemas.microsoft.com/office/drawing/2014/main" val="10004"/>
                  </a:ext>
                </a:extLst>
              </a:tr>
            </a:tbl>
          </a:graphicData>
        </a:graphic>
      </p:graphicFrame>
      <p:sp>
        <p:nvSpPr>
          <p:cNvPr id="4" name="Slide Number Placeholder 3"/>
          <p:cNvSpPr>
            <a:spLocks noGrp="1"/>
          </p:cNvSpPr>
          <p:nvPr>
            <p:ph type="sldNum" sz="quarter" idx="12"/>
          </p:nvPr>
        </p:nvSpPr>
        <p:spPr/>
        <p:txBody>
          <a:bodyPr/>
          <a:lstStyle/>
          <a:p>
            <a:fld id="{C02A2637-A5A3-49FA-B214-6E67543099EF}" type="slidenum">
              <a:rPr lang="en-US" smtClean="0"/>
              <a:t>5</a:t>
            </a:fld>
            <a:endParaRPr lang="en-US"/>
          </a:p>
        </p:txBody>
      </p:sp>
      <p:sp>
        <p:nvSpPr>
          <p:cNvPr id="6" name="TextBox 5"/>
          <p:cNvSpPr txBox="1"/>
          <p:nvPr/>
        </p:nvSpPr>
        <p:spPr>
          <a:xfrm>
            <a:off x="502920" y="6053328"/>
            <a:ext cx="11795760" cy="694943"/>
          </a:xfrm>
          <a:prstGeom prst="rect">
            <a:avLst/>
          </a:prstGeom>
          <a:noFill/>
        </p:spPr>
        <p:txBody>
          <a:bodyPr wrap="square" lIns="18288" rIns="18288" tIns="18288" bIns="18288" anchor="t"/>
          <a:lstStyle/>
          <a:p>
            <a:pPr algn="l" marL="0" indent="0">
              <a:spcAft>
                <a:spcPts val="100"/>
              </a:spcAft>
              <a:buNone/>
            </a:pPr>
            <a:r>
              <a:rPr sz="1050" b="0" i="0">
                <a:solidFill>
                  <a:srgbClr val="555F6B"/>
                </a:solidFill>
                <a:latin typeface="Arial"/>
                <a:cs typeface="Arial"/>
                <a:ea typeface="Arial"/>
              </a:rPr>
              <a:t>[1] Y. Li, R. Yu, C. Shahabi, and Y. Liu, “Diffusion convolutional recurrent neural network: Data-driven traffic forecasting,” in Proc. ICLR, 2018.</a:t>
            </a:r>
          </a:p>
          <a:p>
            <a:pPr algn="l" marL="0" indent="0">
              <a:spcAft>
                <a:spcPts val="100"/>
              </a:spcAft>
              <a:buNone/>
            </a:pPr>
            <a:r>
              <a:rPr sz="1050" b="0" i="0">
                <a:solidFill>
                  <a:srgbClr val="555F6B"/>
                </a:solidFill>
                <a:latin typeface="Arial"/>
                <a:cs typeface="Arial"/>
                <a:ea typeface="Arial"/>
              </a:rPr>
              <a:t>[2] B. Yu, H. Yin, and Z. Zhu, “Spatio-temporal graph convolutional networks: A deep learning framework for traffic forecasting,” in Proc. IJCAI, 2018, pp. 3634–3640.</a:t>
            </a:r>
          </a:p>
          <a:p>
            <a:pPr algn="l" marL="0" indent="0">
              <a:spcAft>
                <a:spcPts val="100"/>
              </a:spcAft>
              <a:buNone/>
            </a:pPr>
            <a:r>
              <a:rPr sz="1050" b="0" i="0">
                <a:solidFill>
                  <a:srgbClr val="555F6B"/>
                </a:solidFill>
                <a:latin typeface="Arial"/>
                <a:cs typeface="Arial"/>
                <a:ea typeface="Arial"/>
              </a:rPr>
              <a:t>[3] Z. Wu, S. Pan, G. Long, J. Jiang, and C. Zhang, “Graph WaveNet for deep spatial-temporal graph modeling,” in Proc. IJCAI, 2019, pp. 1907–1913.</a:t>
            </a:r>
          </a:p>
          <a:p>
            <a:pPr algn="l" marL="0" indent="0">
              <a:spcAft>
                <a:spcPts val="100"/>
              </a:spcAft>
              <a:buNone/>
            </a:pPr>
            <a:r>
              <a:rPr sz="1050" b="0" i="0">
                <a:solidFill>
                  <a:srgbClr val="555F6B"/>
                </a:solidFill>
                <a:latin typeface="Arial"/>
                <a:cs typeface="Arial"/>
                <a:ea typeface="Arial"/>
              </a:rPr>
              <a:t>[6] S. Brody, U. Alon, and E. Yahav, “How attentive are graph attention networks?,” in Proc. ICLR, 2022.</a:t>
            </a:r>
          </a:p>
        </p:txBody>
      </p:sp>
    </p:spTree>
    <p:extLst>
      <p:ext uri="{BB962C8B-B14F-4D97-AF65-F5344CB8AC3E}">
        <p14:creationId xmlns:p14="http://schemas.microsoft.com/office/powerpoint/2010/main" val="30954781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801600" cy="1512146"/>
          </a:xfrm>
          <a:solidFill>
            <a:schemeClr val="tx2">
              <a:lumMod val="60000"/>
              <a:lumOff val="40000"/>
            </a:schemeClr>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3.LITERATURE SURVEY (CONTD.)</a:t>
            </a:r>
          </a:p>
        </p:txBody>
      </p:sp>
      <p:graphicFrame>
        <p:nvGraphicFramePr>
          <p:cNvPr id="5" name="Content Placeholder 5"/>
          <p:cNvGraphicFramePr>
            <a:graphicFrameLocks/>
          </p:cNvGraphicFramePr>
          <p:nvPr>
            <p:extLst>
              <p:ext uri="{D42A27DB-BD31-4B8C-83A1-F6EECF244321}">
                <p14:modId xmlns:p14="http://schemas.microsoft.com/office/powerpoint/2010/main" val="3818914007"/>
              </p:ext>
            </p:extLst>
          </p:nvPr>
        </p:nvGraphicFramePr>
        <p:xfrm>
          <a:off x="685799" y="1664208"/>
          <a:ext cx="11475720" cy="4261104"/>
        </p:xfrm>
        <a:graphic>
          <a:graphicData uri="http://schemas.openxmlformats.org/drawingml/2006/table">
            <a:tbl>
              <a:tblPr firstRow="1" firstCol="1" bandRow="1">
                <a:tableStyleId>{BC89EF96-8CEA-46FF-86C4-4CE0E7609802}</a:tableStyleId>
              </a:tblPr>
              <a:tblGrid>
                <a:gridCol w="702131">
                  <a:extLst>
                    <a:ext uri="{9D8B030D-6E8A-4147-A177-3AD203B41FA5}">
                      <a16:colId xmlns:a16="http://schemas.microsoft.com/office/drawing/2014/main" val="20000"/>
                    </a:ext>
                  </a:extLst>
                </a:gridCol>
                <a:gridCol w="2543764">
                  <a:extLst>
                    <a:ext uri="{9D8B030D-6E8A-4147-A177-3AD203B41FA5}">
                      <a16:colId xmlns:a16="http://schemas.microsoft.com/office/drawing/2014/main" val="20001"/>
                    </a:ext>
                  </a:extLst>
                </a:gridCol>
                <a:gridCol w="2917847">
                  <a:extLst>
                    <a:ext uri="{9D8B030D-6E8A-4147-A177-3AD203B41FA5}">
                      <a16:colId xmlns:a16="http://schemas.microsoft.com/office/drawing/2014/main" val="20002"/>
                    </a:ext>
                  </a:extLst>
                </a:gridCol>
                <a:gridCol w="2843030">
                  <a:extLst>
                    <a:ext uri="{9D8B030D-6E8A-4147-A177-3AD203B41FA5}">
                      <a16:colId xmlns:a16="http://schemas.microsoft.com/office/drawing/2014/main" val="1023101934"/>
                    </a:ext>
                  </a:extLst>
                </a:gridCol>
                <a:gridCol w="2468948">
                  <a:extLst>
                    <a:ext uri="{9D8B030D-6E8A-4147-A177-3AD203B41FA5}">
                      <a16:colId xmlns:a16="http://schemas.microsoft.com/office/drawing/2014/main" val="548304626"/>
                    </a:ext>
                  </a:extLst>
                </a:gridCol>
              </a:tblGrid>
              <a:tr h="384048">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cs typeface="Arial" panose="020B0604020202020204" pitchFamily="34" charset="0"/>
                          <a:ea typeface="Arial"/>
                        </a:rPr>
                        <a:t>S.No</a:t>
                      </a:r>
                      <a:endParaRPr lang="en-US" sz="2000" dirty="0">
                        <a:effectLst/>
                        <a:latin typeface="Arial" panose="020B0604020202020204" pitchFamily="34" charset="0"/>
                        <a:ea typeface="Calibri"/>
                        <a:cs typeface="Arial" panose="020B0604020202020204" pitchFamily="34" charset="0"/>
                      </a:endParaRPr>
                    </a:p>
                  </a:txBody>
                  <a:tcPr marL="67838" marR="67838" marT="0" marB="0"/>
                </a:tc>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cs typeface="Arial" panose="020B0604020202020204" pitchFamily="34" charset="0"/>
                          <a:ea typeface="Arial"/>
                        </a:rPr>
                        <a:t>Article  Title </a:t>
                      </a:r>
                      <a:endParaRPr lang="en-US" sz="2000" dirty="0">
                        <a:effectLst/>
                        <a:latin typeface="Arial" panose="020B0604020202020204" pitchFamily="34" charset="0"/>
                        <a:ea typeface="Calibri"/>
                        <a:cs typeface="Arial" panose="020B0604020202020204" pitchFamily="34" charset="0"/>
                      </a:endParaRPr>
                    </a:p>
                  </a:txBody>
                  <a:tcPr marL="67838" marR="67838" marT="0" marB="0"/>
                </a:tc>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ea typeface="Arial"/>
                          <a:cs typeface="Arial" panose="020B0604020202020204" pitchFamily="34" charset="0"/>
                        </a:rPr>
                        <a:t>Techniques Used</a:t>
                      </a:r>
                    </a:p>
                  </a:txBody>
                  <a:tcPr marL="67838" marR="67838" marT="0" marB="0"/>
                </a:tc>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ea typeface="Arial"/>
                          <a:cs typeface="Arial" panose="020B0604020202020204" pitchFamily="34" charset="0"/>
                        </a:rPr>
                        <a:t>Key Findings</a:t>
                      </a:r>
                    </a:p>
                  </a:txBody>
                  <a:tcPr marL="67838" marR="67838" marT="0" marB="0"/>
                </a:tc>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ea typeface="Arial"/>
                          <a:cs typeface="Arial" panose="020B0604020202020204" pitchFamily="34" charset="0"/>
                        </a:rPr>
                        <a:t>Limitations</a:t>
                      </a:r>
                    </a:p>
                  </a:txBody>
                  <a:tcPr marL="67838" marR="67838" marT="0" marB="0"/>
                </a:tc>
                <a:extLst>
                  <a:ext uri="{0D108BD9-81ED-4DB2-BD59-A6C34878D82A}">
                    <a16:rowId xmlns:a16="http://schemas.microsoft.com/office/drawing/2014/main" val="10000"/>
                  </a:ext>
                </a:extLst>
              </a:tr>
              <a:tr h="969264">
                <a:tc>
                  <a:txBody>
                    <a:bodyPr wrap="square"/>
                    <a:lstStyle/>
                    <a:p>
                      <a:pPr marL="0" marR="0" algn="ctr" indent="0">
                        <a:lnSpc>
                          <a:spcPct val="115000"/>
                        </a:lnSpc>
                        <a:spcBef>
                          <a:spcPts val="0"/>
                        </a:spcBef>
                        <a:spcAft>
                          <a:spcPts val="0"/>
                        </a:spcAft>
                        <a:buNone/>
                      </a:pPr>
                      <a:r>
                        <a:rPr sz="1200" b="0" i="0">
                          <a:solidFill>
                            <a:srgbClr val="1A1A1A"/>
                          </a:solidFill>
                          <a:latin typeface="Arial"/>
                          <a:cs typeface="Arial"/>
                          <a:ea typeface="Arial"/>
                        </a:rPr>
                        <a:t>5</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[7] Angelopoulos &amp; Bates, A Gentle Introduction to Conformal Prediction (2021)</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Split conformal prediction wrapped around any trained model</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Distribution-free, finite-sample marginal coverage guarantee</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Assumes exchangeable data; guarantees marginal, not conditional, coverage</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extLst>
                  <a:ext uri="{0D108BD9-81ED-4DB2-BD59-A6C34878D82A}">
                    <a16:rowId xmlns:a16="http://schemas.microsoft.com/office/drawing/2014/main" val="10001"/>
                  </a:ext>
                </a:extLst>
              </a:tr>
              <a:tr h="969264">
                <a:tc>
                  <a:txBody>
                    <a:bodyPr wrap="square"/>
                    <a:lstStyle/>
                    <a:p>
                      <a:pPr marL="0" marR="0" algn="ctr" indent="0">
                        <a:lnSpc>
                          <a:spcPct val="115000"/>
                        </a:lnSpc>
                        <a:spcBef>
                          <a:spcPts val="0"/>
                        </a:spcBef>
                        <a:spcAft>
                          <a:spcPts val="0"/>
                        </a:spcAft>
                        <a:buNone/>
                      </a:pPr>
                      <a:r>
                        <a:rPr sz="1200" b="0" i="0">
                          <a:solidFill>
                            <a:srgbClr val="1A1A1A"/>
                          </a:solidFill>
                          <a:latin typeface="Arial"/>
                          <a:cs typeface="Arial"/>
                          <a:ea typeface="Arial"/>
                        </a:rPr>
                        <a:t>6</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[8] Xu &amp; Xie, Conformal Prediction Interval for Dynamic Time-Series (ICML 2021)</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EnbPI: bootstrap ensemble with conformal-style intervals for time series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Approximately valid intervals without exchangeability, under stated assumptions on the errors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Requires an ensemble of models; validity is approximate</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extLst>
                  <a:ext uri="{0D108BD9-81ED-4DB2-BD59-A6C34878D82A}">
                    <a16:rowId xmlns:a16="http://schemas.microsoft.com/office/drawing/2014/main" val="10002"/>
                  </a:ext>
                </a:extLst>
              </a:tr>
              <a:tr h="969264">
                <a:tc>
                  <a:txBody>
                    <a:bodyPr wrap="square"/>
                    <a:lstStyle/>
                    <a:p>
                      <a:pPr marL="0" marR="0" algn="ctr" indent="0">
                        <a:lnSpc>
                          <a:spcPct val="115000"/>
                        </a:lnSpc>
                        <a:spcBef>
                          <a:spcPts val="0"/>
                        </a:spcBef>
                        <a:spcAft>
                          <a:spcPts val="0"/>
                        </a:spcAft>
                        <a:buNone/>
                      </a:pPr>
                      <a:r>
                        <a:rPr sz="1200" b="0" i="0">
                          <a:solidFill>
                            <a:srgbClr val="1A1A1A"/>
                          </a:solidFill>
                          <a:latin typeface="Arial"/>
                          <a:cs typeface="Arial"/>
                          <a:ea typeface="Arial"/>
                        </a:rPr>
                        <a:t>7</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indent="0" algn="l" defTabSz="914400" rtl="0" eaLnBrk="1" fontAlgn="auto" latinLnBrk="0" hangingPunct="1">
                        <a:lnSpc>
                          <a:spcPct val="115000"/>
                        </a:lnSpc>
                        <a:spcBef>
                          <a:spcPts val="0"/>
                        </a:spcBef>
                        <a:spcAft>
                          <a:spcPts val="0"/>
                        </a:spcAft>
                        <a:buClrTx/>
                        <a:buSzTx/>
                        <a:buFontTx/>
                        <a:tabLst/>
                        <a:defRPr/>
                        <a:buNone/>
                      </a:pPr>
                      <a:r>
                        <a:rPr sz="1200" b="0" i="0">
                          <a:solidFill>
                            <a:srgbClr val="1A1A1A"/>
                          </a:solidFill>
                          <a:latin typeface="Arial"/>
                          <a:cs typeface="Arial"/>
                          <a:ea typeface="Arial"/>
                        </a:rPr>
                        <a:t>[9] Lundberg &amp; Lee, A Unified Approach to Interpreting Model Predictions (NeurIPS 2017)</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SHAP: Shapley-value feature attribution (KernelSHAP and model-specific variants)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Unifies additive attribution methods with consistency guarantees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Cost grows with the number of features; attributions describe the model, not causes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extLst>
                  <a:ext uri="{0D108BD9-81ED-4DB2-BD59-A6C34878D82A}">
                    <a16:rowId xmlns:a16="http://schemas.microsoft.com/office/drawing/2014/main" val="10003"/>
                  </a:ext>
                </a:extLst>
              </a:tr>
              <a:tr h="969264">
                <a:tc>
                  <a:txBody>
                    <a:bodyPr wrap="square"/>
                    <a:lstStyle/>
                    <a:p>
                      <a:pPr marL="0" marR="0" algn="ctr" indent="0">
                        <a:lnSpc>
                          <a:spcPct val="115000"/>
                        </a:lnSpc>
                        <a:spcBef>
                          <a:spcPts val="0"/>
                        </a:spcBef>
                        <a:spcAft>
                          <a:spcPts val="0"/>
                        </a:spcAft>
                        <a:buNone/>
                      </a:pPr>
                      <a:r>
                        <a:rPr sz="1200" b="0" i="0">
                          <a:solidFill>
                            <a:srgbClr val="1A1A1A"/>
                          </a:solidFill>
                          <a:latin typeface="Arial"/>
                          <a:cs typeface="Arial"/>
                          <a:ea typeface="Arial"/>
                        </a:rPr>
                        <a:t>8</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indent="0" algn="l" defTabSz="914400" rtl="0" eaLnBrk="1" fontAlgn="auto" latinLnBrk="0" hangingPunct="1">
                        <a:lnSpc>
                          <a:spcPct val="115000"/>
                        </a:lnSpc>
                        <a:spcBef>
                          <a:spcPts val="0"/>
                        </a:spcBef>
                        <a:spcAft>
                          <a:spcPts val="0"/>
                        </a:spcAft>
                        <a:buClrTx/>
                        <a:buSzTx/>
                        <a:buFontTx/>
                        <a:tabLst/>
                        <a:defRPr/>
                        <a:buNone/>
                      </a:pPr>
                      <a:r>
                        <a:rPr sz="1200" b="0" i="0">
                          <a:solidFill>
                            <a:srgbClr val="1A1A1A"/>
                          </a:solidFill>
                          <a:latin typeface="Arial"/>
                          <a:cs typeface="Arial"/>
                          <a:ea typeface="Arial"/>
                        </a:rPr>
                        <a:t>[4] Lewis et al., Retrieval-Augmented Generation (NeurIPS 2020)</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Dense passage retriever combined with a seq2seq generator</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More specific and factual generation on knowledge-intensive tasks than a parametric-only model</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Bounded by corpus and retriever quality; can still produce unsupported text</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extLst>
                  <a:ext uri="{0D108BD9-81ED-4DB2-BD59-A6C34878D82A}">
                    <a16:rowId xmlns:a16="http://schemas.microsoft.com/office/drawing/2014/main" val="10004"/>
                  </a:ext>
                </a:extLst>
              </a:tr>
            </a:tbl>
          </a:graphicData>
        </a:graphic>
      </p:graphicFrame>
      <p:sp>
        <p:nvSpPr>
          <p:cNvPr id="4" name="Slide Number Placeholder 3"/>
          <p:cNvSpPr>
            <a:spLocks noGrp="1"/>
          </p:cNvSpPr>
          <p:nvPr>
            <p:ph type="sldNum" sz="quarter" idx="12"/>
          </p:nvPr>
        </p:nvSpPr>
        <p:spPr/>
        <p:txBody>
          <a:bodyPr/>
          <a:lstStyle/>
          <a:p>
            <a:fld id="{C02A2637-A5A3-49FA-B214-6E67543099EF}" type="slidenum">
              <a:rPr lang="en-US" smtClean="0"/>
              <a:t>6</a:t>
            </a:fld>
            <a:endParaRPr lang="en-US"/>
          </a:p>
        </p:txBody>
      </p:sp>
      <p:sp>
        <p:nvSpPr>
          <p:cNvPr id="6" name="TextBox 5"/>
          <p:cNvSpPr txBox="1"/>
          <p:nvPr/>
        </p:nvSpPr>
        <p:spPr>
          <a:xfrm>
            <a:off x="502920" y="6053328"/>
            <a:ext cx="11795760" cy="694943"/>
          </a:xfrm>
          <a:prstGeom prst="rect">
            <a:avLst/>
          </a:prstGeom>
          <a:noFill/>
        </p:spPr>
        <p:txBody>
          <a:bodyPr wrap="square" lIns="18288" rIns="18288" tIns="18288" bIns="18288" anchor="t"/>
          <a:lstStyle/>
          <a:p>
            <a:pPr algn="l" marL="0" indent="0">
              <a:spcAft>
                <a:spcPts val="100"/>
              </a:spcAft>
              <a:buNone/>
            </a:pPr>
            <a:r>
              <a:rPr sz="1050" b="0" i="0">
                <a:solidFill>
                  <a:srgbClr val="555F6B"/>
                </a:solidFill>
                <a:latin typeface="Arial"/>
                <a:cs typeface="Arial"/>
                <a:ea typeface="Arial"/>
              </a:rPr>
              <a:t>[4] P. Lewis et al., “Retrieval-augmented generation for knowledge-intensive NLP tasks,” in Proc. NeurIPS, 2020.</a:t>
            </a:r>
          </a:p>
          <a:p>
            <a:pPr algn="l" marL="0" indent="0">
              <a:spcAft>
                <a:spcPts val="100"/>
              </a:spcAft>
              <a:buNone/>
            </a:pPr>
            <a:r>
              <a:rPr sz="1050" b="0" i="0">
                <a:solidFill>
                  <a:srgbClr val="555F6B"/>
                </a:solidFill>
                <a:latin typeface="Arial"/>
                <a:cs typeface="Arial"/>
                <a:ea typeface="Arial"/>
              </a:rPr>
              <a:t>[7] A. N. Angelopoulos and S. Bates, “A gentle introduction to conformal prediction and distribution-free uncertainty quantification,” arXiv:2107.07511, 2021.</a:t>
            </a:r>
          </a:p>
          <a:p>
            <a:pPr algn="l" marL="0" indent="0">
              <a:spcAft>
                <a:spcPts val="100"/>
              </a:spcAft>
              <a:buNone/>
            </a:pPr>
            <a:r>
              <a:rPr sz="1050" b="0" i="0">
                <a:solidFill>
                  <a:srgbClr val="555F6B"/>
                </a:solidFill>
                <a:latin typeface="Arial"/>
                <a:cs typeface="Arial"/>
                <a:ea typeface="Arial"/>
              </a:rPr>
              <a:t>[8] C. Xu and Y. Xie, “Conformal prediction interval for dynamic time-series,” in Proc. ICML, PMLR vol. 139, 2021, pp. 11559–11569.</a:t>
            </a:r>
          </a:p>
          <a:p>
            <a:pPr algn="l" marL="0" indent="0">
              <a:spcAft>
                <a:spcPts val="100"/>
              </a:spcAft>
              <a:buNone/>
            </a:pPr>
            <a:r>
              <a:rPr sz="1050" b="0" i="0">
                <a:solidFill>
                  <a:srgbClr val="555F6B"/>
                </a:solidFill>
                <a:latin typeface="Arial"/>
                <a:cs typeface="Arial"/>
                <a:ea typeface="Arial"/>
              </a:rPr>
              <a:t>[9] S. M. Lundberg and S.-I. Lee, “A unified approach to interpreting model predictions,” in Proc. NeurIPS, 2017.</a:t>
            </a:r>
          </a:p>
        </p:txBody>
      </p:sp>
    </p:spTree>
    <p:extLst>
      <p:ext uri="{BB962C8B-B14F-4D97-AF65-F5344CB8AC3E}">
        <p14:creationId xmlns:p14="http://schemas.microsoft.com/office/powerpoint/2010/main" val="30954781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24EBC-07D1-5582-ECAD-FB015F64BD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93089C-2484-51E9-0A89-B13831434514}"/>
              </a:ext>
            </a:extLst>
          </p:cNvPr>
          <p:cNvSpPr>
            <a:spLocks noGrp="1"/>
          </p:cNvSpPr>
          <p:nvPr>
            <p:ph type="title"/>
          </p:nvPr>
        </p:nvSpPr>
        <p:spPr>
          <a:xfrm>
            <a:off x="0" y="0"/>
            <a:ext cx="12801600" cy="1512146"/>
          </a:xfrm>
          <a:solidFill>
            <a:schemeClr val="tx2">
              <a:lumMod val="60000"/>
              <a:lumOff val="40000"/>
            </a:schemeClr>
          </a:solidFill>
        </p:spPr>
        <p:txBody>
          <a:bodyPr vert="horz" lIns="114945" tIns="57473" rIns="114945" bIns="57473" rtlCol="0" anchor="ctr">
            <a:normAutofit/>
          </a:bodyPr>
          <a:lstStyle/>
          <a:p>
            <a:r>
              <a:rPr lang="en-US" sz="3600" b="1" dirty="0">
                <a:solidFill>
                  <a:schemeClr val="bg1"/>
                </a:solidFill>
                <a:latin typeface="Arial" panose="020B0604020202020204" pitchFamily="34" charset="0"/>
                <a:cs typeface="Arial" panose="020B0604020202020204" pitchFamily="34" charset="0"/>
              </a:rPr>
              <a:t>4. RESEARCH GAPS</a:t>
            </a:r>
            <a:endParaRPr lang="en-GB" sz="3600" b="1" dirty="0">
              <a:solidFill>
                <a:schemeClr val="bg1"/>
              </a:solidFill>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A9E1DF2F-2EFC-F28C-9A44-F9337C42CAAA}"/>
              </a:ext>
            </a:extLst>
          </p:cNvPr>
          <p:cNvSpPr>
            <a:spLocks noGrp="1"/>
          </p:cNvSpPr>
          <p:nvPr>
            <p:ph type="sldNum" sz="quarter" idx="12"/>
          </p:nvPr>
        </p:nvSpPr>
        <p:spPr/>
        <p:txBody>
          <a:bodyPr/>
          <a:lstStyle/>
          <a:p>
            <a:fld id="{C02A2637-A5A3-49FA-B214-6E67543099EF}" type="slidenum">
              <a:rPr lang="en-US" smtClean="0"/>
              <a:t>7</a:t>
            </a:fld>
            <a:endParaRPr lang="en-US"/>
          </a:p>
        </p:txBody>
      </p:sp>
      <p:sp>
        <p:nvSpPr>
          <p:cNvPr id="5" name="Gap 1"/>
          <p:cNvSpPr/>
          <p:nvPr/>
        </p:nvSpPr>
        <p:spPr>
          <a:xfrm>
            <a:off x="457200" y="1828800"/>
            <a:ext cx="3749039" cy="2194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64592" rIns="164592" tIns="164592" bIns="164592" wrap="square"/>
          <a:lstStyle/>
          <a:p>
            <a:pPr algn="l" marL="0" indent="0">
              <a:spcAft>
                <a:spcPts val="800"/>
              </a:spcAft>
              <a:buNone/>
            </a:pPr>
            <a:r>
              <a:rPr sz="1900" b="1" i="0">
                <a:solidFill>
                  <a:srgbClr val="1F497D"/>
                </a:solidFill>
                <a:latin typeface="Arial"/>
                <a:cs typeface="Arial"/>
                <a:ea typeface="Arial"/>
              </a:rPr>
              <a:t>G1  Forecast stops at the number</a:t>
            </a:r>
          </a:p>
          <a:p>
            <a:pPr algn="l" marL="0" indent="0">
              <a:spcAft>
                <a:spcPts val="800"/>
              </a:spcAft>
              <a:buNone/>
            </a:pPr>
            <a:r>
              <a:rPr sz="1600" b="0" i="0">
                <a:solidFill>
                  <a:srgbClr val="1A1A1A"/>
                </a:solidFill>
                <a:latin typeface="Arial"/>
                <a:cs typeface="Arial"/>
                <a:ea typeface="Arial"/>
              </a:rPr>
              <a:t>Graph forecasting studies [1]–[3] report accuracy but do not connect the forecast to a checked, testable action.</a:t>
            </a:r>
          </a:p>
        </p:txBody>
      </p:sp>
      <p:sp>
        <p:nvSpPr>
          <p:cNvPr id="6" name="Gap 2"/>
          <p:cNvSpPr/>
          <p:nvPr/>
        </p:nvSpPr>
        <p:spPr>
          <a:xfrm>
            <a:off x="4480560" y="1828800"/>
            <a:ext cx="3749039" cy="2194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64592" rIns="164592" tIns="164592" bIns="164592" wrap="square"/>
          <a:lstStyle/>
          <a:p>
            <a:pPr algn="l" marL="0" indent="0">
              <a:spcAft>
                <a:spcPts val="800"/>
              </a:spcAft>
              <a:buNone/>
            </a:pPr>
            <a:r>
              <a:rPr sz="1900" b="1" i="0">
                <a:solidFill>
                  <a:srgbClr val="1F497D"/>
                </a:solidFill>
                <a:latin typeface="Arial"/>
                <a:cs typeface="Arial"/>
                <a:ea typeface="Arial"/>
              </a:rPr>
              <a:t>G2  Uncertainty does not decide</a:t>
            </a:r>
          </a:p>
          <a:p>
            <a:pPr algn="l" marL="0" indent="0">
              <a:spcAft>
                <a:spcPts val="800"/>
              </a:spcAft>
              <a:buNone/>
            </a:pPr>
            <a:r>
              <a:rPr sz="1600" b="0" i="0">
                <a:solidFill>
                  <a:srgbClr val="1A1A1A"/>
                </a:solidFill>
                <a:latin typeface="Arial"/>
                <a:cs typeface="Arial"/>
                <a:ea typeface="Arial"/>
              </a:rPr>
              <a:t>Point forecasts dominate; interval width and data quality rarely decide whether an advisory is issued.</a:t>
            </a:r>
          </a:p>
        </p:txBody>
      </p:sp>
      <p:sp>
        <p:nvSpPr>
          <p:cNvPr id="7" name="Gap 3"/>
          <p:cNvSpPr/>
          <p:nvPr/>
        </p:nvSpPr>
        <p:spPr>
          <a:xfrm>
            <a:off x="8503920" y="1828800"/>
            <a:ext cx="3749039" cy="2194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64592" rIns="164592" tIns="164592" bIns="164592" wrap="square"/>
          <a:lstStyle/>
          <a:p>
            <a:pPr algn="l" marL="0" indent="0">
              <a:spcAft>
                <a:spcPts val="800"/>
              </a:spcAft>
              <a:buNone/>
            </a:pPr>
            <a:r>
              <a:rPr sz="1900" b="1" i="0">
                <a:solidFill>
                  <a:srgbClr val="1F497D"/>
                </a:solidFill>
                <a:latin typeface="Arial"/>
                <a:cs typeface="Arial"/>
                <a:ea typeface="Arial"/>
              </a:rPr>
              <a:t>G3  Surrogate explanations</a:t>
            </a:r>
          </a:p>
          <a:p>
            <a:pPr algn="l" marL="0" indent="0">
              <a:spcAft>
                <a:spcPts val="800"/>
              </a:spcAft>
              <a:buNone/>
            </a:pPr>
            <a:r>
              <a:rPr sz="1600" b="0" i="0">
                <a:solidFill>
                  <a:srgbClr val="1A1A1A"/>
                </a:solidFill>
                <a:latin typeface="Arial"/>
                <a:cs typeface="Arial"/>
                <a:ea typeface="Arial"/>
              </a:rPr>
              <a:t>Explanations are often computed on simpler surrogate models instead of the deployed forecaster.</a:t>
            </a:r>
          </a:p>
        </p:txBody>
      </p:sp>
      <p:sp>
        <p:nvSpPr>
          <p:cNvPr id="8" name="Gap 4"/>
          <p:cNvSpPr/>
          <p:nvPr/>
        </p:nvSpPr>
        <p:spPr>
          <a:xfrm>
            <a:off x="457200" y="4251960"/>
            <a:ext cx="3749039" cy="2194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64592" rIns="164592" tIns="164592" bIns="164592" wrap="square"/>
          <a:lstStyle/>
          <a:p>
            <a:pPr algn="l" marL="0" indent="0">
              <a:spcAft>
                <a:spcPts val="800"/>
              </a:spcAft>
              <a:buNone/>
            </a:pPr>
            <a:r>
              <a:rPr sz="1900" b="1" i="0">
                <a:solidFill>
                  <a:srgbClr val="1F497D"/>
                </a:solidFill>
                <a:latin typeface="Arial"/>
                <a:cs typeface="Arial"/>
                <a:ea typeface="Arial"/>
              </a:rPr>
              <a:t>G4  Ungrounded LLM advice</a:t>
            </a:r>
          </a:p>
          <a:p>
            <a:pPr algn="l" marL="0" indent="0">
              <a:spcAft>
                <a:spcPts val="800"/>
              </a:spcAft>
              <a:buNone/>
            </a:pPr>
            <a:r>
              <a:rPr sz="1600" b="0" i="0">
                <a:solidFill>
                  <a:srgbClr val="1A1A1A"/>
                </a:solidFill>
                <a:latin typeface="Arial"/>
                <a:cs typeface="Arial"/>
                <a:ea typeface="Arial"/>
              </a:rPr>
              <a:t>LLM recommendations are rarely tied to cited, allow-listed evidence or bounded by deterministic safety rules.</a:t>
            </a:r>
          </a:p>
        </p:txBody>
      </p:sp>
      <p:sp>
        <p:nvSpPr>
          <p:cNvPr id="9" name="Gap 5"/>
          <p:cNvSpPr/>
          <p:nvPr/>
        </p:nvSpPr>
        <p:spPr>
          <a:xfrm>
            <a:off x="4480560" y="4251960"/>
            <a:ext cx="3749039" cy="2194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64592" rIns="164592" tIns="164592" bIns="164592" wrap="square"/>
          <a:lstStyle/>
          <a:p>
            <a:pPr algn="l" marL="0" indent="0">
              <a:spcAft>
                <a:spcPts val="800"/>
              </a:spcAft>
              <a:buNone/>
            </a:pPr>
            <a:r>
              <a:rPr sz="1900" b="1" i="0">
                <a:solidFill>
                  <a:srgbClr val="1F497D"/>
                </a:solidFill>
                <a:latin typeface="Arial"/>
                <a:cs typeface="Arial"/>
                <a:ea typeface="Arial"/>
              </a:rPr>
              <a:t>G5  Missing context is hidden</a:t>
            </a:r>
          </a:p>
          <a:p>
            <a:pPr algn="l" marL="0" indent="0">
              <a:spcAft>
                <a:spcPts val="800"/>
              </a:spcAft>
              <a:buNone/>
            </a:pPr>
            <a:r>
              <a:rPr sz="1600" b="0" i="0">
                <a:solidFill>
                  <a:srgbClr val="1A1A1A"/>
                </a:solidFill>
                <a:latin typeface="Arial"/>
                <a:cs typeface="Arial"/>
                <a:ea typeface="Arial"/>
              </a:rPr>
              <a:t>Dead sensors and unavailable feeds are usually imputed silently instead of being modelled with availability masks.</a:t>
            </a:r>
          </a:p>
        </p:txBody>
      </p:sp>
      <p:sp>
        <p:nvSpPr>
          <p:cNvPr id="10" name="Gap 6"/>
          <p:cNvSpPr/>
          <p:nvPr/>
        </p:nvSpPr>
        <p:spPr>
          <a:xfrm>
            <a:off x="8503920" y="4251960"/>
            <a:ext cx="3749039" cy="2194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64592" rIns="164592" tIns="164592" bIns="164592" wrap="square"/>
          <a:lstStyle/>
          <a:p>
            <a:pPr algn="l" marL="0" indent="0">
              <a:spcAft>
                <a:spcPts val="800"/>
              </a:spcAft>
              <a:buNone/>
            </a:pPr>
            <a:r>
              <a:rPr sz="1900" b="1" i="0">
                <a:solidFill>
                  <a:srgbClr val="1F497D"/>
                </a:solidFill>
                <a:latin typeface="Arial"/>
                <a:cs typeface="Arial"/>
                <a:ea typeface="Arial"/>
              </a:rPr>
              <a:t>G6  Untested testbeds</a:t>
            </a:r>
          </a:p>
          <a:p>
            <a:pPr algn="l" marL="0" indent="0">
              <a:spcAft>
                <a:spcPts val="800"/>
              </a:spcAft>
              <a:buNone/>
            </a:pPr>
            <a:r>
              <a:rPr sz="1600" b="0" i="0">
                <a:solidFill>
                  <a:srgbClr val="1A1A1A"/>
                </a:solidFill>
                <a:latin typeface="Arial"/>
                <a:cs typeface="Arial"/>
                <a:ea typeface="Arial"/>
              </a:rPr>
              <a:t>Simulation studies seldom audit route choice, demand and signal timing before comparing controllers.</a:t>
            </a:r>
          </a:p>
        </p:txBody>
      </p:sp>
    </p:spTree>
    <p:extLst>
      <p:ext uri="{BB962C8B-B14F-4D97-AF65-F5344CB8AC3E}">
        <p14:creationId xmlns:p14="http://schemas.microsoft.com/office/powerpoint/2010/main" val="42415402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266A5-DEC6-423E-4642-6DAA46905B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FC9D02-AB68-99CB-182A-0A2671D6BD83}"/>
              </a:ext>
            </a:extLst>
          </p:cNvPr>
          <p:cNvSpPr>
            <a:spLocks noGrp="1"/>
          </p:cNvSpPr>
          <p:nvPr>
            <p:ph type="title"/>
          </p:nvPr>
        </p:nvSpPr>
        <p:spPr>
          <a:xfrm>
            <a:off x="0" y="0"/>
            <a:ext cx="12801600" cy="1512146"/>
          </a:xfrm>
          <a:solidFill>
            <a:schemeClr val="tx2">
              <a:lumMod val="60000"/>
              <a:lumOff val="40000"/>
            </a:schemeClr>
          </a:solidFill>
        </p:spPr>
        <p:txBody>
          <a:bodyPr vert="horz" lIns="114945" tIns="57473" rIns="114945" bIns="57473" rtlCol="0" anchor="ctr">
            <a:normAutofit/>
          </a:bodyPr>
          <a:lstStyle/>
          <a:p>
            <a:r>
              <a:rPr lang="en-GB" sz="3600" b="1" dirty="0">
                <a:solidFill>
                  <a:schemeClr val="bg1"/>
                </a:solidFill>
                <a:latin typeface="Arial" panose="020B0604020202020204" pitchFamily="34" charset="0"/>
                <a:cs typeface="Arial" panose="020B0604020202020204" pitchFamily="34" charset="0"/>
              </a:rPr>
              <a:t>5. OBJECTIVES</a:t>
            </a:r>
          </a:p>
        </p:txBody>
      </p:sp>
      <p:sp>
        <p:nvSpPr>
          <p:cNvPr id="4" name="Slide Number Placeholder 3">
            <a:extLst>
              <a:ext uri="{FF2B5EF4-FFF2-40B4-BE49-F238E27FC236}">
                <a16:creationId xmlns:a16="http://schemas.microsoft.com/office/drawing/2014/main" id="{0EDA4E0E-51B9-057E-EB16-03F0967919ED}"/>
              </a:ext>
            </a:extLst>
          </p:cNvPr>
          <p:cNvSpPr>
            <a:spLocks noGrp="1"/>
          </p:cNvSpPr>
          <p:nvPr>
            <p:ph type="sldNum" sz="quarter" idx="12"/>
          </p:nvPr>
        </p:nvSpPr>
        <p:spPr/>
        <p:txBody>
          <a:bodyPr/>
          <a:lstStyle/>
          <a:p>
            <a:fld id="{C02A2637-A5A3-49FA-B214-6E67543099EF}" type="slidenum">
              <a:rPr lang="en-US" smtClean="0"/>
              <a:t>8</a:t>
            </a:fld>
            <a:endParaRPr lang="en-US"/>
          </a:p>
        </p:txBody>
      </p:sp>
      <p:sp>
        <p:nvSpPr>
          <p:cNvPr id="5" name="Objective badge O1"/>
          <p:cNvSpPr/>
          <p:nvPr/>
        </p:nvSpPr>
        <p:spPr>
          <a:xfrm>
            <a:off x="457200" y="1965960"/>
            <a:ext cx="822960" cy="822960"/>
          </a:xfrm>
          <a:prstGeom prst="ellipse">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marL="0" indent="0">
              <a:spcAft>
                <a:spcPts val="0"/>
              </a:spcAft>
              <a:buNone/>
            </a:pPr>
            <a:r>
              <a:rPr sz="2000" b="1" i="0">
                <a:solidFill>
                  <a:srgbClr val="FFFFFF"/>
                </a:solidFill>
                <a:latin typeface="Arial"/>
                <a:cs typeface="Arial"/>
                <a:ea typeface="Arial"/>
              </a:rPr>
              <a:t>O1</a:t>
            </a:r>
          </a:p>
        </p:txBody>
      </p:sp>
      <p:sp>
        <p:nvSpPr>
          <p:cNvPr id="6" name="Objective O1"/>
          <p:cNvSpPr txBox="1"/>
          <p:nvPr/>
        </p:nvSpPr>
        <p:spPr>
          <a:xfrm>
            <a:off x="1417320" y="1828800"/>
            <a:ext cx="4800600" cy="1417320"/>
          </a:xfrm>
          <a:prstGeom prst="rect">
            <a:avLst/>
          </a:prstGeom>
          <a:noFill/>
        </p:spPr>
        <p:txBody>
          <a:bodyPr wrap="square" lIns="36576" rIns="36576" tIns="36576" bIns="36576" anchor="t"/>
          <a:lstStyle/>
          <a:p>
            <a:pPr algn="l" marL="0" indent="0">
              <a:spcAft>
                <a:spcPts val="400"/>
              </a:spcAft>
              <a:buNone/>
            </a:pPr>
            <a:r>
              <a:rPr sz="1700" b="0" i="0">
                <a:solidFill>
                  <a:srgbClr val="1A1A1A"/>
                </a:solidFill>
                <a:latin typeface="Arial"/>
                <a:cs typeface="Arial"/>
                <a:ea typeface="Arial"/>
              </a:rPr>
              <a:t>Forecast link speeds 15, 30 and 60 min ahead with a context-gated GATv2–Transformer and compare it with six baselines on identical data</a:t>
            </a:r>
          </a:p>
          <a:p>
            <a:pPr algn="l" marL="0" indent="0">
              <a:spcAft>
                <a:spcPts val="400"/>
              </a:spcAft>
              <a:buNone/>
            </a:pPr>
            <a:r>
              <a:rPr sz="1300" b="0" i="0">
                <a:solidFill>
                  <a:srgbClr val="555F6B"/>
                </a:solidFill>
                <a:latin typeface="Arial"/>
                <a:cs typeface="Arial"/>
                <a:ea typeface="Arial"/>
              </a:rPr>
              <a:t>Addresses: G1, G5</a:t>
            </a:r>
          </a:p>
        </p:txBody>
      </p:sp>
      <p:sp>
        <p:nvSpPr>
          <p:cNvPr id="7" name="Objective badge O2"/>
          <p:cNvSpPr/>
          <p:nvPr/>
        </p:nvSpPr>
        <p:spPr>
          <a:xfrm>
            <a:off x="6492240" y="1965960"/>
            <a:ext cx="822960" cy="822960"/>
          </a:xfrm>
          <a:prstGeom prst="ellipse">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marL="0" indent="0">
              <a:spcAft>
                <a:spcPts val="0"/>
              </a:spcAft>
              <a:buNone/>
            </a:pPr>
            <a:r>
              <a:rPr sz="2000" b="1" i="0">
                <a:solidFill>
                  <a:srgbClr val="FFFFFF"/>
                </a:solidFill>
                <a:latin typeface="Arial"/>
                <a:cs typeface="Arial"/>
                <a:ea typeface="Arial"/>
              </a:rPr>
              <a:t>O2</a:t>
            </a:r>
          </a:p>
        </p:txBody>
      </p:sp>
      <p:sp>
        <p:nvSpPr>
          <p:cNvPr id="8" name="Objective O2"/>
          <p:cNvSpPr txBox="1"/>
          <p:nvPr/>
        </p:nvSpPr>
        <p:spPr>
          <a:xfrm>
            <a:off x="7452360" y="1828800"/>
            <a:ext cx="4800600" cy="1417320"/>
          </a:xfrm>
          <a:prstGeom prst="rect">
            <a:avLst/>
          </a:prstGeom>
          <a:noFill/>
        </p:spPr>
        <p:txBody>
          <a:bodyPr wrap="square" lIns="36576" rIns="36576" tIns="36576" bIns="36576" anchor="t"/>
          <a:lstStyle/>
          <a:p>
            <a:pPr algn="l" marL="0" indent="0">
              <a:spcAft>
                <a:spcPts val="400"/>
              </a:spcAft>
              <a:buNone/>
            </a:pPr>
            <a:r>
              <a:rPr sz="1700" b="0" i="0">
                <a:solidFill>
                  <a:srgbClr val="1A1A1A"/>
                </a:solidFill>
                <a:latin typeface="Arial"/>
                <a:cs typeface="Arial"/>
                <a:ea typeface="Arial"/>
              </a:rPr>
              <a:t>Quantify uncertainty with per-horizon split-conformal intervals and defer advisories when reliability is low</a:t>
            </a:r>
          </a:p>
          <a:p>
            <a:pPr algn="l" marL="0" indent="0">
              <a:spcAft>
                <a:spcPts val="400"/>
              </a:spcAft>
              <a:buNone/>
            </a:pPr>
            <a:r>
              <a:rPr sz="1300" b="0" i="0">
                <a:solidFill>
                  <a:srgbClr val="555F6B"/>
                </a:solidFill>
                <a:latin typeface="Arial"/>
                <a:cs typeface="Arial"/>
                <a:ea typeface="Arial"/>
              </a:rPr>
              <a:t>Addresses: G2</a:t>
            </a:r>
          </a:p>
        </p:txBody>
      </p:sp>
      <p:sp>
        <p:nvSpPr>
          <p:cNvPr id="9" name="Objective badge O3"/>
          <p:cNvSpPr/>
          <p:nvPr/>
        </p:nvSpPr>
        <p:spPr>
          <a:xfrm>
            <a:off x="457200" y="3566160"/>
            <a:ext cx="822960" cy="822960"/>
          </a:xfrm>
          <a:prstGeom prst="ellipse">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marL="0" indent="0">
              <a:spcAft>
                <a:spcPts val="0"/>
              </a:spcAft>
              <a:buNone/>
            </a:pPr>
            <a:r>
              <a:rPr sz="2000" b="1" i="0">
                <a:solidFill>
                  <a:srgbClr val="FFFFFF"/>
                </a:solidFill>
                <a:latin typeface="Arial"/>
                <a:cs typeface="Arial"/>
                <a:ea typeface="Arial"/>
              </a:rPr>
              <a:t>O3</a:t>
            </a:r>
          </a:p>
        </p:txBody>
      </p:sp>
      <p:sp>
        <p:nvSpPr>
          <p:cNvPr id="10" name="Objective O3"/>
          <p:cNvSpPr txBox="1"/>
          <p:nvPr/>
        </p:nvSpPr>
        <p:spPr>
          <a:xfrm>
            <a:off x="1417320" y="3429000"/>
            <a:ext cx="4800600" cy="1417320"/>
          </a:xfrm>
          <a:prstGeom prst="rect">
            <a:avLst/>
          </a:prstGeom>
          <a:noFill/>
        </p:spPr>
        <p:txBody>
          <a:bodyPr wrap="square" lIns="36576" rIns="36576" tIns="36576" bIns="36576" anchor="t"/>
          <a:lstStyle/>
          <a:p>
            <a:pPr algn="l" marL="0" indent="0">
              <a:spcAft>
                <a:spcPts val="400"/>
              </a:spcAft>
              <a:buNone/>
            </a:pPr>
            <a:r>
              <a:rPr sz="1700" b="0" i="0">
                <a:solidFill>
                  <a:srgbClr val="1A1A1A"/>
                </a:solidFill>
                <a:latin typeface="Arial"/>
                <a:cs typeface="Arial"/>
                <a:ea typeface="Arial"/>
              </a:rPr>
              <a:t>Explain the trained model itself with grouped SHAP and sensitivity tests</a:t>
            </a:r>
          </a:p>
          <a:p>
            <a:pPr algn="l" marL="0" indent="0">
              <a:spcAft>
                <a:spcPts val="400"/>
              </a:spcAft>
              <a:buNone/>
            </a:pPr>
            <a:r>
              <a:rPr sz="1300" b="0" i="0">
                <a:solidFill>
                  <a:srgbClr val="555F6B"/>
                </a:solidFill>
                <a:latin typeface="Arial"/>
                <a:cs typeface="Arial"/>
                <a:ea typeface="Arial"/>
              </a:rPr>
              <a:t>Addresses: G3</a:t>
            </a:r>
          </a:p>
        </p:txBody>
      </p:sp>
      <p:sp>
        <p:nvSpPr>
          <p:cNvPr id="11" name="Objective badge O4"/>
          <p:cNvSpPr/>
          <p:nvPr/>
        </p:nvSpPr>
        <p:spPr>
          <a:xfrm>
            <a:off x="6492240" y="3566160"/>
            <a:ext cx="822960" cy="822960"/>
          </a:xfrm>
          <a:prstGeom prst="ellipse">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marL="0" indent="0">
              <a:spcAft>
                <a:spcPts val="0"/>
              </a:spcAft>
              <a:buNone/>
            </a:pPr>
            <a:r>
              <a:rPr sz="2000" b="1" i="0">
                <a:solidFill>
                  <a:srgbClr val="FFFFFF"/>
                </a:solidFill>
                <a:latin typeface="Arial"/>
                <a:cs typeface="Arial"/>
                <a:ea typeface="Arial"/>
              </a:rPr>
              <a:t>O4</a:t>
            </a:r>
          </a:p>
        </p:txBody>
      </p:sp>
      <p:sp>
        <p:nvSpPr>
          <p:cNvPr id="12" name="Objective O4"/>
          <p:cNvSpPr txBox="1"/>
          <p:nvPr/>
        </p:nvSpPr>
        <p:spPr>
          <a:xfrm>
            <a:off x="7452360" y="3429000"/>
            <a:ext cx="4800600" cy="1417320"/>
          </a:xfrm>
          <a:prstGeom prst="rect">
            <a:avLst/>
          </a:prstGeom>
          <a:noFill/>
        </p:spPr>
        <p:txBody>
          <a:bodyPr wrap="square" lIns="36576" rIns="36576" tIns="36576" bIns="36576" anchor="t"/>
          <a:lstStyle/>
          <a:p>
            <a:pPr algn="l" marL="0" indent="0">
              <a:spcAft>
                <a:spcPts val="400"/>
              </a:spcAft>
              <a:buNone/>
            </a:pPr>
            <a:r>
              <a:rPr sz="1700" b="0" i="0">
                <a:solidFill>
                  <a:srgbClr val="1A1A1A"/>
                </a:solidFill>
                <a:latin typeface="Arial"/>
                <a:cs typeface="Arial"/>
                <a:ea typeface="Arial"/>
              </a:rPr>
              <a:t>Draft advisories with a local LLM that must cite retrieved evidence and pass deterministic safety checks</a:t>
            </a:r>
          </a:p>
          <a:p>
            <a:pPr algn="l" marL="0" indent="0">
              <a:spcAft>
                <a:spcPts val="400"/>
              </a:spcAft>
              <a:buNone/>
            </a:pPr>
            <a:r>
              <a:rPr sz="1300" b="0" i="0">
                <a:solidFill>
                  <a:srgbClr val="555F6B"/>
                </a:solidFill>
                <a:latin typeface="Arial"/>
                <a:cs typeface="Arial"/>
                <a:ea typeface="Arial"/>
              </a:rPr>
              <a:t>Addresses: G4</a:t>
            </a:r>
          </a:p>
        </p:txBody>
      </p:sp>
      <p:sp>
        <p:nvSpPr>
          <p:cNvPr id="13" name="Objective badge O5"/>
          <p:cNvSpPr/>
          <p:nvPr/>
        </p:nvSpPr>
        <p:spPr>
          <a:xfrm>
            <a:off x="457200" y="5166360"/>
            <a:ext cx="822960" cy="822960"/>
          </a:xfrm>
          <a:prstGeom prst="ellipse">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marL="0" indent="0">
              <a:spcAft>
                <a:spcPts val="0"/>
              </a:spcAft>
              <a:buNone/>
            </a:pPr>
            <a:r>
              <a:rPr sz="2000" b="1" i="0">
                <a:solidFill>
                  <a:srgbClr val="FFFFFF"/>
                </a:solidFill>
                <a:latin typeface="Arial"/>
                <a:cs typeface="Arial"/>
                <a:ea typeface="Arial"/>
              </a:rPr>
              <a:t>O5</a:t>
            </a:r>
          </a:p>
        </p:txBody>
      </p:sp>
      <p:sp>
        <p:nvSpPr>
          <p:cNvPr id="14" name="Objective O5"/>
          <p:cNvSpPr txBox="1"/>
          <p:nvPr/>
        </p:nvSpPr>
        <p:spPr>
          <a:xfrm>
            <a:off x="1417320" y="5029200"/>
            <a:ext cx="4800600" cy="1417320"/>
          </a:xfrm>
          <a:prstGeom prst="rect">
            <a:avLst/>
          </a:prstGeom>
          <a:noFill/>
        </p:spPr>
        <p:txBody>
          <a:bodyPr wrap="square" lIns="36576" rIns="36576" tIns="36576" bIns="36576" anchor="t"/>
          <a:lstStyle/>
          <a:p>
            <a:pPr algn="l" marL="0" indent="0">
              <a:spcAft>
                <a:spcPts val="400"/>
              </a:spcAft>
              <a:buNone/>
            </a:pPr>
            <a:r>
              <a:rPr sz="1700" b="0" i="0">
                <a:solidFill>
                  <a:srgbClr val="1A1A1A"/>
                </a:solidFill>
                <a:latin typeface="Arial"/>
                <a:cs typeface="Arial"/>
                <a:ea typeface="Arial"/>
              </a:rPr>
              <a:t>Test admissible advisories in a SUMO simulation, after verifying the testbed itself</a:t>
            </a:r>
          </a:p>
          <a:p>
            <a:pPr algn="l" marL="0" indent="0">
              <a:spcAft>
                <a:spcPts val="400"/>
              </a:spcAft>
              <a:buNone/>
            </a:pPr>
            <a:r>
              <a:rPr sz="1300" b="0" i="0">
                <a:solidFill>
                  <a:srgbClr val="555F6B"/>
                </a:solidFill>
                <a:latin typeface="Arial"/>
                <a:cs typeface="Arial"/>
                <a:ea typeface="Arial"/>
              </a:rPr>
              <a:t>Addresses: G6</a:t>
            </a:r>
          </a:p>
        </p:txBody>
      </p:sp>
      <p:sp>
        <p:nvSpPr>
          <p:cNvPr id="15" name="Objective badge O6"/>
          <p:cNvSpPr/>
          <p:nvPr/>
        </p:nvSpPr>
        <p:spPr>
          <a:xfrm>
            <a:off x="6492240" y="5166360"/>
            <a:ext cx="822960" cy="822960"/>
          </a:xfrm>
          <a:prstGeom prst="ellipse">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marL="0" indent="0">
              <a:spcAft>
                <a:spcPts val="0"/>
              </a:spcAft>
              <a:buNone/>
            </a:pPr>
            <a:r>
              <a:rPr sz="2000" b="1" i="0">
                <a:solidFill>
                  <a:srgbClr val="FFFFFF"/>
                </a:solidFill>
                <a:latin typeface="Arial"/>
                <a:cs typeface="Arial"/>
                <a:ea typeface="Arial"/>
              </a:rPr>
              <a:t>O6</a:t>
            </a:r>
          </a:p>
        </p:txBody>
      </p:sp>
      <p:sp>
        <p:nvSpPr>
          <p:cNvPr id="16" name="Objective O6"/>
          <p:cNvSpPr txBox="1"/>
          <p:nvPr/>
        </p:nvSpPr>
        <p:spPr>
          <a:xfrm>
            <a:off x="7452360" y="5029200"/>
            <a:ext cx="4800600" cy="1417320"/>
          </a:xfrm>
          <a:prstGeom prst="rect">
            <a:avLst/>
          </a:prstGeom>
          <a:noFill/>
        </p:spPr>
        <p:txBody>
          <a:bodyPr wrap="square" lIns="36576" rIns="36576" tIns="36576" bIns="36576" anchor="t"/>
          <a:lstStyle/>
          <a:p>
            <a:pPr algn="l" marL="0" indent="0">
              <a:spcAft>
                <a:spcPts val="400"/>
              </a:spcAft>
              <a:buNone/>
            </a:pPr>
            <a:r>
              <a:rPr sz="1700" b="0" i="0">
                <a:solidFill>
                  <a:srgbClr val="1A1A1A"/>
                </a:solidFill>
                <a:latin typeface="Arial"/>
                <a:cs typeface="Arial"/>
                <a:ea typeface="Arial"/>
              </a:rPr>
              <a:t>Make every result reproducible and traceable: tests, MLflow, Docker, evidence registry and a paper generated from artifacts</a:t>
            </a:r>
          </a:p>
          <a:p>
            <a:pPr algn="l" marL="0" indent="0">
              <a:spcAft>
                <a:spcPts val="400"/>
              </a:spcAft>
              <a:buNone/>
            </a:pPr>
            <a:r>
              <a:rPr sz="1300" b="0" i="0">
                <a:solidFill>
                  <a:srgbClr val="555F6B"/>
                </a:solidFill>
                <a:latin typeface="Arial"/>
                <a:cs typeface="Arial"/>
                <a:ea typeface="Arial"/>
              </a:rPr>
              <a:t>Addresses: all</a:t>
            </a:r>
          </a:p>
        </p:txBody>
      </p:sp>
    </p:spTree>
    <p:extLst>
      <p:ext uri="{BB962C8B-B14F-4D97-AF65-F5344CB8AC3E}">
        <p14:creationId xmlns:p14="http://schemas.microsoft.com/office/powerpoint/2010/main" val="7869865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801600" cy="1512146"/>
          </a:xfrm>
          <a:solidFill>
            <a:schemeClr val="tx2">
              <a:lumMod val="60000"/>
              <a:lumOff val="40000"/>
            </a:schemeClr>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6. RESEARCH WORK DONE</a:t>
            </a:r>
          </a:p>
        </p:txBody>
      </p:sp>
      <p:sp>
        <p:nvSpPr>
          <p:cNvPr id="3" name="Content Placeholder 2"/>
          <p:cNvSpPr>
            <a:spLocks noGrp="1"/>
          </p:cNvSpPr>
          <p:nvPr>
            <p:ph idx="1"/>
          </p:nvPr>
        </p:nvSpPr>
        <p:spPr>
          <a:xfrm>
            <a:off x="640080" y="1783080"/>
            <a:ext cx="11521440" cy="3017520"/>
          </a:xfrm>
        </p:spPr>
        <p:txBody>
          <a:bodyPr wrap="square">
            <a:normAutofit/>
          </a:bodyPr>
          <a:lstStyle/>
          <a:p>
            <a:pPr algn="l" marL="274320" indent="-228600">
              <a:spcAft>
                <a:spcPts val="400"/>
              </a:spcAft>
              <a:buFont typeface="Arial"/>
              <a:buChar char="•"/>
            </a:pPr>
            <a:r>
              <a:rPr sz="2400" b="0" i="0">
                <a:solidFill>
                  <a:srgbClr val="1A1A1A"/>
                </a:solidFill>
                <a:latin typeface="Arial"/>
                <a:cs typeface="Arial"/>
                <a:ea typeface="Arial"/>
              </a:rPr>
              <a:t>The research work is organised in four parts:</a:t>
            </a:r>
          </a:p>
          <a:p>
            <a:pPr algn="l" marL="960120" indent="-384048">
              <a:spcAft>
                <a:spcPts val="400"/>
              </a:spcAft>
              <a:buFont typeface="Arial"/>
              <a:buChar char="❖"/>
            </a:pPr>
            <a:r>
              <a:rPr sz="2200" b="1" i="0">
                <a:solidFill>
                  <a:srgbClr val="1F497D"/>
                </a:solidFill>
                <a:latin typeface="Arial"/>
                <a:cs typeface="Arial"/>
                <a:ea typeface="Arial"/>
              </a:rPr>
              <a:t>MODULE IDENTIFICATION</a:t>
            </a:r>
          </a:p>
          <a:p>
            <a:pPr algn="l" marL="960120" indent="-384048">
              <a:spcAft>
                <a:spcPts val="400"/>
              </a:spcAft>
              <a:buFont typeface="Arial"/>
              <a:buChar char="❖"/>
            </a:pPr>
            <a:r>
              <a:rPr sz="2200" b="1" i="0">
                <a:solidFill>
                  <a:srgbClr val="1F497D"/>
                </a:solidFill>
                <a:latin typeface="Arial"/>
                <a:cs typeface="Arial"/>
                <a:ea typeface="Arial"/>
              </a:rPr>
              <a:t>SYSTEM ARCHITECTURE</a:t>
            </a:r>
          </a:p>
          <a:p>
            <a:pPr algn="l" marL="960120" indent="-384048">
              <a:spcAft>
                <a:spcPts val="400"/>
              </a:spcAft>
              <a:buFont typeface="Arial"/>
              <a:buChar char="❖"/>
            </a:pPr>
            <a:r>
              <a:rPr sz="2200" b="1" i="0">
                <a:solidFill>
                  <a:srgbClr val="1F497D"/>
                </a:solidFill>
                <a:latin typeface="Arial"/>
                <a:cs typeface="Arial"/>
                <a:ea typeface="Arial"/>
              </a:rPr>
              <a:t>DEVELOPMENT &amp; INTEGRATION</a:t>
            </a:r>
          </a:p>
          <a:p>
            <a:pPr algn="l" marL="960120" indent="-384048">
              <a:spcAft>
                <a:spcPts val="400"/>
              </a:spcAft>
              <a:buFont typeface="Arial"/>
              <a:buChar char="❖"/>
            </a:pPr>
            <a:r>
              <a:rPr sz="2200" b="1" i="0">
                <a:solidFill>
                  <a:srgbClr val="1F497D"/>
                </a:solidFill>
                <a:latin typeface="Arial"/>
                <a:cs typeface="Arial"/>
                <a:ea typeface="Arial"/>
              </a:rPr>
              <a:t>PROTOTYPE / RESEARCH FRAMEWORK</a:t>
            </a:r>
          </a:p>
        </p:txBody>
      </p:sp>
      <p:sp>
        <p:nvSpPr>
          <p:cNvPr id="4" name="Slide Number Placeholder 3"/>
          <p:cNvSpPr>
            <a:spLocks noGrp="1"/>
          </p:cNvSpPr>
          <p:nvPr>
            <p:ph type="sldNum" sz="quarter" idx="12"/>
          </p:nvPr>
        </p:nvSpPr>
        <p:spPr/>
        <p:txBody>
          <a:bodyPr/>
          <a:lstStyle/>
          <a:p>
            <a:fld id="{C02A2637-A5A3-49FA-B214-6E67543099EF}" type="slidenum">
              <a:rPr lang="en-US" smtClean="0"/>
              <a:t>9</a:t>
            </a:fld>
            <a:endParaRPr lang="en-US"/>
          </a:p>
        </p:txBody>
      </p:sp>
      <p:sp>
        <p:nvSpPr>
          <p:cNvPr id="5" name="Stat 1"/>
          <p:cNvSpPr/>
          <p:nvPr/>
        </p:nvSpPr>
        <p:spPr>
          <a:xfrm>
            <a:off x="457200" y="4983480"/>
            <a:ext cx="2743200" cy="160020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200"/>
              </a:spcAft>
              <a:buNone/>
            </a:pPr>
            <a:r>
              <a:rPr sz="3400" b="1" i="0">
                <a:solidFill>
                  <a:srgbClr val="1F497D"/>
                </a:solidFill>
                <a:latin typeface="Arial"/>
                <a:cs typeface="Arial"/>
                <a:ea typeface="Arial"/>
              </a:rPr>
              <a:t>1,968,303</a:t>
            </a:r>
          </a:p>
          <a:p>
            <a:pPr algn="ctr" marL="0" indent="0">
              <a:spcAft>
                <a:spcPts val="200"/>
              </a:spcAft>
              <a:buNone/>
            </a:pPr>
            <a:r>
              <a:rPr sz="1500" b="0" i="0">
                <a:solidFill>
                  <a:srgbClr val="1A1A1A"/>
                </a:solidFill>
                <a:latin typeface="Arial"/>
                <a:cs typeface="Arial"/>
                <a:ea typeface="Arial"/>
              </a:rPr>
              <a:t>raw speed records processed</a:t>
            </a:r>
          </a:p>
        </p:txBody>
      </p:sp>
      <p:sp>
        <p:nvSpPr>
          <p:cNvPr id="6" name="Stat 2"/>
          <p:cNvSpPr/>
          <p:nvPr/>
        </p:nvSpPr>
        <p:spPr>
          <a:xfrm>
            <a:off x="3474720" y="4983480"/>
            <a:ext cx="2743200" cy="160020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200"/>
              </a:spcAft>
              <a:buNone/>
            </a:pPr>
            <a:r>
              <a:rPr sz="3400" b="1" i="0">
                <a:solidFill>
                  <a:srgbClr val="1F497D"/>
                </a:solidFill>
                <a:latin typeface="Arial"/>
                <a:cs typeface="Arial"/>
                <a:ea typeface="Arial"/>
              </a:rPr>
              <a:t>16</a:t>
            </a:r>
          </a:p>
          <a:p>
            <a:pPr algn="ctr" marL="0" indent="0">
              <a:spcAft>
                <a:spcPts val="200"/>
              </a:spcAft>
              <a:buNone/>
            </a:pPr>
            <a:r>
              <a:rPr sz="1500" b="0" i="0">
                <a:solidFill>
                  <a:srgbClr val="1A1A1A"/>
                </a:solidFill>
                <a:latin typeface="Arial"/>
                <a:cs typeface="Arial"/>
                <a:ea typeface="Arial"/>
              </a:rPr>
              <a:t>Manhattan links modelled</a:t>
            </a:r>
          </a:p>
        </p:txBody>
      </p:sp>
      <p:sp>
        <p:nvSpPr>
          <p:cNvPr id="7" name="Stat 3"/>
          <p:cNvSpPr/>
          <p:nvPr/>
        </p:nvSpPr>
        <p:spPr>
          <a:xfrm>
            <a:off x="6492240" y="4983480"/>
            <a:ext cx="2743200" cy="160020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200"/>
              </a:spcAft>
              <a:buNone/>
            </a:pPr>
            <a:r>
              <a:rPr sz="3400" b="1" i="0">
                <a:solidFill>
                  <a:srgbClr val="1F497D"/>
                </a:solidFill>
                <a:latin typeface="Arial"/>
                <a:cs typeface="Arial"/>
                <a:ea typeface="Arial"/>
              </a:rPr>
              <a:t>7</a:t>
            </a:r>
          </a:p>
          <a:p>
            <a:pPr algn="ctr" marL="0" indent="0">
              <a:spcAft>
                <a:spcPts val="200"/>
              </a:spcAft>
              <a:buNone/>
            </a:pPr>
            <a:r>
              <a:rPr sz="1500" b="0" i="0">
                <a:solidFill>
                  <a:srgbClr val="1A1A1A"/>
                </a:solidFill>
                <a:latin typeface="Arial"/>
                <a:cs typeface="Arial"/>
                <a:ea typeface="Arial"/>
              </a:rPr>
              <a:t>forecasting models compared</a:t>
            </a:r>
          </a:p>
        </p:txBody>
      </p:sp>
      <p:sp>
        <p:nvSpPr>
          <p:cNvPr id="8" name="Stat 4"/>
          <p:cNvSpPr/>
          <p:nvPr/>
        </p:nvSpPr>
        <p:spPr>
          <a:xfrm>
            <a:off x="9509759" y="4983480"/>
            <a:ext cx="2743200" cy="160020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200"/>
              </a:spcAft>
              <a:buNone/>
            </a:pPr>
            <a:r>
              <a:rPr sz="3400" b="1" i="0">
                <a:solidFill>
                  <a:srgbClr val="1F497D"/>
                </a:solidFill>
                <a:latin typeface="Arial"/>
                <a:cs typeface="Arial"/>
                <a:ea typeface="Arial"/>
              </a:rPr>
              <a:t>112</a:t>
            </a:r>
          </a:p>
          <a:p>
            <a:pPr algn="ctr" marL="0" indent="0">
              <a:spcAft>
                <a:spcPts val="200"/>
              </a:spcAft>
              <a:buNone/>
            </a:pPr>
            <a:r>
              <a:rPr sz="1500" b="0" i="0">
                <a:solidFill>
                  <a:srgbClr val="1A1A1A"/>
                </a:solidFill>
                <a:latin typeface="Arial"/>
                <a:cs typeface="Arial"/>
                <a:ea typeface="Arial"/>
              </a:rPr>
              <a:t>automated tests passing</a:t>
            </a:r>
          </a:p>
        </p:txBody>
      </p:sp>
    </p:spTree>
    <p:extLst>
      <p:ext uri="{BB962C8B-B14F-4D97-AF65-F5344CB8AC3E}">
        <p14:creationId xmlns:p14="http://schemas.microsoft.com/office/powerpoint/2010/main" val="19444165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B8DAA3-E6F2-B842-5B2C-24A7FD7C27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644116-6BAB-BDE0-8F36-5DA7BCF987F2}"/>
              </a:ext>
            </a:extLst>
          </p:cNvPr>
          <p:cNvSpPr>
            <a:spLocks noGrp="1"/>
          </p:cNvSpPr>
          <p:nvPr>
            <p:ph type="title"/>
          </p:nvPr>
        </p:nvSpPr>
        <p:spPr>
          <a:xfrm>
            <a:off x="0" y="0"/>
            <a:ext cx="12801600" cy="1512146"/>
          </a:xfrm>
          <a:solidFill>
            <a:schemeClr val="tx2">
              <a:lumMod val="60000"/>
              <a:lumOff val="40000"/>
            </a:schemeClr>
          </a:solidFill>
        </p:spPr>
        <p:txBody>
          <a:bodyPr>
            <a:normAutofit/>
          </a:bodyPr>
          <a:lstStyle/>
          <a:p>
            <a:pPr lvl="1" algn="ctr" fontAlgn="ctr"/>
            <a:r>
              <a:rPr lang="en-US" sz="3600" b="1" dirty="0">
                <a:latin typeface="Arial" panose="020B0604020202020204" pitchFamily="34" charset="0"/>
                <a:cs typeface="Arial" panose="020B0604020202020204" pitchFamily="34" charset="0"/>
              </a:rPr>
              <a:t>MODULE IDENTIFICATION</a:t>
            </a:r>
          </a:p>
        </p:txBody>
      </p:sp>
      <p:sp>
        <p:nvSpPr>
          <p:cNvPr id="4" name="Slide Number Placeholder 3">
            <a:extLst>
              <a:ext uri="{FF2B5EF4-FFF2-40B4-BE49-F238E27FC236}">
                <a16:creationId xmlns:a16="http://schemas.microsoft.com/office/drawing/2014/main" id="{0C15EFEC-6BF3-4447-1E0F-489E9855AF57}"/>
              </a:ext>
            </a:extLst>
          </p:cNvPr>
          <p:cNvSpPr>
            <a:spLocks noGrp="1"/>
          </p:cNvSpPr>
          <p:nvPr>
            <p:ph type="sldNum" sz="quarter" idx="12"/>
          </p:nvPr>
        </p:nvSpPr>
        <p:spPr/>
        <p:txBody>
          <a:bodyPr/>
          <a:lstStyle/>
          <a:p>
            <a:fld id="{C02A2637-A5A3-49FA-B214-6E67543099EF}" type="slidenum">
              <a:rPr lang="en-US" smtClean="0"/>
              <a:t>10</a:t>
            </a:fld>
            <a:endParaRPr lang="en-US"/>
          </a:p>
        </p:txBody>
      </p:sp>
      <p:sp>
        <p:nvSpPr>
          <p:cNvPr id="5" name="Module 1"/>
          <p:cNvSpPr/>
          <p:nvPr/>
        </p:nvSpPr>
        <p:spPr>
          <a:xfrm>
            <a:off x="457200" y="178308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M1  Data ingestion</a:t>
            </a:r>
          </a:p>
          <a:p>
            <a:pPr algn="l" marL="0" indent="0">
              <a:spcAft>
                <a:spcPts val="400"/>
              </a:spcAft>
              <a:buNone/>
            </a:pPr>
            <a:r>
              <a:rPr sz="1400" b="0" i="0">
                <a:solidFill>
                  <a:srgbClr val="1A1A1A"/>
                </a:solidFill>
                <a:latin typeface="Arial"/>
                <a:cs typeface="Arial"/>
                <a:ea typeface="Arial"/>
              </a:rPr>
              <a:t>NYC Open Data, Open-Meteo, OSM; resumable downloads with SHA-256 provenance</a:t>
            </a:r>
          </a:p>
        </p:txBody>
      </p:sp>
      <p:sp>
        <p:nvSpPr>
          <p:cNvPr id="6" name="Module 2"/>
          <p:cNvSpPr/>
          <p:nvPr/>
        </p:nvSpPr>
        <p:spPr>
          <a:xfrm>
            <a:off x="3474720" y="178308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M2  Preprocessing &amp; features</a:t>
            </a:r>
          </a:p>
          <a:p>
            <a:pPr algn="l" marL="0" indent="0">
              <a:spcAft>
                <a:spcPts val="400"/>
              </a:spcAft>
              <a:buNone/>
            </a:pPr>
            <a:r>
              <a:rPr sz="1400" b="0" i="0">
                <a:solidFill>
                  <a:srgbClr val="1A1A1A"/>
                </a:solidFill>
                <a:latin typeface="Arial"/>
                <a:cs typeface="Arial"/>
                <a:ea typeface="Arial"/>
              </a:rPr>
              <a:t>5-minute grid, causal lags, availability masks, leakage-tested splits</a:t>
            </a:r>
          </a:p>
        </p:txBody>
      </p:sp>
      <p:sp>
        <p:nvSpPr>
          <p:cNvPr id="7" name="Module 3"/>
          <p:cNvSpPr/>
          <p:nvPr/>
        </p:nvSpPr>
        <p:spPr>
          <a:xfrm>
            <a:off x="6492240" y="178308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M3  Road graph</a:t>
            </a:r>
          </a:p>
          <a:p>
            <a:pPr algn="l" marL="0" indent="0">
              <a:spcAft>
                <a:spcPts val="400"/>
              </a:spcAft>
              <a:buNone/>
            </a:pPr>
            <a:r>
              <a:rPr sz="1400" b="0" i="0">
                <a:solidFill>
                  <a:srgbClr val="1A1A1A"/>
                </a:solidFill>
                <a:latin typeface="Arial"/>
                <a:cs typeface="Arial"/>
                <a:ea typeface="Arial"/>
              </a:rPr>
              <a:t>Directed DOT-link graph (26 nodes, 16 edges) as a PyG Temporal signal [10]</a:t>
            </a:r>
          </a:p>
        </p:txBody>
      </p:sp>
      <p:sp>
        <p:nvSpPr>
          <p:cNvPr id="8" name="Module 4"/>
          <p:cNvSpPr/>
          <p:nvPr/>
        </p:nvSpPr>
        <p:spPr>
          <a:xfrm>
            <a:off x="9509759" y="178308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M4  Forecasting</a:t>
            </a:r>
          </a:p>
          <a:p>
            <a:pPr algn="l" marL="0" indent="0">
              <a:spcAft>
                <a:spcPts val="400"/>
              </a:spcAft>
              <a:buNone/>
            </a:pPr>
            <a:r>
              <a:rPr sz="1400" b="0" i="0">
                <a:solidFill>
                  <a:srgbClr val="1A1A1A"/>
                </a:solidFill>
                <a:latin typeface="Arial"/>
                <a:cs typeface="Arial"/>
                <a:ea typeface="Arial"/>
              </a:rPr>
              <a:t>Context-gated GATv2–Transformer plus six baselines at 15/30/60 min</a:t>
            </a:r>
          </a:p>
        </p:txBody>
      </p:sp>
      <p:sp>
        <p:nvSpPr>
          <p:cNvPr id="9" name="Module 5"/>
          <p:cNvSpPr/>
          <p:nvPr/>
        </p:nvSpPr>
        <p:spPr>
          <a:xfrm>
            <a:off x="457200" y="342900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M5  Uncertainty</a:t>
            </a:r>
          </a:p>
          <a:p>
            <a:pPr algn="l" marL="0" indent="0">
              <a:spcAft>
                <a:spcPts val="400"/>
              </a:spcAft>
              <a:buNone/>
            </a:pPr>
            <a:r>
              <a:rPr sz="1400" b="0" i="0">
                <a:solidFill>
                  <a:srgbClr val="1A1A1A"/>
                </a:solidFill>
                <a:latin typeface="Arial"/>
                <a:cs typeface="Arial"/>
                <a:ea typeface="Arial"/>
              </a:rPr>
              <a:t>Per-horizon split-conformal intervals and a reliability gate</a:t>
            </a:r>
          </a:p>
        </p:txBody>
      </p:sp>
      <p:sp>
        <p:nvSpPr>
          <p:cNvPr id="10" name="Module 6"/>
          <p:cNvSpPr/>
          <p:nvPr/>
        </p:nvSpPr>
        <p:spPr>
          <a:xfrm>
            <a:off x="3474720" y="342900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M6  Explainability</a:t>
            </a:r>
          </a:p>
          <a:p>
            <a:pPr algn="l" marL="0" indent="0">
              <a:spcAft>
                <a:spcPts val="400"/>
              </a:spcAft>
              <a:buNone/>
            </a:pPr>
            <a:r>
              <a:rPr sz="1400" b="0" i="0">
                <a:solidFill>
                  <a:srgbClr val="1A1A1A"/>
                </a:solidFill>
                <a:latin typeface="Arial"/>
                <a:cs typeface="Arial"/>
                <a:ea typeface="Arial"/>
              </a:rPr>
              <a:t>Grouped KernelSHAP on the trained model; neighbour and window sensitivity</a:t>
            </a:r>
          </a:p>
        </p:txBody>
      </p:sp>
      <p:sp>
        <p:nvSpPr>
          <p:cNvPr id="11" name="Module 7"/>
          <p:cNvSpPr/>
          <p:nvPr/>
        </p:nvSpPr>
        <p:spPr>
          <a:xfrm>
            <a:off x="6492240" y="342900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M7  Knowledge &amp; RAG</a:t>
            </a:r>
          </a:p>
          <a:p>
            <a:pPr algn="l" marL="0" indent="0">
              <a:spcAft>
                <a:spcPts val="400"/>
              </a:spcAft>
              <a:buNone/>
            </a:pPr>
            <a:r>
              <a:rPr sz="1400" b="0" i="0">
                <a:solidFill>
                  <a:srgbClr val="1A1A1A"/>
                </a:solidFill>
                <a:latin typeface="Arial"/>
                <a:cs typeface="Arial"/>
                <a:ea typeface="Arial"/>
              </a:rPr>
              <a:t>15 approved documents, MiniLM embeddings, FAISS index</a:t>
            </a:r>
          </a:p>
        </p:txBody>
      </p:sp>
      <p:sp>
        <p:nvSpPr>
          <p:cNvPr id="12" name="Module 8"/>
          <p:cNvSpPr/>
          <p:nvPr/>
        </p:nvSpPr>
        <p:spPr>
          <a:xfrm>
            <a:off x="9509759" y="342900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M8  LLM agent</a:t>
            </a:r>
          </a:p>
          <a:p>
            <a:pPr algn="l" marL="0" indent="0">
              <a:spcAft>
                <a:spcPts val="400"/>
              </a:spcAft>
              <a:buNone/>
            </a:pPr>
            <a:r>
              <a:rPr sz="1400" b="0" i="0">
                <a:solidFill>
                  <a:srgbClr val="1A1A1A"/>
                </a:solidFill>
                <a:latin typeface="Arial"/>
                <a:cs typeface="Arial"/>
                <a:ea typeface="Arial"/>
              </a:rPr>
              <a:t>LangGraph workflow; local qwen2.5 7B via Ollama; schema-validated JSON</a:t>
            </a:r>
          </a:p>
        </p:txBody>
      </p:sp>
      <p:sp>
        <p:nvSpPr>
          <p:cNvPr id="13" name="Module 9"/>
          <p:cNvSpPr/>
          <p:nvPr/>
        </p:nvSpPr>
        <p:spPr>
          <a:xfrm>
            <a:off x="457200" y="507492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M9  Safety constraints</a:t>
            </a:r>
          </a:p>
          <a:p>
            <a:pPr algn="l" marL="0" indent="0">
              <a:spcAft>
                <a:spcPts val="400"/>
              </a:spcAft>
              <a:buNone/>
            </a:pPr>
            <a:r>
              <a:rPr sz="1400" b="0" i="0">
                <a:solidFill>
                  <a:srgbClr val="1A1A1A"/>
                </a:solidFill>
                <a:latin typeface="Arial"/>
                <a:cs typeface="Arial"/>
                <a:ea typeface="Arial"/>
              </a:rPr>
              <a:t>13 deterministic checks; protected TraCI signal controller</a:t>
            </a:r>
          </a:p>
        </p:txBody>
      </p:sp>
      <p:sp>
        <p:nvSpPr>
          <p:cNvPr id="14" name="Module 10"/>
          <p:cNvSpPr/>
          <p:nvPr/>
        </p:nvSpPr>
        <p:spPr>
          <a:xfrm>
            <a:off x="3474720" y="507492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M10  Simulation</a:t>
            </a:r>
          </a:p>
          <a:p>
            <a:pPr algn="l" marL="0" indent="0">
              <a:spcAft>
                <a:spcPts val="400"/>
              </a:spcAft>
              <a:buNone/>
            </a:pPr>
            <a:r>
              <a:rPr sz="1400" b="0" i="0">
                <a:solidFill>
                  <a:srgbClr val="1A1A1A"/>
                </a:solidFill>
                <a:latin typeface="Arial"/>
                <a:cs typeface="Arial"/>
                <a:ea typeface="Arial"/>
              </a:rPr>
              <a:t>SUMO 1.28 West Street corridor; matched seeds; testbed audit</a:t>
            </a:r>
          </a:p>
        </p:txBody>
      </p:sp>
      <p:sp>
        <p:nvSpPr>
          <p:cNvPr id="15" name="Module 11"/>
          <p:cNvSpPr/>
          <p:nvPr/>
        </p:nvSpPr>
        <p:spPr>
          <a:xfrm>
            <a:off x="6492240" y="507492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M11  Services</a:t>
            </a:r>
          </a:p>
          <a:p>
            <a:pPr algn="l" marL="0" indent="0">
              <a:spcAft>
                <a:spcPts val="400"/>
              </a:spcAft>
              <a:buNone/>
            </a:pPr>
            <a:r>
              <a:rPr sz="1400" b="0" i="0">
                <a:solidFill>
                  <a:srgbClr val="1A1A1A"/>
                </a:solidFill>
                <a:latin typeface="Arial"/>
                <a:cs typeface="Arial"/>
                <a:ea typeface="Arial"/>
              </a:rPr>
              <a:t>FastAPI, PostgreSQL/PostGIS job queue, worker, Streamlit dashboard</a:t>
            </a:r>
          </a:p>
        </p:txBody>
      </p:sp>
      <p:sp>
        <p:nvSpPr>
          <p:cNvPr id="16" name="Module 12"/>
          <p:cNvSpPr/>
          <p:nvPr/>
        </p:nvSpPr>
        <p:spPr>
          <a:xfrm>
            <a:off x="9509759" y="507492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M12  Tracking &amp; reporting</a:t>
            </a:r>
          </a:p>
          <a:p>
            <a:pPr algn="l" marL="0" indent="0">
              <a:spcAft>
                <a:spcPts val="400"/>
              </a:spcAft>
              <a:buNone/>
            </a:pPr>
            <a:r>
              <a:rPr sz="1400" b="0" i="0">
                <a:solidFill>
                  <a:srgbClr val="1A1A1A"/>
                </a:solidFill>
                <a:latin typeface="Arial"/>
                <a:cs typeface="Arial"/>
                <a:ea typeface="Arial"/>
              </a:rPr>
              <a:t>MLflow, evidence registry, claims ledger, paper tables from artifacts</a:t>
            </a:r>
          </a:p>
        </p:txBody>
      </p:sp>
    </p:spTree>
    <p:extLst>
      <p:ext uri="{BB962C8B-B14F-4D97-AF65-F5344CB8AC3E}">
        <p14:creationId xmlns:p14="http://schemas.microsoft.com/office/powerpoint/2010/main" val="28553621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SYSTEM ARCHITECTURE</a:t>
            </a:r>
          </a:p>
        </p:txBody>
      </p:sp>
      <p:sp>
        <p:nvSpPr>
          <p:cNvPr id="4" name="Slide Number Placeholder 3"/>
          <p:cNvSpPr>
            <a:spLocks noGrp="1"/>
          </p:cNvSpPr>
          <p:nvPr>
            <p:ph type="sldNum" sz="quarter" idx="12"/>
          </p:nvPr>
        </p:nvSpPr>
        <p:spPr/>
        <p:txBody>
          <a:bodyPr/>
          <a:lstStyle/>
          <a:p>
            <a:fld id="{C02A2637-A5A3-49FA-B214-6E67543099EF}" type="slidenum">
              <a:rPr lang="en-US" smtClean="0"/>
              <a:t>11</a:t>
            </a:fld>
            <a:endParaRPr lang="en-US"/>
          </a:p>
        </p:txBody>
      </p:sp>
      <p:sp>
        <p:nvSpPr>
          <p:cNvPr id="5" name="Arch stage 1"/>
          <p:cNvSpPr/>
          <p:nvPr/>
        </p:nvSpPr>
        <p:spPr>
          <a:xfrm>
            <a:off x="457200" y="1783080"/>
            <a:ext cx="2157984" cy="1051560"/>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500" b="1" i="0">
                <a:solidFill>
                  <a:srgbClr val="FFFFFF"/>
                </a:solidFill>
                <a:latin typeface="Times New Roman"/>
                <a:cs typeface="Times New Roman"/>
                <a:ea typeface="Times New Roman"/>
              </a:rPr>
              <a:t>Public data sources</a:t>
            </a:r>
          </a:p>
          <a:p>
            <a:pPr algn="ctr" marL="0" indent="0">
              <a:spcAft>
                <a:spcPts val="0"/>
              </a:spcAft>
              <a:buNone/>
            </a:pPr>
            <a:r>
              <a:rPr sz="1200" b="0" i="0">
                <a:solidFill>
                  <a:srgbClr val="FFFFFF"/>
                </a:solidFill>
                <a:latin typeface="Times New Roman"/>
                <a:cs typeface="Times New Roman"/>
                <a:ea typeface="Times New Roman"/>
              </a:rPr>
              <a:t>(NYC DOT, ATR, 311, events, Open-Meteo, OSM)</a:t>
            </a:r>
          </a:p>
        </p:txBody>
      </p:sp>
      <p:sp>
        <p:nvSpPr>
          <p:cNvPr id="6" name="Arch stage 2"/>
          <p:cNvSpPr/>
          <p:nvPr/>
        </p:nvSpPr>
        <p:spPr>
          <a:xfrm>
            <a:off x="2889503" y="1783080"/>
            <a:ext cx="2157984" cy="1051560"/>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500" b="1" i="0">
                <a:solidFill>
                  <a:srgbClr val="FFFFFF"/>
                </a:solidFill>
                <a:latin typeface="Times New Roman"/>
                <a:cs typeface="Times New Roman"/>
                <a:ea typeface="Times New Roman"/>
              </a:rPr>
              <a:t>Ingestion &amp;</a:t>
            </a:r>
          </a:p>
          <a:p>
            <a:pPr algn="ctr" marL="0" indent="0">
              <a:spcAft>
                <a:spcPts val="0"/>
              </a:spcAft>
              <a:buNone/>
            </a:pPr>
            <a:r>
              <a:rPr sz="1200" b="0" i="0">
                <a:solidFill>
                  <a:srgbClr val="FFFFFF"/>
                </a:solidFill>
                <a:latin typeface="Times New Roman"/>
                <a:cs typeface="Times New Roman"/>
                <a:ea typeface="Times New Roman"/>
              </a:rPr>
              <a:t>provenance</a:t>
            </a:r>
          </a:p>
        </p:txBody>
      </p:sp>
      <p:cxnSp>
        <p:nvCxnSpPr>
          <p:cNvPr id="7" name="Connector 6"/>
          <p:cNvCxnSpPr/>
          <p:nvPr/>
        </p:nvCxnSpPr>
        <p:spPr>
          <a:xfrm>
            <a:off x="2633472" y="2308860"/>
            <a:ext cx="237743"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Arch stage 3"/>
          <p:cNvSpPr/>
          <p:nvPr/>
        </p:nvSpPr>
        <p:spPr>
          <a:xfrm>
            <a:off x="5321807" y="1783080"/>
            <a:ext cx="2157984" cy="1051560"/>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500" b="1" i="0">
                <a:solidFill>
                  <a:srgbClr val="FFFFFF"/>
                </a:solidFill>
                <a:latin typeface="Times New Roman"/>
                <a:cs typeface="Times New Roman"/>
                <a:ea typeface="Times New Roman"/>
              </a:rPr>
              <a:t>Preprocessing &amp;</a:t>
            </a:r>
          </a:p>
          <a:p>
            <a:pPr algn="ctr" marL="0" indent="0">
              <a:spcAft>
                <a:spcPts val="0"/>
              </a:spcAft>
              <a:buNone/>
            </a:pPr>
            <a:r>
              <a:rPr sz="1200" b="0" i="0">
                <a:solidFill>
                  <a:srgbClr val="FFFFFF"/>
                </a:solidFill>
                <a:latin typeface="Times New Roman"/>
                <a:cs typeface="Times New Roman"/>
                <a:ea typeface="Times New Roman"/>
              </a:rPr>
              <a:t>causal features</a:t>
            </a:r>
          </a:p>
        </p:txBody>
      </p:sp>
      <p:cxnSp>
        <p:nvCxnSpPr>
          <p:cNvPr id="9" name="Connector 8"/>
          <p:cNvCxnSpPr/>
          <p:nvPr/>
        </p:nvCxnSpPr>
        <p:spPr>
          <a:xfrm>
            <a:off x="5065775" y="2308860"/>
            <a:ext cx="237745"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Arch stage 4"/>
          <p:cNvSpPr/>
          <p:nvPr/>
        </p:nvSpPr>
        <p:spPr>
          <a:xfrm>
            <a:off x="7754111" y="1783080"/>
            <a:ext cx="2157984" cy="1051560"/>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500" b="1" i="0">
                <a:solidFill>
                  <a:srgbClr val="FFFFFF"/>
                </a:solidFill>
                <a:latin typeface="Times New Roman"/>
                <a:cs typeface="Times New Roman"/>
                <a:ea typeface="Times New Roman"/>
              </a:rPr>
              <a:t>Directed road graph</a:t>
            </a:r>
          </a:p>
          <a:p>
            <a:pPr algn="ctr" marL="0" indent="0">
              <a:spcAft>
                <a:spcPts val="0"/>
              </a:spcAft>
              <a:buNone/>
            </a:pPr>
            <a:r>
              <a:rPr sz="1200" b="0" i="0">
                <a:solidFill>
                  <a:srgbClr val="FFFFFF"/>
                </a:solidFill>
                <a:latin typeface="Times New Roman"/>
                <a:cs typeface="Times New Roman"/>
                <a:ea typeface="Times New Roman"/>
              </a:rPr>
              <a:t>(PyG Temporal)</a:t>
            </a:r>
          </a:p>
        </p:txBody>
      </p:sp>
      <p:cxnSp>
        <p:nvCxnSpPr>
          <p:cNvPr id="11" name="Connector 10"/>
          <p:cNvCxnSpPr/>
          <p:nvPr/>
        </p:nvCxnSpPr>
        <p:spPr>
          <a:xfrm>
            <a:off x="7498079" y="2308860"/>
            <a:ext cx="237744"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Arch stage 5"/>
          <p:cNvSpPr/>
          <p:nvPr/>
        </p:nvSpPr>
        <p:spPr>
          <a:xfrm>
            <a:off x="10186415" y="1783080"/>
            <a:ext cx="2157984" cy="1051560"/>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500" b="1" i="0">
                <a:solidFill>
                  <a:srgbClr val="FFFFFF"/>
                </a:solidFill>
                <a:latin typeface="Times New Roman"/>
                <a:cs typeface="Times New Roman"/>
                <a:ea typeface="Times New Roman"/>
              </a:rPr>
              <a:t>Forecasting</a:t>
            </a:r>
          </a:p>
          <a:p>
            <a:pPr algn="ctr" marL="0" indent="0">
              <a:spcAft>
                <a:spcPts val="0"/>
              </a:spcAft>
              <a:buNone/>
            </a:pPr>
            <a:r>
              <a:rPr sz="1200" b="0" i="0">
                <a:solidFill>
                  <a:srgbClr val="FFFFFF"/>
                </a:solidFill>
                <a:latin typeface="Times New Roman"/>
                <a:cs typeface="Times New Roman"/>
                <a:ea typeface="Times New Roman"/>
              </a:rPr>
              <a:t>(GATv2–Transformer)</a:t>
            </a:r>
          </a:p>
        </p:txBody>
      </p:sp>
      <p:cxnSp>
        <p:nvCxnSpPr>
          <p:cNvPr id="13" name="Connector 12"/>
          <p:cNvCxnSpPr/>
          <p:nvPr/>
        </p:nvCxnSpPr>
        <p:spPr>
          <a:xfrm>
            <a:off x="9930383" y="2308860"/>
            <a:ext cx="237745"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Advisory stage 1"/>
          <p:cNvSpPr/>
          <p:nvPr/>
        </p:nvSpPr>
        <p:spPr>
          <a:xfrm>
            <a:off x="457200" y="3429000"/>
            <a:ext cx="1764792" cy="1051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400" b="1" i="0">
                <a:solidFill>
                  <a:srgbClr val="1F497D"/>
                </a:solidFill>
                <a:latin typeface="Times New Roman"/>
                <a:cs typeface="Times New Roman"/>
                <a:ea typeface="Times New Roman"/>
              </a:rPr>
              <a:t>Conformal intervals</a:t>
            </a:r>
          </a:p>
          <a:p>
            <a:pPr algn="ctr" marL="0" indent="0">
              <a:spcAft>
                <a:spcPts val="0"/>
              </a:spcAft>
              <a:buNone/>
            </a:pPr>
            <a:r>
              <a:rPr sz="1200" b="0" i="0">
                <a:solidFill>
                  <a:srgbClr val="1F497D"/>
                </a:solidFill>
                <a:latin typeface="Times New Roman"/>
                <a:cs typeface="Times New Roman"/>
                <a:ea typeface="Times New Roman"/>
              </a:rPr>
              <a:t>&amp; reliability gate</a:t>
            </a:r>
          </a:p>
        </p:txBody>
      </p:sp>
      <p:sp>
        <p:nvSpPr>
          <p:cNvPr id="15" name="Advisory stage 2"/>
          <p:cNvSpPr/>
          <p:nvPr/>
        </p:nvSpPr>
        <p:spPr>
          <a:xfrm>
            <a:off x="2481681" y="3429000"/>
            <a:ext cx="1764792" cy="1051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400" b="1" i="0">
                <a:solidFill>
                  <a:srgbClr val="1F497D"/>
                </a:solidFill>
                <a:latin typeface="Times New Roman"/>
                <a:cs typeface="Times New Roman"/>
                <a:ea typeface="Times New Roman"/>
              </a:rPr>
              <a:t>SHAP explanation</a:t>
            </a:r>
          </a:p>
          <a:p>
            <a:pPr algn="ctr" marL="0" indent="0">
              <a:spcAft>
                <a:spcPts val="0"/>
              </a:spcAft>
              <a:buNone/>
            </a:pPr>
            <a:r>
              <a:rPr sz="1200" b="0" i="0">
                <a:solidFill>
                  <a:srgbClr val="1F497D"/>
                </a:solidFill>
                <a:latin typeface="Times New Roman"/>
                <a:cs typeface="Times New Roman"/>
                <a:ea typeface="Times New Roman"/>
              </a:rPr>
              <a:t>&amp; FAISS retrieval</a:t>
            </a:r>
          </a:p>
        </p:txBody>
      </p:sp>
      <p:cxnSp>
        <p:nvCxnSpPr>
          <p:cNvPr id="16" name="Connector 15"/>
          <p:cNvCxnSpPr/>
          <p:nvPr/>
        </p:nvCxnSpPr>
        <p:spPr>
          <a:xfrm>
            <a:off x="2240280" y="3954780"/>
            <a:ext cx="223113"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Advisory stage 3"/>
          <p:cNvSpPr/>
          <p:nvPr/>
        </p:nvSpPr>
        <p:spPr>
          <a:xfrm>
            <a:off x="4506163" y="3429000"/>
            <a:ext cx="1764792" cy="1051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400" b="1" i="0">
                <a:solidFill>
                  <a:srgbClr val="1F497D"/>
                </a:solidFill>
                <a:latin typeface="Times New Roman"/>
                <a:cs typeface="Times New Roman"/>
                <a:ea typeface="Times New Roman"/>
              </a:rPr>
              <a:t>LLM recommendation</a:t>
            </a:r>
          </a:p>
          <a:p>
            <a:pPr algn="ctr" marL="0" indent="0">
              <a:spcAft>
                <a:spcPts val="0"/>
              </a:spcAft>
              <a:buNone/>
            </a:pPr>
            <a:r>
              <a:rPr sz="1200" b="0" i="0">
                <a:solidFill>
                  <a:srgbClr val="1F497D"/>
                </a:solidFill>
                <a:latin typeface="Times New Roman"/>
                <a:cs typeface="Times New Roman"/>
                <a:ea typeface="Times New Roman"/>
              </a:rPr>
              <a:t>(qwen2.5 7B)</a:t>
            </a:r>
          </a:p>
        </p:txBody>
      </p:sp>
      <p:cxnSp>
        <p:nvCxnSpPr>
          <p:cNvPr id="18" name="Connector 17"/>
          <p:cNvCxnSpPr/>
          <p:nvPr/>
        </p:nvCxnSpPr>
        <p:spPr>
          <a:xfrm>
            <a:off x="4264761" y="3954780"/>
            <a:ext cx="223114"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Advisory stage 4"/>
          <p:cNvSpPr/>
          <p:nvPr/>
        </p:nvSpPr>
        <p:spPr>
          <a:xfrm>
            <a:off x="6530644" y="3429000"/>
            <a:ext cx="1764792" cy="1051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400" b="1" i="0">
                <a:solidFill>
                  <a:srgbClr val="1F497D"/>
                </a:solidFill>
                <a:latin typeface="Times New Roman"/>
                <a:cs typeface="Times New Roman"/>
                <a:ea typeface="Times New Roman"/>
              </a:rPr>
              <a:t>Deterministic safety</a:t>
            </a:r>
          </a:p>
          <a:p>
            <a:pPr algn="ctr" marL="0" indent="0">
              <a:spcAft>
                <a:spcPts val="0"/>
              </a:spcAft>
              <a:buNone/>
            </a:pPr>
            <a:r>
              <a:rPr sz="1200" b="0" i="0">
                <a:solidFill>
                  <a:srgbClr val="1F497D"/>
                </a:solidFill>
                <a:latin typeface="Times New Roman"/>
                <a:cs typeface="Times New Roman"/>
                <a:ea typeface="Times New Roman"/>
              </a:rPr>
              <a:t>constraints</a:t>
            </a:r>
          </a:p>
        </p:txBody>
      </p:sp>
      <p:cxnSp>
        <p:nvCxnSpPr>
          <p:cNvPr id="20" name="Connector 19"/>
          <p:cNvCxnSpPr/>
          <p:nvPr/>
        </p:nvCxnSpPr>
        <p:spPr>
          <a:xfrm>
            <a:off x="6289243" y="3954780"/>
            <a:ext cx="223113"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Advisory stage 5"/>
          <p:cNvSpPr/>
          <p:nvPr/>
        </p:nvSpPr>
        <p:spPr>
          <a:xfrm>
            <a:off x="8555126" y="3429000"/>
            <a:ext cx="1764792" cy="1051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400" b="1" i="0">
                <a:solidFill>
                  <a:srgbClr val="1F497D"/>
                </a:solidFill>
                <a:latin typeface="Times New Roman"/>
                <a:cs typeface="Times New Roman"/>
                <a:ea typeface="Times New Roman"/>
              </a:rPr>
              <a:t>SUMO / TraCI</a:t>
            </a:r>
          </a:p>
          <a:p>
            <a:pPr algn="ctr" marL="0" indent="0">
              <a:spcAft>
                <a:spcPts val="0"/>
              </a:spcAft>
              <a:buNone/>
            </a:pPr>
            <a:r>
              <a:rPr sz="1200" b="0" i="0">
                <a:solidFill>
                  <a:srgbClr val="1F497D"/>
                </a:solidFill>
                <a:latin typeface="Times New Roman"/>
                <a:cs typeface="Times New Roman"/>
                <a:ea typeface="Times New Roman"/>
              </a:rPr>
              <a:t>simulation gate</a:t>
            </a:r>
          </a:p>
        </p:txBody>
      </p:sp>
      <p:cxnSp>
        <p:nvCxnSpPr>
          <p:cNvPr id="22" name="Connector 21"/>
          <p:cNvCxnSpPr/>
          <p:nvPr/>
        </p:nvCxnSpPr>
        <p:spPr>
          <a:xfrm>
            <a:off x="8313724" y="3954780"/>
            <a:ext cx="223114"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Advisory stage 6"/>
          <p:cNvSpPr/>
          <p:nvPr/>
        </p:nvSpPr>
        <p:spPr>
          <a:xfrm>
            <a:off x="10579608" y="3429000"/>
            <a:ext cx="1764792" cy="1051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400" b="1" i="0">
                <a:solidFill>
                  <a:srgbClr val="1F497D"/>
                </a:solidFill>
                <a:latin typeface="Times New Roman"/>
                <a:cs typeface="Times New Roman"/>
                <a:ea typeface="Times New Roman"/>
              </a:rPr>
              <a:t>Human review</a:t>
            </a:r>
          </a:p>
          <a:p>
            <a:pPr algn="ctr" marL="0" indent="0">
              <a:spcAft>
                <a:spcPts val="0"/>
              </a:spcAft>
              <a:buNone/>
            </a:pPr>
            <a:r>
              <a:rPr sz="1200" b="0" i="0">
                <a:solidFill>
                  <a:srgbClr val="1F497D"/>
                </a:solidFill>
                <a:latin typeface="Times New Roman"/>
                <a:cs typeface="Times New Roman"/>
                <a:ea typeface="Times New Roman"/>
              </a:rPr>
              <a:t>(simulation only)</a:t>
            </a:r>
          </a:p>
        </p:txBody>
      </p:sp>
      <p:cxnSp>
        <p:nvCxnSpPr>
          <p:cNvPr id="24" name="Connector 23"/>
          <p:cNvCxnSpPr/>
          <p:nvPr/>
        </p:nvCxnSpPr>
        <p:spPr>
          <a:xfrm>
            <a:off x="10338206" y="3954780"/>
            <a:ext cx="223114"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1265407" y="2843784"/>
            <a:ext cx="0" cy="283464"/>
          </a:xfrm>
          <a:prstGeom prst="line">
            <a:avLst/>
          </a:prstGeom>
          <a:ln w="22225">
            <a:solidFill>
              <a:srgbClr val="1F497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1339595" y="3127248"/>
            <a:ext cx="9925812" cy="0"/>
          </a:xfrm>
          <a:prstGeom prst="line">
            <a:avLst/>
          </a:prstGeom>
          <a:ln w="22225">
            <a:solidFill>
              <a:srgbClr val="1F497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339595" y="3127248"/>
            <a:ext cx="0" cy="283464"/>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Data flow"/>
          <p:cNvSpPr/>
          <p:nvPr/>
        </p:nvSpPr>
        <p:spPr>
          <a:xfrm>
            <a:off x="457200" y="4754880"/>
            <a:ext cx="5806440" cy="19202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l" marL="0" indent="0">
              <a:spcAft>
                <a:spcPts val="400"/>
              </a:spcAft>
              <a:buNone/>
            </a:pPr>
            <a:r>
              <a:rPr sz="1600" b="1" i="0">
                <a:solidFill>
                  <a:srgbClr val="1F497D"/>
                </a:solidFill>
                <a:latin typeface="Times New Roman"/>
                <a:cs typeface="Times New Roman"/>
                <a:ea typeface="Times New Roman"/>
              </a:rPr>
              <a:t>Data flow</a:t>
            </a:r>
          </a:p>
          <a:p>
            <a:pPr algn="l" marL="0" indent="0">
              <a:spcAft>
                <a:spcPts val="400"/>
              </a:spcAft>
              <a:buNone/>
            </a:pPr>
            <a:r>
              <a:rPr sz="1400" b="0" i="0">
                <a:solidFill>
                  <a:srgbClr val="1A1A1A"/>
                </a:solidFill>
                <a:latin typeface="Times New Roman"/>
                <a:cs typeface="Times New Roman"/>
                <a:ea typeface="Times New Roman"/>
              </a:rPr>
              <a:t>Raw API responses stored verbatim with hashes → 5-minute grid per link → windows of 24 steps × nodes × features → forecasts with 90 % intervals → advisory state in LangGraph → decision and audit trail persisted in PostgreSQL/PostGIS; every run logged in MLflow.</a:t>
            </a:r>
          </a:p>
        </p:txBody>
      </p:sp>
      <p:sp>
        <p:nvSpPr>
          <p:cNvPr id="29" name="Technology stack"/>
          <p:cNvSpPr/>
          <p:nvPr/>
        </p:nvSpPr>
        <p:spPr>
          <a:xfrm>
            <a:off x="6537960" y="4754880"/>
            <a:ext cx="5806440" cy="19202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l" marL="0" indent="0">
              <a:spcAft>
                <a:spcPts val="400"/>
              </a:spcAft>
              <a:buNone/>
            </a:pPr>
            <a:r>
              <a:rPr sz="1600" b="1" i="0">
                <a:solidFill>
                  <a:srgbClr val="1F497D"/>
                </a:solidFill>
                <a:latin typeface="Times New Roman"/>
                <a:cs typeface="Times New Roman"/>
                <a:ea typeface="Times New Roman"/>
              </a:rPr>
              <a:t>Technology stack</a:t>
            </a:r>
          </a:p>
          <a:p>
            <a:pPr algn="l" marL="0" indent="0">
              <a:spcAft>
                <a:spcPts val="400"/>
              </a:spcAft>
              <a:buNone/>
            </a:pPr>
            <a:r>
              <a:rPr sz="1400" b="0" i="0">
                <a:solidFill>
                  <a:srgbClr val="1A1A1A"/>
                </a:solidFill>
                <a:latin typeface="Times New Roman"/>
                <a:cs typeface="Times New Roman"/>
                <a:ea typeface="Times New Roman"/>
              </a:rPr>
              <a:t>Python 3.12 · Pandas/Polars · PyTorch + PyTorch Geometric + PyG Temporal · XGBoost/LightGBM · SHAP · sentence-transformers + FAISS · Ollama (qwen2.5:7b) · LangGraph · SUMO 1.28 / TraCI · FastAPI · Streamlit · PostgreSQL/PostGIS · MLflow · Docker Compose · Pytest</a:t>
            </a:r>
          </a:p>
        </p:txBody>
      </p:sp>
    </p:spTree>
    <p:extLst>
      <p:ext uri="{BB962C8B-B14F-4D97-AF65-F5344CB8AC3E}">
        <p14:creationId xmlns:p14="http://schemas.microsoft.com/office/powerpoint/2010/main" val="13808257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14F7B-448F-5933-E4F5-9F6656ACE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BB1540-D08A-936D-657B-2CA7AA0EF4A8}"/>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DEVELOPMENT &amp; INTEGRATION</a:t>
            </a:r>
          </a:p>
        </p:txBody>
      </p:sp>
      <p:sp>
        <p:nvSpPr>
          <p:cNvPr id="4" name="Slide Number Placeholder 3">
            <a:extLst>
              <a:ext uri="{FF2B5EF4-FFF2-40B4-BE49-F238E27FC236}">
                <a16:creationId xmlns:a16="http://schemas.microsoft.com/office/drawing/2014/main" id="{E6869C87-894B-EA46-CE5B-2DDA46DB8C2C}"/>
              </a:ext>
            </a:extLst>
          </p:cNvPr>
          <p:cNvSpPr>
            <a:spLocks noGrp="1"/>
          </p:cNvSpPr>
          <p:nvPr>
            <p:ph type="sldNum" sz="quarter" idx="12"/>
          </p:nvPr>
        </p:nvSpPr>
        <p:spPr/>
        <p:txBody>
          <a:bodyPr/>
          <a:lstStyle/>
          <a:p>
            <a:fld id="{C02A2637-A5A3-49FA-B214-6E67543099EF}" type="slidenum">
              <a:rPr lang="en-US" smtClean="0"/>
              <a:t>12</a:t>
            </a:fld>
            <a:endParaRPr lang="en-US"/>
          </a:p>
        </p:txBody>
      </p:sp>
      <p:sp>
        <p:nvSpPr>
          <p:cNvPr id="5" name="Implementation of modules"/>
          <p:cNvSpPr/>
          <p:nvPr/>
        </p:nvSpPr>
        <p:spPr>
          <a:xfrm>
            <a:off x="457200" y="1783080"/>
            <a:ext cx="3429000" cy="4892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46304" rIns="146304" tIns="146304" bIns="146304" wrap="square"/>
          <a:lstStyle/>
          <a:p>
            <a:pPr algn="l" marL="0" indent="0">
              <a:spcAft>
                <a:spcPts val="800"/>
              </a:spcAft>
              <a:buNone/>
            </a:pPr>
            <a:r>
              <a:rPr sz="1800" b="1" i="0">
                <a:solidFill>
                  <a:srgbClr val="1F497D"/>
                </a:solidFill>
                <a:latin typeface="Times New Roman"/>
                <a:cs typeface="Times New Roman"/>
                <a:ea typeface="Times New Roman"/>
              </a:rPr>
              <a:t>Implementation of modules</a:t>
            </a:r>
          </a:p>
          <a:p>
            <a:pPr algn="l" marL="0" indent="0">
              <a:spcAft>
                <a:spcPts val="800"/>
              </a:spcAft>
              <a:buNone/>
            </a:pPr>
            <a:r>
              <a:rPr sz="1500" b="0" i="0">
                <a:solidFill>
                  <a:srgbClr val="1A1A1A"/>
                </a:solidFill>
                <a:latin typeface="Times New Roman"/>
                <a:cs typeface="Times New Roman"/>
                <a:ea typeface="Times New Roman"/>
              </a:rPr>
              <a:t>One Python package with a staged command-line interface, YAML configuration and Pydantic contracts</a:t>
            </a:r>
          </a:p>
          <a:p>
            <a:pPr algn="l" marL="0" indent="0">
              <a:spcAft>
                <a:spcPts val="800"/>
              </a:spcAft>
              <a:buNone/>
            </a:pPr>
            <a:r>
              <a:rPr sz="1500" b="0" i="0">
                <a:solidFill>
                  <a:srgbClr val="1A1A1A"/>
                </a:solidFill>
                <a:latin typeface="Times New Roman"/>
                <a:cs typeface="Times New Roman"/>
                <a:ea typeface="Times New Roman"/>
              </a:rPr>
              <a:t>Every stage writes artifacts with run IDs and SHA-256 hashes</a:t>
            </a:r>
          </a:p>
          <a:p>
            <a:pPr algn="l" marL="0" indent="0">
              <a:spcAft>
                <a:spcPts val="800"/>
              </a:spcAft>
              <a:buNone/>
            </a:pPr>
            <a:r>
              <a:rPr sz="1500" b="0" i="0">
                <a:solidFill>
                  <a:srgbClr val="1A1A1A"/>
                </a:solidFill>
                <a:latin typeface="Times New Roman"/>
                <a:cs typeface="Times New Roman"/>
                <a:ea typeface="Times New Roman"/>
              </a:rPr>
              <a:t>The same code path runs the smoke tests and the full experiment</a:t>
            </a:r>
          </a:p>
        </p:txBody>
      </p:sp>
      <p:sp>
        <p:nvSpPr>
          <p:cNvPr id="6" name="Integration strategy"/>
          <p:cNvSpPr/>
          <p:nvPr/>
        </p:nvSpPr>
        <p:spPr>
          <a:xfrm>
            <a:off x="4114800" y="1783080"/>
            <a:ext cx="3429000" cy="4892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46304" rIns="146304" tIns="146304" bIns="146304" wrap="square"/>
          <a:lstStyle/>
          <a:p>
            <a:pPr algn="l" marL="0" indent="0">
              <a:spcAft>
                <a:spcPts val="800"/>
              </a:spcAft>
              <a:buNone/>
            </a:pPr>
            <a:r>
              <a:rPr sz="1800" b="1" i="0">
                <a:solidFill>
                  <a:srgbClr val="1F497D"/>
                </a:solidFill>
                <a:latin typeface="Times New Roman"/>
                <a:cs typeface="Times New Roman"/>
                <a:ea typeface="Times New Roman"/>
              </a:rPr>
              <a:t>Integration strategy</a:t>
            </a:r>
          </a:p>
          <a:p>
            <a:pPr algn="l" marL="0" indent="0">
              <a:spcAft>
                <a:spcPts val="800"/>
              </a:spcAft>
              <a:buNone/>
            </a:pPr>
            <a:r>
              <a:rPr sz="1500" b="0" i="0">
                <a:solidFill>
                  <a:srgbClr val="1A1A1A"/>
                </a:solidFill>
                <a:latin typeface="Times New Roman"/>
                <a:cs typeface="Times New Roman"/>
                <a:ea typeface="Times New Roman"/>
              </a:rPr>
              <a:t>Shared contracts frozen first: forecast, uncertainty, evidence, candidate action, decision</a:t>
            </a:r>
          </a:p>
          <a:p>
            <a:pPr algn="l" marL="0" indent="0">
              <a:spcAft>
                <a:spcPts val="800"/>
              </a:spcAft>
              <a:buNone/>
            </a:pPr>
            <a:r>
              <a:rPr sz="1500" b="0" i="0">
                <a:solidFill>
                  <a:srgbClr val="1A1A1A"/>
                </a:solidFill>
                <a:latin typeface="Times New Roman"/>
                <a:cs typeface="Times New Roman"/>
                <a:ea typeface="Times New Roman"/>
              </a:rPr>
              <a:t>A stage runner executes the real-data pipeline in fixed order with a stage log</a:t>
            </a:r>
          </a:p>
          <a:p>
            <a:pPr algn="l" marL="0" indent="0">
              <a:spcAft>
                <a:spcPts val="800"/>
              </a:spcAft>
              <a:buNone/>
            </a:pPr>
            <a:r>
              <a:rPr sz="1500" b="0" i="0">
                <a:solidFill>
                  <a:srgbClr val="1A1A1A"/>
                </a:solidFill>
                <a:latin typeface="Times New Roman"/>
                <a:cs typeface="Times New Roman"/>
                <a:ea typeface="Times New Roman"/>
              </a:rPr>
              <a:t>Only the recommendation node calls the LLM; every gate is deterministic code</a:t>
            </a:r>
          </a:p>
          <a:p>
            <a:pPr algn="l" marL="0" indent="0">
              <a:spcAft>
                <a:spcPts val="800"/>
              </a:spcAft>
              <a:buNone/>
            </a:pPr>
            <a:r>
              <a:rPr sz="1500" b="0" i="0">
                <a:solidFill>
                  <a:srgbClr val="1A1A1A"/>
                </a:solidFill>
                <a:latin typeface="Times New Roman"/>
                <a:cs typeface="Times New Roman"/>
                <a:ea typeface="Times New Roman"/>
              </a:rPr>
              <a:t>112 automated tests: unit, leakage, safety, integration, end-to-end (CI, 2026-10-28)</a:t>
            </a:r>
          </a:p>
        </p:txBody>
      </p:sp>
      <p:sp>
        <p:nvSpPr>
          <p:cNvPr id="7" name="TextBox 6"/>
          <p:cNvSpPr txBox="1"/>
          <p:nvPr/>
        </p:nvSpPr>
        <p:spPr>
          <a:xfrm>
            <a:off x="7772400" y="1783080"/>
            <a:ext cx="4572000" cy="411480"/>
          </a:xfrm>
          <a:prstGeom prst="rect">
            <a:avLst/>
          </a:prstGeom>
          <a:noFill/>
        </p:spPr>
        <p:txBody>
          <a:bodyPr wrap="square" lIns="18288" rIns="18288" tIns="18288" bIns="18288" anchor="t"/>
          <a:lstStyle/>
          <a:p>
            <a:pPr algn="l" marL="0" indent="0">
              <a:spcAft>
                <a:spcPts val="0"/>
              </a:spcAft>
              <a:buNone/>
            </a:pPr>
            <a:r>
              <a:rPr sz="1800" b="1" i="0">
                <a:solidFill>
                  <a:srgbClr val="1F497D"/>
                </a:solidFill>
                <a:latin typeface="Times New Roman"/>
                <a:cs typeface="Times New Roman"/>
                <a:ea typeface="Times New Roman"/>
              </a:rPr>
              <a:t>Challenges faced → solutions</a:t>
            </a:r>
          </a:p>
        </p:txBody>
      </p:sp>
      <p:sp>
        <p:nvSpPr>
          <p:cNvPr id="8" name="Challenge 1"/>
          <p:cNvSpPr txBox="1"/>
          <p:nvPr/>
        </p:nvSpPr>
        <p:spPr>
          <a:xfrm>
            <a:off x="7772400" y="2240280"/>
            <a:ext cx="4572000" cy="676656"/>
          </a:xfrm>
          <a:prstGeom prst="rect">
            <a:avLst/>
          </a:prstGeom>
          <a:noFill/>
        </p:spPr>
        <p:txBody>
          <a:bodyPr wrap="square" lIns="36576" rIns="36576" tIns="36576" bIns="36576" anchor="t"/>
          <a:lstStyle/>
          <a:p>
            <a:pPr algn="l" marL="0" indent="0">
              <a:spcAft>
                <a:spcPts val="100"/>
              </a:spcAft>
              <a:buNone/>
            </a:pPr>
            <a:r>
              <a:rPr sz="1400" b="1" i="0">
                <a:solidFill>
                  <a:srgbClr val="1A1A1A"/>
                </a:solidFill>
                <a:latin typeface="Times New Roman"/>
                <a:cs typeface="Times New Roman"/>
                <a:ea typeface="Times New Roman"/>
              </a:rPr>
              <a:t>7 of 26 links report zero speed all year</a:t>
            </a:r>
          </a:p>
          <a:p>
            <a:pPr algn="l" marL="0" indent="0">
              <a:spcAft>
                <a:spcPts val="100"/>
              </a:spcAft>
              <a:buNone/>
            </a:pPr>
            <a:r>
              <a:rPr sz="1400" b="0" i="0">
                <a:solidFill>
                  <a:srgbClr val="2E7D4F"/>
                </a:solidFill>
                <a:latin typeface="Times New Roman"/>
                <a:cs typeface="Times New Roman"/>
                <a:ea typeface="Times New Roman"/>
              </a:rPr>
              <a:t>→ treated as missing; 16 links kept by a train-coverage rule</a:t>
            </a:r>
          </a:p>
        </p:txBody>
      </p:sp>
      <p:sp>
        <p:nvSpPr>
          <p:cNvPr id="9" name="Challenge 2"/>
          <p:cNvSpPr txBox="1"/>
          <p:nvPr/>
        </p:nvSpPr>
        <p:spPr>
          <a:xfrm>
            <a:off x="7772400" y="2980944"/>
            <a:ext cx="4572000" cy="676656"/>
          </a:xfrm>
          <a:prstGeom prst="rect">
            <a:avLst/>
          </a:prstGeom>
          <a:noFill/>
        </p:spPr>
        <p:txBody>
          <a:bodyPr wrap="square" lIns="36576" rIns="36576" tIns="36576" bIns="36576" anchor="t"/>
          <a:lstStyle/>
          <a:p>
            <a:pPr algn="l" marL="0" indent="0">
              <a:spcAft>
                <a:spcPts val="100"/>
              </a:spcAft>
              <a:buNone/>
            </a:pPr>
            <a:r>
              <a:rPr sz="1400" b="1" i="0">
                <a:solidFill>
                  <a:srgbClr val="1A1A1A"/>
                </a:solidFill>
                <a:latin typeface="Times New Roman"/>
                <a:cs typeface="Times New Roman"/>
                <a:ea typeface="Times New Roman"/>
              </a:rPr>
              <a:t>DOT link geometries stop short of link ends</a:t>
            </a:r>
          </a:p>
          <a:p>
            <a:pPr algn="l" marL="0" indent="0">
              <a:spcAft>
                <a:spcPts val="100"/>
              </a:spcAft>
              <a:buNone/>
            </a:pPr>
            <a:r>
              <a:rPr sz="1400" b="0" i="0">
                <a:solidFill>
                  <a:srgbClr val="2E7D4F"/>
                </a:solidFill>
                <a:latin typeface="Times New Roman"/>
                <a:cs typeface="Times New Roman"/>
                <a:ea typeface="Times New Roman"/>
              </a:rPr>
              <a:t>→ three documented graph-edge rules</a:t>
            </a:r>
          </a:p>
        </p:txBody>
      </p:sp>
      <p:sp>
        <p:nvSpPr>
          <p:cNvPr id="10" name="Challenge 3"/>
          <p:cNvSpPr txBox="1"/>
          <p:nvPr/>
        </p:nvSpPr>
        <p:spPr>
          <a:xfrm>
            <a:off x="7772400" y="3721608"/>
            <a:ext cx="4572000" cy="676656"/>
          </a:xfrm>
          <a:prstGeom prst="rect">
            <a:avLst/>
          </a:prstGeom>
          <a:noFill/>
        </p:spPr>
        <p:txBody>
          <a:bodyPr wrap="square" lIns="36576" rIns="36576" tIns="36576" bIns="36576" anchor="t"/>
          <a:lstStyle/>
          <a:p>
            <a:pPr algn="l" marL="0" indent="0">
              <a:spcAft>
                <a:spcPts val="100"/>
              </a:spcAft>
              <a:buNone/>
            </a:pPr>
            <a:r>
              <a:rPr sz="1400" b="1" i="0">
                <a:solidFill>
                  <a:srgbClr val="1A1A1A"/>
                </a:solidFill>
                <a:latin typeface="Times New Roman"/>
                <a:cs typeface="Times New Roman"/>
                <a:ea typeface="Times New Roman"/>
              </a:rPr>
              <a:t>GRU crash with cuDNN on Windows/CUDA</a:t>
            </a:r>
          </a:p>
          <a:p>
            <a:pPr algn="l" marL="0" indent="0">
              <a:spcAft>
                <a:spcPts val="100"/>
              </a:spcAft>
              <a:buNone/>
            </a:pPr>
            <a:r>
              <a:rPr sz="1400" b="0" i="0">
                <a:solidFill>
                  <a:srgbClr val="2E7D4F"/>
                </a:solidFill>
                <a:latin typeface="Times New Roman"/>
                <a:cs typeface="Times New Roman"/>
                <a:ea typeface="Times New Roman"/>
              </a:rPr>
              <a:t>→ cuDNN disabled for GRU runs only</a:t>
            </a:r>
          </a:p>
        </p:txBody>
      </p:sp>
      <p:sp>
        <p:nvSpPr>
          <p:cNvPr id="11" name="Challenge 4"/>
          <p:cNvSpPr txBox="1"/>
          <p:nvPr/>
        </p:nvSpPr>
        <p:spPr>
          <a:xfrm>
            <a:off x="7772400" y="4462272"/>
            <a:ext cx="4572000" cy="676656"/>
          </a:xfrm>
          <a:prstGeom prst="rect">
            <a:avLst/>
          </a:prstGeom>
          <a:noFill/>
        </p:spPr>
        <p:txBody>
          <a:bodyPr wrap="square" lIns="36576" rIns="36576" tIns="36576" bIns="36576" anchor="t"/>
          <a:lstStyle/>
          <a:p>
            <a:pPr algn="l" marL="0" indent="0">
              <a:spcAft>
                <a:spcPts val="100"/>
              </a:spcAft>
              <a:buNone/>
            </a:pPr>
            <a:r>
              <a:rPr sz="1400" b="1" i="0">
                <a:solidFill>
                  <a:srgbClr val="1A1A1A"/>
                </a:solidFill>
                <a:latin typeface="Times New Roman"/>
                <a:cs typeface="Times New Roman"/>
                <a:ea typeface="Times New Roman"/>
              </a:rPr>
              <a:t>Bootstrap resampled 5-minute steps, not days</a:t>
            </a:r>
          </a:p>
          <a:p>
            <a:pPr algn="l" marL="0" indent="0">
              <a:spcAft>
                <a:spcPts val="100"/>
              </a:spcAft>
              <a:buNone/>
            </a:pPr>
            <a:r>
              <a:rPr sz="1400" b="0" i="0">
                <a:solidFill>
                  <a:srgbClr val="2E7D4F"/>
                </a:solidFill>
                <a:latin typeface="Times New Roman"/>
                <a:cs typeface="Times New Roman"/>
                <a:ea typeface="Times New Roman"/>
              </a:rPr>
              <a:t>→ unit fixed and ablations re-run</a:t>
            </a:r>
          </a:p>
        </p:txBody>
      </p:sp>
      <p:sp>
        <p:nvSpPr>
          <p:cNvPr id="12" name="Challenge 5"/>
          <p:cNvSpPr txBox="1"/>
          <p:nvPr/>
        </p:nvSpPr>
        <p:spPr>
          <a:xfrm>
            <a:off x="7772400" y="5202936"/>
            <a:ext cx="4572000" cy="676656"/>
          </a:xfrm>
          <a:prstGeom prst="rect">
            <a:avLst/>
          </a:prstGeom>
          <a:noFill/>
        </p:spPr>
        <p:txBody>
          <a:bodyPr wrap="square" lIns="36576" rIns="36576" tIns="36576" bIns="36576" anchor="t"/>
          <a:lstStyle/>
          <a:p>
            <a:pPr algn="l" marL="0" indent="0">
              <a:spcAft>
                <a:spcPts val="100"/>
              </a:spcAft>
              <a:buNone/>
            </a:pPr>
            <a:r>
              <a:rPr sz="1400" b="1" i="0">
                <a:solidFill>
                  <a:srgbClr val="1A1A1A"/>
                </a:solidFill>
                <a:latin typeface="Times New Roman"/>
                <a:cs typeface="Times New Roman"/>
                <a:ea typeface="Times New Roman"/>
              </a:rPr>
              <a:t>A missing field silently blocked every LLM call</a:t>
            </a:r>
          </a:p>
          <a:p>
            <a:pPr algn="l" marL="0" indent="0">
              <a:spcAft>
                <a:spcPts val="100"/>
              </a:spcAft>
              <a:buNone/>
            </a:pPr>
            <a:r>
              <a:rPr sz="1400" b="0" i="0">
                <a:solidFill>
                  <a:srgbClr val="2E7D4F"/>
                </a:solidFill>
                <a:latin typeface="Times New Roman"/>
                <a:cs typeface="Times New Roman"/>
                <a:ea typeface="Times New Roman"/>
              </a:rPr>
              <a:t>→ fixed and agent evaluation re-run</a:t>
            </a:r>
          </a:p>
        </p:txBody>
      </p:sp>
      <p:sp>
        <p:nvSpPr>
          <p:cNvPr id="13" name="Challenge 6"/>
          <p:cNvSpPr txBox="1"/>
          <p:nvPr/>
        </p:nvSpPr>
        <p:spPr>
          <a:xfrm>
            <a:off x="7772400" y="5943600"/>
            <a:ext cx="4572000" cy="676656"/>
          </a:xfrm>
          <a:prstGeom prst="rect">
            <a:avLst/>
          </a:prstGeom>
          <a:noFill/>
        </p:spPr>
        <p:txBody>
          <a:bodyPr wrap="square" lIns="36576" rIns="36576" tIns="36576" bIns="36576" anchor="t"/>
          <a:lstStyle/>
          <a:p>
            <a:pPr algn="l" marL="0" indent="0">
              <a:spcAft>
                <a:spcPts val="100"/>
              </a:spcAft>
              <a:buNone/>
            </a:pPr>
            <a:r>
              <a:rPr sz="1400" b="1" i="0">
                <a:solidFill>
                  <a:srgbClr val="1A1A1A"/>
                </a:solidFill>
                <a:latin typeface="Times New Roman"/>
                <a:cs typeface="Times New Roman"/>
                <a:ea typeface="Times New Roman"/>
              </a:rPr>
              <a:t>SUMO re-routed half the corridor traffic</a:t>
            </a:r>
          </a:p>
          <a:p>
            <a:pPr algn="l" marL="0" indent="0">
              <a:spcAft>
                <a:spcPts val="100"/>
              </a:spcAft>
              <a:buNone/>
            </a:pPr>
            <a:r>
              <a:rPr sz="1400" b="0" i="0">
                <a:solidFill>
                  <a:srgbClr val="2E7D4F"/>
                </a:solidFill>
                <a:latin typeface="Times New Roman"/>
                <a:cs typeface="Times New Roman"/>
                <a:ea typeface="Times New Roman"/>
              </a:rPr>
              <a:t>→ fixed routes and a testbed audit</a:t>
            </a:r>
          </a:p>
        </p:txBody>
      </p:sp>
    </p:spTree>
    <p:extLst>
      <p:ext uri="{BB962C8B-B14F-4D97-AF65-F5344CB8AC3E}">
        <p14:creationId xmlns:p14="http://schemas.microsoft.com/office/powerpoint/2010/main" val="33692432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FF5EA-D62B-1983-B948-F514CA25FA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D138A4-31C7-3BA3-41EC-856FFC3F2CD3}"/>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PROTOTYPE / RESEARCH FRAMEWORK</a:t>
            </a:r>
          </a:p>
        </p:txBody>
      </p:sp>
      <p:sp>
        <p:nvSpPr>
          <p:cNvPr id="3" name="Content Placeholder 2">
            <a:extLst>
              <a:ext uri="{FF2B5EF4-FFF2-40B4-BE49-F238E27FC236}">
                <a16:creationId xmlns:a16="http://schemas.microsoft.com/office/drawing/2014/main" id="{81FDCD9C-F660-95CA-73DE-982F8EE861D4}"/>
              </a:ext>
            </a:extLst>
          </p:cNvPr>
          <p:cNvSpPr>
            <a:spLocks noGrp="1"/>
          </p:cNvSpPr>
          <p:nvPr>
            <p:ph idx="1"/>
          </p:nvPr>
        </p:nvSpPr>
        <p:spPr>
          <a:xfrm>
            <a:off x="411480" y="1783080"/>
            <a:ext cx="6309360" cy="4892040"/>
          </a:xfrm>
        </p:spPr>
        <p:txBody>
          <a:bodyPr wrap="square">
            <a:normAutofit/>
          </a:bodyPr>
          <a:lstStyle/>
          <a:p>
            <a:pPr algn="l" marL="274320" indent="-228600">
              <a:spcAft>
                <a:spcPts val="900"/>
              </a:spcAft>
              <a:buFont typeface="Arial"/>
              <a:buChar char="•"/>
            </a:pPr>
            <a:r>
              <a:rPr sz="1700" b="1" i="0">
                <a:solidFill>
                  <a:srgbClr val="1A1A1A"/>
                </a:solidFill>
                <a:latin typeface="Arial"/>
                <a:cs typeface="Arial"/>
                <a:ea typeface="Arial"/>
              </a:rPr>
              <a:t>Command-line pipeline: </a:t>
            </a:r>
            <a:r>
              <a:rPr sz="1700" b="0" i="0">
                <a:solidFill>
                  <a:srgbClr val="1A1A1A"/>
                </a:solidFill>
                <a:latin typeface="Arial"/>
                <a:cs typeface="Arial"/>
                <a:ea typeface="Arial"/>
              </a:rPr>
              <a:t>one command per stage, from data audit to paper tables</a:t>
            </a:r>
          </a:p>
          <a:p>
            <a:pPr algn="l" marL="274320" indent="-228600">
              <a:spcAft>
                <a:spcPts val="900"/>
              </a:spcAft>
              <a:buFont typeface="Arial"/>
              <a:buChar char="•"/>
            </a:pPr>
            <a:r>
              <a:rPr sz="1700" b="1" i="0">
                <a:solidFill>
                  <a:srgbClr val="1A1A1A"/>
                </a:solidFill>
                <a:latin typeface="Arial"/>
                <a:cs typeface="Arial"/>
                <a:ea typeface="Arial"/>
              </a:rPr>
              <a:t>FastAPI service: </a:t>
            </a:r>
            <a:r>
              <a:rPr sz="1700" b="0" i="0">
                <a:solidFill>
                  <a:srgbClr val="1A1A1A"/>
                </a:solidFill>
                <a:latin typeface="Arial"/>
                <a:cs typeface="Arial"/>
                <a:ea typeface="Arial"/>
              </a:rPr>
              <a:t>20 endpoints for forecasts, live forecasts, explanations, retrieval, advisories, simulations and review; long jobs run in a PostgreSQL-backed worker</a:t>
            </a:r>
          </a:p>
          <a:p>
            <a:pPr algn="l" marL="274320" indent="-228600">
              <a:spcAft>
                <a:spcPts val="900"/>
              </a:spcAft>
              <a:buFont typeface="Arial"/>
              <a:buChar char="•"/>
            </a:pPr>
            <a:r>
              <a:rPr sz="1700" b="1" i="0">
                <a:solidFill>
                  <a:srgbClr val="1A1A1A"/>
                </a:solidFill>
                <a:latin typeface="Arial"/>
                <a:cs typeface="Arial"/>
                <a:ea typeface="Arial"/>
              </a:rPr>
              <a:t>Streamlit dashboard: </a:t>
            </a:r>
            <a:r>
              <a:rPr sz="1700" b="0" i="0">
                <a:solidFill>
                  <a:srgbClr val="1A1A1A"/>
                </a:solidFill>
                <a:latin typeface="Arial"/>
                <a:cs typeface="Arial"/>
                <a:ea typeface="Arial"/>
              </a:rPr>
              <a:t>12 pages, from data audit, traffic map and live monitoring to forecasts, explanations, agent traces, SUMO results and the model card</a:t>
            </a:r>
          </a:p>
          <a:p>
            <a:pPr algn="l" marL="274320" indent="-228600">
              <a:spcAft>
                <a:spcPts val="900"/>
              </a:spcAft>
              <a:buFont typeface="Arial"/>
              <a:buChar char="•"/>
            </a:pPr>
            <a:r>
              <a:rPr sz="1700" b="1" i="0">
                <a:solidFill>
                  <a:srgbClr val="1A1A1A"/>
                </a:solidFill>
                <a:latin typeface="Arial"/>
                <a:cs typeface="Arial"/>
                <a:ea typeface="Arial"/>
              </a:rPr>
              <a:t>Every view labels its mode: </a:t>
            </a:r>
            <a:r>
              <a:rPr sz="1700" b="0" i="0">
                <a:solidFill>
                  <a:srgbClr val="1A1A1A"/>
                </a:solidFill>
                <a:latin typeface="Arial"/>
                <a:cs typeface="Arial"/>
                <a:ea typeface="Arial"/>
              </a:rPr>
              <a:t>LIVE, REPLAY or SIMULATION</a:t>
            </a:r>
          </a:p>
          <a:p>
            <a:pPr algn="l" marL="274320" indent="-228600">
              <a:spcAft>
                <a:spcPts val="900"/>
              </a:spcAft>
              <a:buFont typeface="Arial"/>
              <a:buChar char="•"/>
            </a:pPr>
            <a:r>
              <a:rPr sz="1700" b="1" i="0">
                <a:solidFill>
                  <a:srgbClr val="1A1A1A"/>
                </a:solidFill>
                <a:latin typeface="Arial"/>
                <a:cs typeface="Arial"/>
                <a:ea typeface="Arial"/>
              </a:rPr>
              <a:t>Docker Compose: </a:t>
            </a:r>
            <a:r>
              <a:rPr sz="1700" b="0" i="0">
                <a:solidFill>
                  <a:srgbClr val="1A1A1A"/>
                </a:solidFill>
                <a:latin typeface="Arial"/>
                <a:cs typeface="Arial"/>
                <a:ea typeface="Arial"/>
              </a:rPr>
              <a:t>PostGIS, API, worker and dashboard images, built and smoke-tested</a:t>
            </a:r>
          </a:p>
          <a:p>
            <a:pPr algn="l" marL="274320" indent="-228600">
              <a:spcAft>
                <a:spcPts val="900"/>
              </a:spcAft>
              <a:buFont typeface="Arial"/>
              <a:buChar char="•"/>
            </a:pPr>
            <a:r>
              <a:rPr sz="1700" b="1" i="0">
                <a:solidFill>
                  <a:srgbClr val="1A1A1A"/>
                </a:solidFill>
                <a:latin typeface="Arial"/>
                <a:cs typeface="Arial"/>
                <a:ea typeface="Arial"/>
              </a:rPr>
              <a:t>Human review </a:t>
            </a:r>
            <a:r>
              <a:rPr sz="1700" b="0" i="0">
                <a:solidFill>
                  <a:srgbClr val="1A1A1A"/>
                </a:solidFill>
                <a:latin typeface="Arial"/>
                <a:cs typeface="Arial"/>
                <a:ea typeface="Arial"/>
              </a:rPr>
              <a:t>approves or rejects for simulation only; nothing is sent to real signals</a:t>
            </a:r>
          </a:p>
        </p:txBody>
      </p:sp>
      <p:sp>
        <p:nvSpPr>
          <p:cNvPr id="4" name="Slide Number Placeholder 3">
            <a:extLst>
              <a:ext uri="{FF2B5EF4-FFF2-40B4-BE49-F238E27FC236}">
                <a16:creationId xmlns:a16="http://schemas.microsoft.com/office/drawing/2014/main" id="{55D83B01-BF0B-D797-AC89-252288DAD2AE}"/>
              </a:ext>
            </a:extLst>
          </p:cNvPr>
          <p:cNvSpPr>
            <a:spLocks noGrp="1"/>
          </p:cNvSpPr>
          <p:nvPr>
            <p:ph type="sldNum" sz="quarter" idx="12"/>
          </p:nvPr>
        </p:nvSpPr>
        <p:spPr/>
        <p:txBody>
          <a:bodyPr/>
          <a:lstStyle/>
          <a:p>
            <a:fld id="{C02A2637-A5A3-49FA-B214-6E67543099EF}" type="slidenum">
              <a:rPr lang="en-US" smtClean="0"/>
              <a:t>13</a:t>
            </a:fld>
            <a:endParaRPr lang="en-US"/>
          </a:p>
        </p:txBody>
      </p:sp>
      <p:sp>
        <p:nvSpPr>
          <p:cNvPr id="5" name="TextBox 4"/>
          <p:cNvSpPr txBox="1"/>
          <p:nvPr/>
        </p:nvSpPr>
        <p:spPr>
          <a:xfrm>
            <a:off x="7086600" y="1737360"/>
            <a:ext cx="5303520" cy="320040"/>
          </a:xfrm>
          <a:prstGeom prst="rect">
            <a:avLst/>
          </a:prstGeom>
          <a:noFill/>
        </p:spPr>
        <p:txBody>
          <a:bodyPr wrap="square" lIns="18288" rIns="18288" tIns="18288" bIns="18288" anchor="t"/>
          <a:lstStyle/>
          <a:p>
            <a:pPr algn="l" marL="0" indent="0">
              <a:spcAft>
                <a:spcPts val="0"/>
              </a:spcAft>
              <a:buNone/>
            </a:pPr>
            <a:r>
              <a:rPr sz="1500" b="1" i="0">
                <a:solidFill>
                  <a:srgbClr val="1F497D"/>
                </a:solidFill>
                <a:latin typeface="Arial"/>
                <a:cs typeface="Arial"/>
                <a:ea typeface="Arial"/>
              </a:rPr>
              <a:t>Advisory workflow (LangGraph)</a:t>
            </a:r>
          </a:p>
        </p:txBody>
      </p:sp>
      <p:sp>
        <p:nvSpPr>
          <p:cNvPr id="6" name="Workflow step 1"/>
          <p:cNvSpPr/>
          <p:nvPr/>
        </p:nvSpPr>
        <p:spPr>
          <a:xfrm>
            <a:off x="7086600" y="2103120"/>
            <a:ext cx="2788920" cy="438912"/>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l" marL="0" indent="0">
              <a:spcAft>
                <a:spcPts val="0"/>
              </a:spcAft>
              <a:buNone/>
            </a:pPr>
            <a:r>
              <a:rPr sz="1300" b="1" i="0">
                <a:solidFill>
                  <a:srgbClr val="FFFFFF"/>
                </a:solidFill>
                <a:latin typeface="Arial"/>
                <a:cs typeface="Arial"/>
                <a:ea typeface="Arial"/>
              </a:rPr>
              <a:t>1  Data quality check</a:t>
            </a:r>
          </a:p>
        </p:txBody>
      </p:sp>
      <p:cxnSp>
        <p:nvCxnSpPr>
          <p:cNvPr id="7" name="Connector 6"/>
          <p:cNvCxnSpPr/>
          <p:nvPr/>
        </p:nvCxnSpPr>
        <p:spPr>
          <a:xfrm>
            <a:off x="8481060" y="2551176"/>
            <a:ext cx="0" cy="109727"/>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9893808" y="2322576"/>
            <a:ext cx="301752" cy="0"/>
          </a:xfrm>
          <a:prstGeom prst="line">
            <a:avLst/>
          </a:prstGeom>
          <a:ln w="22225">
            <a:solidFill>
              <a:srgbClr val="55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222992" y="2139696"/>
            <a:ext cx="2194560" cy="365760"/>
          </a:xfrm>
          <a:prstGeom prst="rect">
            <a:avLst/>
          </a:prstGeom>
          <a:noFill/>
        </p:spPr>
        <p:txBody>
          <a:bodyPr wrap="square" lIns="18288" rIns="18288" tIns="18288" bIns="18288" anchor="ctr"/>
          <a:lstStyle/>
          <a:p>
            <a:pPr algn="l" marL="0" indent="0">
              <a:spcAft>
                <a:spcPts val="0"/>
              </a:spcAft>
              <a:buNone/>
            </a:pPr>
            <a:r>
              <a:rPr sz="1100" b="1" i="0">
                <a:solidFill>
                  <a:srgbClr val="B26B00"/>
                </a:solidFill>
                <a:latin typeface="Arial"/>
                <a:cs typeface="Arial"/>
                <a:ea typeface="Arial"/>
              </a:rPr>
              <a:t>DEFER_DATA</a:t>
            </a:r>
          </a:p>
        </p:txBody>
      </p:sp>
      <p:sp>
        <p:nvSpPr>
          <p:cNvPr id="10" name="Workflow step 2"/>
          <p:cNvSpPr/>
          <p:nvPr/>
        </p:nvSpPr>
        <p:spPr>
          <a:xfrm>
            <a:off x="7086600" y="2670048"/>
            <a:ext cx="2788920" cy="438912"/>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l" marL="0" indent="0">
              <a:spcAft>
                <a:spcPts val="0"/>
              </a:spcAft>
              <a:buNone/>
            </a:pPr>
            <a:r>
              <a:rPr sz="1300" b="1" i="0">
                <a:solidFill>
                  <a:srgbClr val="FFFFFF"/>
                </a:solidFill>
                <a:latin typeface="Arial"/>
                <a:cs typeface="Arial"/>
                <a:ea typeface="Arial"/>
              </a:rPr>
              <a:t>2  Forecast</a:t>
            </a:r>
          </a:p>
        </p:txBody>
      </p:sp>
      <p:cxnSp>
        <p:nvCxnSpPr>
          <p:cNvPr id="11" name="Connector 10"/>
          <p:cNvCxnSpPr/>
          <p:nvPr/>
        </p:nvCxnSpPr>
        <p:spPr>
          <a:xfrm>
            <a:off x="8481060" y="3118104"/>
            <a:ext cx="0" cy="109728"/>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Workflow step 3"/>
          <p:cNvSpPr/>
          <p:nvPr/>
        </p:nvSpPr>
        <p:spPr>
          <a:xfrm>
            <a:off x="7086600" y="3236976"/>
            <a:ext cx="2788920" cy="438912"/>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l" marL="0" indent="0">
              <a:spcAft>
                <a:spcPts val="0"/>
              </a:spcAft>
              <a:buNone/>
            </a:pPr>
            <a:r>
              <a:rPr sz="1300" b="1" i="0">
                <a:solidFill>
                  <a:srgbClr val="FFFFFF"/>
                </a:solidFill>
                <a:latin typeface="Arial"/>
                <a:cs typeface="Arial"/>
                <a:ea typeface="Arial"/>
              </a:rPr>
              <a:t>3  Uncertainty gate</a:t>
            </a:r>
          </a:p>
        </p:txBody>
      </p:sp>
      <p:cxnSp>
        <p:nvCxnSpPr>
          <p:cNvPr id="13" name="Connector 12"/>
          <p:cNvCxnSpPr/>
          <p:nvPr/>
        </p:nvCxnSpPr>
        <p:spPr>
          <a:xfrm>
            <a:off x="8481060" y="3685032"/>
            <a:ext cx="0" cy="109728"/>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893808" y="3456432"/>
            <a:ext cx="301752" cy="0"/>
          </a:xfrm>
          <a:prstGeom prst="line">
            <a:avLst/>
          </a:prstGeom>
          <a:ln w="22225">
            <a:solidFill>
              <a:srgbClr val="55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0222992" y="3273552"/>
            <a:ext cx="2194560" cy="365760"/>
          </a:xfrm>
          <a:prstGeom prst="rect">
            <a:avLst/>
          </a:prstGeom>
          <a:noFill/>
        </p:spPr>
        <p:txBody>
          <a:bodyPr wrap="square" lIns="18288" rIns="18288" tIns="18288" bIns="18288" anchor="ctr"/>
          <a:lstStyle/>
          <a:p>
            <a:pPr algn="l" marL="0" indent="0">
              <a:spcAft>
                <a:spcPts val="0"/>
              </a:spcAft>
              <a:buNone/>
            </a:pPr>
            <a:r>
              <a:rPr sz="1100" b="1" i="0">
                <a:solidFill>
                  <a:srgbClr val="B26B00"/>
                </a:solidFill>
                <a:latin typeface="Arial"/>
                <a:cs typeface="Arial"/>
                <a:ea typeface="Arial"/>
              </a:rPr>
              <a:t>DEFER_UNCERTAINTY</a:t>
            </a:r>
          </a:p>
        </p:txBody>
      </p:sp>
      <p:sp>
        <p:nvSpPr>
          <p:cNvPr id="16" name="Workflow step 4"/>
          <p:cNvSpPr/>
          <p:nvPr/>
        </p:nvSpPr>
        <p:spPr>
          <a:xfrm>
            <a:off x="7086600" y="3803904"/>
            <a:ext cx="2788920" cy="438912"/>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l" marL="0" indent="0">
              <a:spcAft>
                <a:spcPts val="0"/>
              </a:spcAft>
              <a:buNone/>
            </a:pPr>
            <a:r>
              <a:rPr sz="1300" b="1" i="0">
                <a:solidFill>
                  <a:srgbClr val="FFFFFF"/>
                </a:solidFill>
                <a:latin typeface="Arial"/>
                <a:cs typeface="Arial"/>
                <a:ea typeface="Arial"/>
              </a:rPr>
              <a:t>4  SHAP + evidence retrieval</a:t>
            </a:r>
          </a:p>
        </p:txBody>
      </p:sp>
      <p:cxnSp>
        <p:nvCxnSpPr>
          <p:cNvPr id="17" name="Connector 16"/>
          <p:cNvCxnSpPr/>
          <p:nvPr/>
        </p:nvCxnSpPr>
        <p:spPr>
          <a:xfrm>
            <a:off x="8481060" y="4251960"/>
            <a:ext cx="0" cy="109728"/>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893808" y="4023360"/>
            <a:ext cx="301752" cy="0"/>
          </a:xfrm>
          <a:prstGeom prst="line">
            <a:avLst/>
          </a:prstGeom>
          <a:ln w="22225">
            <a:solidFill>
              <a:srgbClr val="55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222992" y="3840480"/>
            <a:ext cx="2194560" cy="365760"/>
          </a:xfrm>
          <a:prstGeom prst="rect">
            <a:avLst/>
          </a:prstGeom>
          <a:noFill/>
        </p:spPr>
        <p:txBody>
          <a:bodyPr wrap="square" lIns="18288" rIns="18288" tIns="18288" bIns="18288" anchor="ctr"/>
          <a:lstStyle/>
          <a:p>
            <a:pPr algn="l" marL="0" indent="0">
              <a:spcAft>
                <a:spcPts val="0"/>
              </a:spcAft>
              <a:buNone/>
            </a:pPr>
            <a:r>
              <a:rPr sz="1100" b="1" i="0">
                <a:solidFill>
                  <a:srgbClr val="B26B00"/>
                </a:solidFill>
                <a:latin typeface="Arial"/>
                <a:cs typeface="Arial"/>
                <a:ea typeface="Arial"/>
              </a:rPr>
              <a:t>DEFER_EVIDENCE</a:t>
            </a:r>
          </a:p>
        </p:txBody>
      </p:sp>
      <p:sp>
        <p:nvSpPr>
          <p:cNvPr id="20" name="Workflow step 5"/>
          <p:cNvSpPr/>
          <p:nvPr/>
        </p:nvSpPr>
        <p:spPr>
          <a:xfrm>
            <a:off x="7086600" y="4370831"/>
            <a:ext cx="2788920" cy="438912"/>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l" marL="0" indent="0">
              <a:spcAft>
                <a:spcPts val="0"/>
              </a:spcAft>
              <a:buNone/>
            </a:pPr>
            <a:r>
              <a:rPr sz="1300" b="1" i="0">
                <a:solidFill>
                  <a:srgbClr val="FFFFFF"/>
                </a:solidFill>
                <a:latin typeface="Arial"/>
                <a:cs typeface="Arial"/>
                <a:ea typeface="Arial"/>
              </a:rPr>
              <a:t>5  LLM candidate</a:t>
            </a:r>
          </a:p>
        </p:txBody>
      </p:sp>
      <p:cxnSp>
        <p:nvCxnSpPr>
          <p:cNvPr id="21" name="Connector 20"/>
          <p:cNvCxnSpPr/>
          <p:nvPr/>
        </p:nvCxnSpPr>
        <p:spPr>
          <a:xfrm>
            <a:off x="8481060" y="4818888"/>
            <a:ext cx="0" cy="109728"/>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893808" y="4590288"/>
            <a:ext cx="301752" cy="0"/>
          </a:xfrm>
          <a:prstGeom prst="line">
            <a:avLst/>
          </a:prstGeom>
          <a:ln w="22225">
            <a:solidFill>
              <a:srgbClr val="55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0222992" y="4407407"/>
            <a:ext cx="2194560" cy="365760"/>
          </a:xfrm>
          <a:prstGeom prst="rect">
            <a:avLst/>
          </a:prstGeom>
          <a:noFill/>
        </p:spPr>
        <p:txBody>
          <a:bodyPr wrap="square" lIns="18288" rIns="18288" tIns="18288" bIns="18288" anchor="ctr"/>
          <a:lstStyle/>
          <a:p>
            <a:pPr algn="l" marL="0" indent="0">
              <a:spcAft>
                <a:spcPts val="0"/>
              </a:spcAft>
              <a:buNone/>
            </a:pPr>
            <a:r>
              <a:rPr sz="1100" b="1" i="0">
                <a:solidFill>
                  <a:srgbClr val="B02A22"/>
                </a:solidFill>
                <a:latin typeface="Arial"/>
                <a:cs typeface="Arial"/>
                <a:ea typeface="Arial"/>
              </a:rPr>
              <a:t>REJECT_SCHEMA</a:t>
            </a:r>
          </a:p>
        </p:txBody>
      </p:sp>
      <p:sp>
        <p:nvSpPr>
          <p:cNvPr id="24" name="Workflow step 6"/>
          <p:cNvSpPr/>
          <p:nvPr/>
        </p:nvSpPr>
        <p:spPr>
          <a:xfrm>
            <a:off x="7086600" y="4937760"/>
            <a:ext cx="2788920" cy="438912"/>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l" marL="0" indent="0">
              <a:spcAft>
                <a:spcPts val="0"/>
              </a:spcAft>
              <a:buNone/>
            </a:pPr>
            <a:r>
              <a:rPr sz="1300" b="1" i="0">
                <a:solidFill>
                  <a:srgbClr val="FFFFFF"/>
                </a:solidFill>
                <a:latin typeface="Arial"/>
                <a:cs typeface="Arial"/>
                <a:ea typeface="Arial"/>
              </a:rPr>
              <a:t>6  Safety constraints</a:t>
            </a:r>
          </a:p>
        </p:txBody>
      </p:sp>
      <p:cxnSp>
        <p:nvCxnSpPr>
          <p:cNvPr id="25" name="Connector 24"/>
          <p:cNvCxnSpPr/>
          <p:nvPr/>
        </p:nvCxnSpPr>
        <p:spPr>
          <a:xfrm>
            <a:off x="8481060" y="5385816"/>
            <a:ext cx="0" cy="109728"/>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893808" y="5157216"/>
            <a:ext cx="301752" cy="0"/>
          </a:xfrm>
          <a:prstGeom prst="line">
            <a:avLst/>
          </a:prstGeom>
          <a:ln w="22225">
            <a:solidFill>
              <a:srgbClr val="55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0222992" y="4974336"/>
            <a:ext cx="2194560" cy="365760"/>
          </a:xfrm>
          <a:prstGeom prst="rect">
            <a:avLst/>
          </a:prstGeom>
          <a:noFill/>
        </p:spPr>
        <p:txBody>
          <a:bodyPr wrap="square" lIns="18288" rIns="18288" tIns="18288" bIns="18288" anchor="ctr"/>
          <a:lstStyle/>
          <a:p>
            <a:pPr algn="l" marL="0" indent="0">
              <a:spcAft>
                <a:spcPts val="0"/>
              </a:spcAft>
              <a:buNone/>
            </a:pPr>
            <a:r>
              <a:rPr sz="1100" b="1" i="0">
                <a:solidFill>
                  <a:srgbClr val="B02A22"/>
                </a:solidFill>
                <a:latin typeface="Arial"/>
                <a:cs typeface="Arial"/>
                <a:ea typeface="Arial"/>
              </a:rPr>
              <a:t>REJECT_CONSTRAINT</a:t>
            </a:r>
          </a:p>
        </p:txBody>
      </p:sp>
      <p:sp>
        <p:nvSpPr>
          <p:cNvPr id="28" name="Workflow step 7"/>
          <p:cNvSpPr/>
          <p:nvPr/>
        </p:nvSpPr>
        <p:spPr>
          <a:xfrm>
            <a:off x="7086600" y="5504688"/>
            <a:ext cx="2788920" cy="438912"/>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l" marL="0" indent="0">
              <a:spcAft>
                <a:spcPts val="0"/>
              </a:spcAft>
              <a:buNone/>
            </a:pPr>
            <a:r>
              <a:rPr sz="1300" b="1" i="0">
                <a:solidFill>
                  <a:srgbClr val="FFFFFF"/>
                </a:solidFill>
                <a:latin typeface="Arial"/>
                <a:cs typeface="Arial"/>
                <a:ea typeface="Arial"/>
              </a:rPr>
              <a:t>7  SUMO simulation gate</a:t>
            </a:r>
          </a:p>
        </p:txBody>
      </p:sp>
      <p:cxnSp>
        <p:nvCxnSpPr>
          <p:cNvPr id="29" name="Connector 28"/>
          <p:cNvCxnSpPr/>
          <p:nvPr/>
        </p:nvCxnSpPr>
        <p:spPr>
          <a:xfrm>
            <a:off x="8481060" y="5952744"/>
            <a:ext cx="0" cy="109728"/>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893808" y="5724144"/>
            <a:ext cx="301752" cy="0"/>
          </a:xfrm>
          <a:prstGeom prst="line">
            <a:avLst/>
          </a:prstGeom>
          <a:ln w="22225">
            <a:solidFill>
              <a:srgbClr val="55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222992" y="5541264"/>
            <a:ext cx="2194560" cy="365760"/>
          </a:xfrm>
          <a:prstGeom prst="rect">
            <a:avLst/>
          </a:prstGeom>
          <a:noFill/>
        </p:spPr>
        <p:txBody>
          <a:bodyPr wrap="square" lIns="18288" rIns="18288" tIns="18288" bIns="18288" anchor="ctr"/>
          <a:lstStyle/>
          <a:p>
            <a:pPr algn="l" marL="0" indent="0">
              <a:spcAft>
                <a:spcPts val="0"/>
              </a:spcAft>
              <a:buNone/>
            </a:pPr>
            <a:r>
              <a:rPr sz="1100" b="1" i="0">
                <a:solidFill>
                  <a:srgbClr val="B02A22"/>
                </a:solidFill>
                <a:latin typeface="Arial"/>
                <a:cs typeface="Arial"/>
                <a:ea typeface="Arial"/>
              </a:rPr>
              <a:t>REJECT_SIMULATION</a:t>
            </a:r>
          </a:p>
        </p:txBody>
      </p:sp>
      <p:sp>
        <p:nvSpPr>
          <p:cNvPr id="32" name="Workflow step 8"/>
          <p:cNvSpPr/>
          <p:nvPr/>
        </p:nvSpPr>
        <p:spPr>
          <a:xfrm>
            <a:off x="7086600" y="6071616"/>
            <a:ext cx="2788920" cy="438912"/>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l" marL="0" indent="0">
              <a:spcAft>
                <a:spcPts val="0"/>
              </a:spcAft>
              <a:buNone/>
            </a:pPr>
            <a:r>
              <a:rPr sz="1300" b="1" i="0">
                <a:solidFill>
                  <a:srgbClr val="FFFFFF"/>
                </a:solidFill>
                <a:latin typeface="Arial"/>
                <a:cs typeface="Arial"/>
                <a:ea typeface="Arial"/>
              </a:rPr>
              <a:t>8  Human review</a:t>
            </a:r>
          </a:p>
        </p:txBody>
      </p:sp>
      <p:cxnSp>
        <p:nvCxnSpPr>
          <p:cNvPr id="33" name="Connector 32"/>
          <p:cNvCxnSpPr/>
          <p:nvPr/>
        </p:nvCxnSpPr>
        <p:spPr>
          <a:xfrm>
            <a:off x="9893808" y="6291072"/>
            <a:ext cx="301752" cy="0"/>
          </a:xfrm>
          <a:prstGeom prst="line">
            <a:avLst/>
          </a:prstGeom>
          <a:ln w="22225">
            <a:solidFill>
              <a:srgbClr val="55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222992" y="6108192"/>
            <a:ext cx="2194560" cy="365760"/>
          </a:xfrm>
          <a:prstGeom prst="rect">
            <a:avLst/>
          </a:prstGeom>
          <a:noFill/>
        </p:spPr>
        <p:txBody>
          <a:bodyPr wrap="square" lIns="18288" rIns="18288" tIns="18288" bIns="18288" anchor="ctr"/>
          <a:lstStyle/>
          <a:p>
            <a:pPr algn="l" marL="0" indent="0">
              <a:spcAft>
                <a:spcPts val="0"/>
              </a:spcAft>
              <a:buNone/>
            </a:pPr>
            <a:r>
              <a:rPr sz="1100" b="1" i="0">
                <a:solidFill>
                  <a:srgbClr val="2E7D4F"/>
                </a:solidFill>
                <a:latin typeface="Arial"/>
                <a:cs typeface="Arial"/>
                <a:ea typeface="Arial"/>
              </a:rPr>
              <a:t>PENDING_HUMAN_REVIEW</a:t>
            </a:r>
          </a:p>
        </p:txBody>
      </p:sp>
    </p:spTree>
    <p:extLst>
      <p:ext uri="{BB962C8B-B14F-4D97-AF65-F5344CB8AC3E}">
        <p14:creationId xmlns:p14="http://schemas.microsoft.com/office/powerpoint/2010/main" val="11450041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6C8D-B43E-DA7C-E00A-0FC4EA185F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44C6AA-E1C2-EA6C-246E-CC1479CDED74}"/>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7. CONCLUSIONS</a:t>
            </a:r>
          </a:p>
        </p:txBody>
      </p:sp>
      <p:sp>
        <p:nvSpPr>
          <p:cNvPr id="4" name="Slide Number Placeholder 3">
            <a:extLst>
              <a:ext uri="{FF2B5EF4-FFF2-40B4-BE49-F238E27FC236}">
                <a16:creationId xmlns:a16="http://schemas.microsoft.com/office/drawing/2014/main" id="{C20BB0C0-AF3E-C46D-0A00-DD8E18E7843A}"/>
              </a:ext>
            </a:extLst>
          </p:cNvPr>
          <p:cNvSpPr>
            <a:spLocks noGrp="1"/>
          </p:cNvSpPr>
          <p:nvPr>
            <p:ph type="sldNum" sz="quarter" idx="12"/>
          </p:nvPr>
        </p:nvSpPr>
        <p:spPr/>
        <p:txBody>
          <a:bodyPr/>
          <a:lstStyle/>
          <a:p>
            <a:fld id="{C02A2637-A5A3-49FA-B214-6E67543099EF}" type="slidenum">
              <a:rPr lang="en-US" smtClean="0"/>
              <a:t>14</a:t>
            </a:fld>
            <a:endParaRPr lang="en-US"/>
          </a:p>
        </p:txBody>
      </p:sp>
      <p:sp>
        <p:nvSpPr>
          <p:cNvPr id="5" name="TextBox 4"/>
          <p:cNvSpPr txBox="1"/>
          <p:nvPr/>
        </p:nvSpPr>
        <p:spPr>
          <a:xfrm>
            <a:off x="457200" y="1737360"/>
            <a:ext cx="5943600" cy="365760"/>
          </a:xfrm>
          <a:prstGeom prst="rect">
            <a:avLst/>
          </a:prstGeom>
          <a:noFill/>
        </p:spPr>
        <p:txBody>
          <a:bodyPr wrap="square" lIns="18288" rIns="18288" tIns="18288" bIns="18288" anchor="t"/>
          <a:lstStyle/>
          <a:p>
            <a:pPr algn="l" marL="0" indent="0">
              <a:spcAft>
                <a:spcPts val="0"/>
              </a:spcAft>
              <a:buNone/>
            </a:pPr>
            <a:r>
              <a:rPr sz="1600" b="1" i="0">
                <a:solidFill>
                  <a:srgbClr val="1F497D"/>
                </a:solidFill>
                <a:latin typeface="Times New Roman"/>
                <a:cs typeface="Times New Roman"/>
                <a:ea typeface="Times New Roman"/>
              </a:rPr>
              <a:t>Performance metrics (test period 6 Sep – 20 Oct 2026)</a:t>
            </a:r>
          </a:p>
        </p:txBody>
      </p:sp>
      <p:graphicFrame>
        <p:nvGraphicFramePr>
          <p:cNvPr id="6" name="Performance metrics"/>
          <p:cNvGraphicFramePr>
            <a:graphicFrameLocks noGrp="1"/>
          </p:cNvGraphicFramePr>
          <p:nvPr/>
        </p:nvGraphicFramePr>
        <p:xfrm>
          <a:off x="457200" y="2148840"/>
          <a:ext cx="5943600" cy="3017520"/>
        </p:xfrm>
        <a:graphic>
          <a:graphicData uri="http://schemas.openxmlformats.org/drawingml/2006/table">
            <a:tbl>
              <a:tblPr firstRow="1" bandRow="1">
                <a:tableStyleId>{5C22544A-7EE6-4342-B048-85BDC9FD1C3A}</a:tableStyleId>
              </a:tblPr>
              <a:tblGrid>
                <a:gridCol w="3200400"/>
                <a:gridCol w="914400"/>
                <a:gridCol w="914400"/>
                <a:gridCol w="914400"/>
              </a:tblGrid>
              <a:tr h="431074">
                <a:tc>
                  <a:txBody>
                    <a:bodyPr wrap="square"/>
                    <a:lstStyle/>
                    <a:p>
                      <a:pPr algn="l" marL="0" indent="0">
                        <a:spcAft>
                          <a:spcPts val="0"/>
                        </a:spcAft>
                        <a:buNone/>
                      </a:pPr>
                      <a:r>
                        <a:rPr sz="1500" b="1" i="0">
                          <a:solidFill>
                            <a:srgbClr val="FFFFFF"/>
                          </a:solidFill>
                          <a:latin typeface="Times New Roman"/>
                          <a:cs typeface="Times New Roman"/>
                          <a:ea typeface="Times New Roman"/>
                        </a:rPr>
                        <a:t>Metric</a:t>
                      </a:r>
                    </a:p>
                  </a:txBody>
                  <a:tcPr anchor="ctr">
                    <a:solidFill>
                      <a:srgbClr val="1F497D"/>
                    </a:solidFill>
                  </a:tcPr>
                </a:tc>
                <a:tc>
                  <a:txBody>
                    <a:bodyPr wrap="square"/>
                    <a:lstStyle/>
                    <a:p>
                      <a:pPr algn="r" marL="0" indent="0">
                        <a:spcAft>
                          <a:spcPts val="0"/>
                        </a:spcAft>
                        <a:buNone/>
                      </a:pPr>
                      <a:r>
                        <a:rPr sz="1500" b="1" i="0">
                          <a:solidFill>
                            <a:srgbClr val="FFFFFF"/>
                          </a:solidFill>
                          <a:latin typeface="Times New Roman"/>
                          <a:cs typeface="Times New Roman"/>
                          <a:ea typeface="Times New Roman"/>
                        </a:rPr>
                        <a:t>15 min</a:t>
                      </a:r>
                    </a:p>
                  </a:txBody>
                  <a:tcPr anchor="ctr">
                    <a:solidFill>
                      <a:srgbClr val="1F497D"/>
                    </a:solidFill>
                  </a:tcPr>
                </a:tc>
                <a:tc>
                  <a:txBody>
                    <a:bodyPr wrap="square"/>
                    <a:lstStyle/>
                    <a:p>
                      <a:pPr algn="r" marL="0" indent="0">
                        <a:spcAft>
                          <a:spcPts val="0"/>
                        </a:spcAft>
                        <a:buNone/>
                      </a:pPr>
                      <a:r>
                        <a:rPr sz="1500" b="1" i="0">
                          <a:solidFill>
                            <a:srgbClr val="FFFFFF"/>
                          </a:solidFill>
                          <a:latin typeface="Times New Roman"/>
                          <a:cs typeface="Times New Roman"/>
                          <a:ea typeface="Times New Roman"/>
                        </a:rPr>
                        <a:t>30 min</a:t>
                      </a:r>
                    </a:p>
                  </a:txBody>
                  <a:tcPr anchor="ctr">
                    <a:solidFill>
                      <a:srgbClr val="1F497D"/>
                    </a:solidFill>
                  </a:tcPr>
                </a:tc>
                <a:tc>
                  <a:txBody>
                    <a:bodyPr wrap="square"/>
                    <a:lstStyle/>
                    <a:p>
                      <a:pPr algn="r" marL="0" indent="0">
                        <a:spcAft>
                          <a:spcPts val="0"/>
                        </a:spcAft>
                        <a:buNone/>
                      </a:pPr>
                      <a:r>
                        <a:rPr sz="1500" b="1" i="0">
                          <a:solidFill>
                            <a:srgbClr val="FFFFFF"/>
                          </a:solidFill>
                          <a:latin typeface="Times New Roman"/>
                          <a:cs typeface="Times New Roman"/>
                          <a:ea typeface="Times New Roman"/>
                        </a:rPr>
                        <a:t>60 min</a:t>
                      </a:r>
                    </a:p>
                  </a:txBody>
                  <a:tcPr anchor="ctr">
                    <a:solidFill>
                      <a:srgbClr val="1F497D"/>
                    </a:solidFill>
                  </a:tcPr>
                </a:tc>
              </a:tr>
              <a:tr h="431074">
                <a:tc>
                  <a:txBody>
                    <a:bodyPr wrap="square"/>
                    <a:lstStyle/>
                    <a:p>
                      <a:pPr algn="l" marL="0" indent="0">
                        <a:spcAft>
                          <a:spcPts val="0"/>
                        </a:spcAft>
                        <a:buNone/>
                      </a:pPr>
                      <a:r>
                        <a:rPr sz="1500" b="0" i="0">
                          <a:solidFill>
                            <a:srgbClr val="1A1A1A"/>
                          </a:solidFill>
                          <a:latin typeface="Times New Roman"/>
                          <a:cs typeface="Times New Roman"/>
                          <a:ea typeface="Times New Roman"/>
                        </a:rPr>
                        <a:t>Proposed model MAE (mph)</a:t>
                      </a:r>
                    </a:p>
                  </a:txBody>
                  <a:tcPr anchor="ctr">
                    <a:solidFill>
                      <a:srgbClr val="E4ECF7"/>
                    </a:solidFill>
                  </a:tcPr>
                </a:tc>
                <a:tc>
                  <a:txBody>
                    <a:bodyPr wrap="square"/>
                    <a:lstStyle/>
                    <a:p>
                      <a:pPr algn="r" marL="0" indent="0">
                        <a:spcAft>
                          <a:spcPts val="0"/>
                        </a:spcAft>
                        <a:buNone/>
                      </a:pPr>
                      <a:r>
                        <a:rPr sz="1500" b="1" i="0">
                          <a:solidFill>
                            <a:srgbClr val="1A1A1A"/>
                          </a:solidFill>
                          <a:latin typeface="Times New Roman"/>
                          <a:cs typeface="Times New Roman"/>
                          <a:ea typeface="Times New Roman"/>
                        </a:rPr>
                        <a:t>4.77</a:t>
                      </a:r>
                    </a:p>
                  </a:txBody>
                  <a:tcPr anchor="ctr">
                    <a:solidFill>
                      <a:srgbClr val="E4ECF7"/>
                    </a:solidFill>
                  </a:tcPr>
                </a:tc>
                <a:tc>
                  <a:txBody>
                    <a:bodyPr wrap="square"/>
                    <a:lstStyle/>
                    <a:p>
                      <a:pPr algn="r" marL="0" indent="0">
                        <a:spcAft>
                          <a:spcPts val="0"/>
                        </a:spcAft>
                        <a:buNone/>
                      </a:pPr>
                      <a:r>
                        <a:rPr sz="1500" b="1" i="0">
                          <a:solidFill>
                            <a:srgbClr val="1A1A1A"/>
                          </a:solidFill>
                          <a:latin typeface="Times New Roman"/>
                          <a:cs typeface="Times New Roman"/>
                          <a:ea typeface="Times New Roman"/>
                        </a:rPr>
                        <a:t>5.33</a:t>
                      </a:r>
                    </a:p>
                  </a:txBody>
                  <a:tcPr anchor="ctr">
                    <a:solidFill>
                      <a:srgbClr val="E4ECF7"/>
                    </a:solidFill>
                  </a:tcPr>
                </a:tc>
                <a:tc>
                  <a:txBody>
                    <a:bodyPr wrap="square"/>
                    <a:lstStyle/>
                    <a:p>
                      <a:pPr algn="r" marL="0" indent="0">
                        <a:spcAft>
                          <a:spcPts val="0"/>
                        </a:spcAft>
                        <a:buNone/>
                      </a:pPr>
                      <a:r>
                        <a:rPr sz="1500" b="1" i="0">
                          <a:solidFill>
                            <a:srgbClr val="1A1A1A"/>
                          </a:solidFill>
                          <a:latin typeface="Times New Roman"/>
                          <a:cs typeface="Times New Roman"/>
                          <a:ea typeface="Times New Roman"/>
                        </a:rPr>
                        <a:t>6.15</a:t>
                      </a:r>
                    </a:p>
                  </a:txBody>
                  <a:tcPr anchor="ctr">
                    <a:solidFill>
                      <a:srgbClr val="E4ECF7"/>
                    </a:solidFill>
                  </a:tcPr>
                </a:tc>
              </a:tr>
              <a:tr h="431074">
                <a:tc>
                  <a:txBody>
                    <a:bodyPr wrap="square"/>
                    <a:lstStyle/>
                    <a:p>
                      <a:pPr algn="l" marL="0" indent="0">
                        <a:spcAft>
                          <a:spcPts val="0"/>
                        </a:spcAft>
                        <a:buNone/>
                      </a:pPr>
                      <a:r>
                        <a:rPr sz="1500" b="0" i="0">
                          <a:solidFill>
                            <a:srgbClr val="1A1A1A"/>
                          </a:solidFill>
                          <a:latin typeface="Times New Roman"/>
                          <a:cs typeface="Times New Roman"/>
                          <a:ea typeface="Times New Roman"/>
                        </a:rPr>
                        <a:t>Proposed, mean of 3 seeds (mph)</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4.69</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5.34</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6.15</a:t>
                      </a:r>
                    </a:p>
                  </a:txBody>
                  <a:tcPr anchor="ctr">
                    <a:solidFill>
                      <a:srgbClr val="FFFFFF"/>
                    </a:solidFill>
                  </a:tcPr>
                </a:tc>
              </a:tr>
              <a:tr h="431074">
                <a:tc>
                  <a:txBody>
                    <a:bodyPr wrap="square"/>
                    <a:lstStyle/>
                    <a:p>
                      <a:pPr algn="l" marL="0" indent="0">
                        <a:spcAft>
                          <a:spcPts val="0"/>
                        </a:spcAft>
                        <a:buNone/>
                      </a:pPr>
                      <a:r>
                        <a:rPr sz="1500" b="0" i="0">
                          <a:solidFill>
                            <a:srgbClr val="1A1A1A"/>
                          </a:solidFill>
                          <a:latin typeface="Times New Roman"/>
                          <a:cs typeface="Times New Roman"/>
                          <a:ea typeface="Times New Roman"/>
                        </a:rPr>
                        <a:t>Persistence MAE (mph)</a:t>
                      </a:r>
                    </a:p>
                  </a:txBody>
                  <a:tcPr anchor="ctr">
                    <a:solidFill>
                      <a:srgbClr val="E4ECF7"/>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5.14</a:t>
                      </a:r>
                    </a:p>
                  </a:txBody>
                  <a:tcPr anchor="ctr">
                    <a:solidFill>
                      <a:srgbClr val="E4ECF7"/>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6.06</a:t>
                      </a:r>
                    </a:p>
                  </a:txBody>
                  <a:tcPr anchor="ctr">
                    <a:solidFill>
                      <a:srgbClr val="E4ECF7"/>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7.29</a:t>
                      </a:r>
                    </a:p>
                  </a:txBody>
                  <a:tcPr anchor="ctr">
                    <a:solidFill>
                      <a:srgbClr val="E4ECF7"/>
                    </a:solidFill>
                  </a:tcPr>
                </a:tc>
              </a:tr>
              <a:tr h="431074">
                <a:tc>
                  <a:txBody>
                    <a:bodyPr wrap="square"/>
                    <a:lstStyle/>
                    <a:p>
                      <a:pPr algn="l" marL="0" indent="0">
                        <a:spcAft>
                          <a:spcPts val="0"/>
                        </a:spcAft>
                        <a:buNone/>
                      </a:pPr>
                      <a:r>
                        <a:rPr sz="1500" b="0" i="0">
                          <a:solidFill>
                            <a:srgbClr val="1A1A1A"/>
                          </a:solidFill>
                          <a:latin typeface="Times New Roman"/>
                          <a:cs typeface="Times New Roman"/>
                          <a:ea typeface="Times New Roman"/>
                        </a:rPr>
                        <a:t>90 % interval coverage</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0.909</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0.907</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0.903</a:t>
                      </a:r>
                    </a:p>
                  </a:txBody>
                  <a:tcPr anchor="ctr">
                    <a:solidFill>
                      <a:srgbClr val="FFFFFF"/>
                    </a:solidFill>
                  </a:tcPr>
                </a:tc>
              </a:tr>
              <a:tr h="431074">
                <a:tc>
                  <a:txBody>
                    <a:bodyPr wrap="square"/>
                    <a:lstStyle/>
                    <a:p>
                      <a:pPr algn="l" marL="0" indent="0">
                        <a:spcAft>
                          <a:spcPts val="0"/>
                        </a:spcAft>
                        <a:buNone/>
                      </a:pPr>
                      <a:r>
                        <a:rPr sz="1500" b="0" i="0">
                          <a:solidFill>
                            <a:srgbClr val="1A1A1A"/>
                          </a:solidFill>
                          <a:latin typeface="Times New Roman"/>
                          <a:cs typeface="Times New Roman"/>
                          <a:ea typeface="Times New Roman"/>
                        </a:rPr>
                        <a:t>Coverage under congestion</a:t>
                      </a:r>
                    </a:p>
                  </a:txBody>
                  <a:tcPr anchor="ctr">
                    <a:solidFill>
                      <a:srgbClr val="E4ECF7"/>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0.798</a:t>
                      </a:r>
                    </a:p>
                  </a:txBody>
                  <a:tcPr anchor="ctr">
                    <a:solidFill>
                      <a:srgbClr val="E4ECF7"/>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0.794</a:t>
                      </a:r>
                    </a:p>
                  </a:txBody>
                  <a:tcPr anchor="ctr">
                    <a:solidFill>
                      <a:srgbClr val="E4ECF7"/>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0.757</a:t>
                      </a:r>
                    </a:p>
                  </a:txBody>
                  <a:tcPr anchor="ctr">
                    <a:solidFill>
                      <a:srgbClr val="E4ECF7"/>
                    </a:solidFill>
                  </a:tcPr>
                </a:tc>
              </a:tr>
              <a:tr h="431076">
                <a:tc>
                  <a:txBody>
                    <a:bodyPr wrap="square"/>
                    <a:lstStyle/>
                    <a:p>
                      <a:pPr algn="l" marL="0" indent="0">
                        <a:spcAft>
                          <a:spcPts val="0"/>
                        </a:spcAft>
                        <a:buNone/>
                      </a:pPr>
                      <a:r>
                        <a:rPr sz="1500" b="0" i="0">
                          <a:solidFill>
                            <a:srgbClr val="1A1A1A"/>
                          </a:solidFill>
                          <a:latin typeface="Times New Roman"/>
                          <a:cs typeface="Times New Roman"/>
                          <a:ea typeface="Times New Roman"/>
                        </a:rPr>
                        <a:t>MAE kept after gate (≈26 % deferred)</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3.72</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4.38</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5.25</a:t>
                      </a:r>
                    </a:p>
                  </a:txBody>
                  <a:tcPr anchor="ctr">
                    <a:solidFill>
                      <a:srgbClr val="FFFFFF"/>
                    </a:solidFill>
                  </a:tcPr>
                </a:tc>
              </a:tr>
            </a:tbl>
          </a:graphicData>
        </a:graphic>
      </p:graphicFrame>
      <p:sp>
        <p:nvSpPr>
          <p:cNvPr id="7" name="TextBox 6"/>
          <p:cNvSpPr txBox="1"/>
          <p:nvPr/>
        </p:nvSpPr>
        <p:spPr>
          <a:xfrm>
            <a:off x="457200" y="5349240"/>
            <a:ext cx="5943600" cy="1325880"/>
          </a:xfrm>
          <a:prstGeom prst="rect">
            <a:avLst/>
          </a:prstGeom>
          <a:noFill/>
        </p:spPr>
        <p:txBody>
          <a:bodyPr wrap="square" lIns="18288" rIns="18288" tIns="18288" bIns="18288" anchor="t"/>
          <a:lstStyle/>
          <a:p>
            <a:pPr algn="l" marL="0" indent="0">
              <a:spcAft>
                <a:spcPts val="300"/>
              </a:spcAft>
              <a:buNone/>
            </a:pPr>
            <a:r>
              <a:rPr sz="1600" b="1" i="0">
                <a:solidFill>
                  <a:srgbClr val="1F497D"/>
                </a:solidFill>
                <a:latin typeface="Times New Roman"/>
                <a:cs typeface="Times New Roman"/>
                <a:ea typeface="Times New Roman"/>
              </a:rPr>
              <a:t>Validation of approach</a:t>
            </a:r>
          </a:p>
          <a:p>
            <a:pPr algn="l" marL="0" indent="0">
              <a:spcAft>
                <a:spcPts val="300"/>
              </a:spcAft>
              <a:buNone/>
            </a:pPr>
            <a:r>
              <a:rPr sz="1400" b="0" i="0">
                <a:solidFill>
                  <a:srgbClr val="1A1A1A"/>
                </a:solidFill>
                <a:latin typeface="Times New Roman"/>
                <a:cs typeface="Times New Roman"/>
                <a:ea typeface="Times New Roman"/>
              </a:rPr>
              <a:t>Chronological splits with purge gaps and leakage tests; identical targets and masks for every model; day-block bootstrap for ablations; a preregistered simulation baseline test; failed runs kept and reported.</a:t>
            </a:r>
          </a:p>
        </p:txBody>
      </p:sp>
      <p:sp>
        <p:nvSpPr>
          <p:cNvPr id="8" name="Observations"/>
          <p:cNvSpPr/>
          <p:nvPr/>
        </p:nvSpPr>
        <p:spPr>
          <a:xfrm>
            <a:off x="6766560" y="1737360"/>
            <a:ext cx="5577840" cy="49377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64592" rIns="164592" tIns="164592" bIns="164592" wrap="square"/>
          <a:lstStyle/>
          <a:p>
            <a:pPr algn="l" marL="0" indent="0">
              <a:spcAft>
                <a:spcPts val="900"/>
              </a:spcAft>
              <a:buNone/>
            </a:pPr>
            <a:r>
              <a:rPr sz="1800" b="1" i="0">
                <a:solidFill>
                  <a:srgbClr val="1F497D"/>
                </a:solidFill>
                <a:latin typeface="Times New Roman"/>
                <a:cs typeface="Times New Roman"/>
                <a:ea typeface="Times New Roman"/>
              </a:rPr>
              <a:t>Observations</a:t>
            </a:r>
          </a:p>
          <a:p>
            <a:pPr algn="l" marL="274320" indent="-228600">
              <a:spcAft>
                <a:spcPts val="900"/>
              </a:spcAft>
              <a:buFont typeface="Arial"/>
              <a:buChar char="•"/>
            </a:pPr>
            <a:r>
              <a:rPr sz="1500" b="0" i="0">
                <a:solidFill>
                  <a:srgbClr val="1A1A1A"/>
                </a:solidFill>
                <a:latin typeface="Times New Roman"/>
                <a:cs typeface="Times New Roman"/>
                <a:ea typeface="Times New Roman"/>
              </a:rPr>
              <a:t>The proposed model beats persistence by 7–16 % and both tree models. Over three seeds it is 0.03–0.08 mph below the temporal Transformer at every horizon and the GRU at 30/60 min; the GRU is better at 15 min. Small, not decisive.</a:t>
            </a:r>
          </a:p>
          <a:p>
            <a:pPr algn="l" marL="274320" indent="-228600">
              <a:spcAft>
                <a:spcPts val="900"/>
              </a:spcAft>
              <a:buFont typeface="Arial"/>
              <a:buChar char="•"/>
            </a:pPr>
            <a:r>
              <a:rPr sz="1500" b="0" i="0">
                <a:solidFill>
                  <a:srgbClr val="1A1A1A"/>
                </a:solidFill>
                <a:latin typeface="Times New Roman"/>
                <a:cs typeface="Times New Roman"/>
                <a:ea typeface="Times New Roman"/>
              </a:rPr>
              <a:t>The availability-aware gate helps (MAE +0.067 mph when removed); operational weather features hurt (−0.046 mph), a negative result.</a:t>
            </a:r>
          </a:p>
          <a:p>
            <a:pPr algn="l" marL="274320" indent="-228600">
              <a:spcAft>
                <a:spcPts val="900"/>
              </a:spcAft>
              <a:buFont typeface="Arial"/>
              <a:buChar char="•"/>
            </a:pPr>
            <a:r>
              <a:rPr sz="1500" b="0" i="0">
                <a:solidFill>
                  <a:srgbClr val="1A1A1A"/>
                </a:solidFill>
                <a:latin typeface="Times New Roman"/>
                <a:cs typeface="Times New Roman"/>
                <a:ea typeface="Times New Roman"/>
              </a:rPr>
              <a:t>Intervals meet 90 % overall but under-cover congestion, the regime that matters for advisories.</a:t>
            </a:r>
          </a:p>
          <a:p>
            <a:pPr algn="l" marL="274320" indent="-228600">
              <a:spcAft>
                <a:spcPts val="900"/>
              </a:spcAft>
              <a:buFont typeface="Arial"/>
              <a:buChar char="•"/>
            </a:pPr>
            <a:r>
              <a:rPr sz="1500" b="0" i="0">
                <a:solidFill>
                  <a:srgbClr val="1A1A1A"/>
                </a:solidFill>
                <a:latin typeface="Times New Roman"/>
                <a:cs typeface="Times New Roman"/>
                <a:ea typeface="Times New Roman"/>
              </a:rPr>
              <a:t>Retrieval removed fabricated citations (3 of 3 without it, 0 of 9 with it); the constraint layer, not the LLM, decides admissibility.</a:t>
            </a:r>
          </a:p>
          <a:p>
            <a:pPr algn="l" marL="274320" indent="-228600">
              <a:spcAft>
                <a:spcPts val="900"/>
              </a:spcAft>
              <a:buFont typeface="Arial"/>
              <a:buChar char="•"/>
            </a:pPr>
            <a:r>
              <a:rPr sz="1500" b="0" i="0">
                <a:solidFill>
                  <a:srgbClr val="1A1A1A"/>
                </a:solidFill>
                <a:latin typeface="Times New Roman"/>
                <a:cs typeface="Times New Roman"/>
                <a:ea typeface="Times New Roman"/>
              </a:rPr>
              <a:t>On the calibrated SUMO testbed the forecast rule lowered simulated time loss by 5.4 % (surge) and 4.7 % (incident) against fixed time in every seed; routine peak unchanged. Simulated, not a real-world gain.</a:t>
            </a:r>
          </a:p>
        </p:txBody>
      </p:sp>
    </p:spTree>
    <p:extLst>
      <p:ext uri="{BB962C8B-B14F-4D97-AF65-F5344CB8AC3E}">
        <p14:creationId xmlns:p14="http://schemas.microsoft.com/office/powerpoint/2010/main" val="13753997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88BB3-2A5B-34AC-B39B-BAE5C65E6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D448EB-8A1A-C9A3-3C48-4830472042E6}"/>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8. OUTCOME</a:t>
            </a:r>
          </a:p>
        </p:txBody>
      </p:sp>
      <p:sp>
        <p:nvSpPr>
          <p:cNvPr id="4" name="Slide Number Placeholder 3">
            <a:extLst>
              <a:ext uri="{FF2B5EF4-FFF2-40B4-BE49-F238E27FC236}">
                <a16:creationId xmlns:a16="http://schemas.microsoft.com/office/drawing/2014/main" id="{3C63C818-3FBA-7FB8-3369-BCE4AC4BD8EF}"/>
              </a:ext>
            </a:extLst>
          </p:cNvPr>
          <p:cNvSpPr>
            <a:spLocks noGrp="1"/>
          </p:cNvSpPr>
          <p:nvPr>
            <p:ph type="sldNum" sz="quarter" idx="12"/>
          </p:nvPr>
        </p:nvSpPr>
        <p:spPr/>
        <p:txBody>
          <a:bodyPr/>
          <a:lstStyle/>
          <a:p>
            <a:fld id="{C02A2637-A5A3-49FA-B214-6E67543099EF}" type="slidenum">
              <a:rPr lang="en-US" smtClean="0"/>
              <a:t>15</a:t>
            </a:fld>
            <a:endParaRPr lang="en-US"/>
          </a:p>
        </p:txBody>
      </p:sp>
      <p:graphicFrame>
        <p:nvGraphicFramePr>
          <p:cNvPr id="5" name="MAE by model"/>
          <p:cNvGraphicFramePr>
            <a:graphicFrameLocks noGrp="1"/>
          </p:cNvGraphicFramePr>
          <p:nvPr/>
        </p:nvGraphicFramePr>
        <p:xfrm>
          <a:off x="365760" y="1691640"/>
          <a:ext cx="7863840" cy="4983480"/>
        </p:xfrm>
        <a:graphic>
          <a:graphicData uri="http://schemas.openxmlformats.org/drawingml/2006/chart">
            <c:chart xmlns:c="http://schemas.openxmlformats.org/drawingml/2006/chart" r:id="rId2"/>
          </a:graphicData>
        </a:graphic>
      </p:graphicFrame>
      <p:sp>
        <p:nvSpPr>
          <p:cNvPr id="6" name="Forecast results"/>
          <p:cNvSpPr/>
          <p:nvPr/>
        </p:nvSpPr>
        <p:spPr>
          <a:xfrm>
            <a:off x="8503920" y="1783080"/>
            <a:ext cx="3840480" cy="4892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64592" rIns="164592" tIns="164592" bIns="164592" wrap="square"/>
          <a:lstStyle/>
          <a:p>
            <a:pPr algn="l" marL="0" indent="0">
              <a:spcAft>
                <a:spcPts val="900"/>
              </a:spcAft>
              <a:buNone/>
            </a:pPr>
            <a:r>
              <a:rPr sz="1800" b="1" i="0">
                <a:solidFill>
                  <a:srgbClr val="1F497D"/>
                </a:solidFill>
                <a:latin typeface="Times New Roman"/>
                <a:cs typeface="Times New Roman"/>
                <a:ea typeface="Times New Roman"/>
              </a:rPr>
              <a:t>Key results</a:t>
            </a:r>
          </a:p>
          <a:p>
            <a:pPr algn="l" marL="274320" indent="-228600">
              <a:spcAft>
                <a:spcPts val="900"/>
              </a:spcAft>
              <a:buFont typeface="Arial"/>
              <a:buChar char="•"/>
            </a:pPr>
            <a:r>
              <a:rPr sz="1500" b="0" i="0">
                <a:solidFill>
                  <a:srgbClr val="1A1A1A"/>
                </a:solidFill>
                <a:latin typeface="Times New Roman"/>
                <a:cs typeface="Times New Roman"/>
                <a:ea typeface="Times New Roman"/>
              </a:rPr>
              <a:t>Every learned model beats persistence and the historical average.</a:t>
            </a:r>
          </a:p>
          <a:p>
            <a:pPr algn="l" marL="274320" indent="-228600">
              <a:spcAft>
                <a:spcPts val="900"/>
              </a:spcAft>
              <a:buFont typeface="Arial"/>
              <a:buChar char="•"/>
            </a:pPr>
            <a:r>
              <a:rPr sz="1500" b="0" i="0">
                <a:solidFill>
                  <a:srgbClr val="1A1A1A"/>
                </a:solidFill>
                <a:latin typeface="Times New Roman"/>
                <a:cs typeface="Times New Roman"/>
                <a:ea typeface="Times New Roman"/>
              </a:rPr>
              <a:t>Proposed model: 4.77 / 5.33 / 6.15 mph; lowest at 30 and 60 min, GRU lowest at 15 min.</a:t>
            </a:r>
          </a:p>
          <a:p>
            <a:pPr algn="l" marL="274320" indent="-228600">
              <a:spcAft>
                <a:spcPts val="900"/>
              </a:spcAft>
              <a:buFont typeface="Arial"/>
              <a:buChar char="•"/>
            </a:pPr>
            <a:r>
              <a:rPr sz="1500" b="0" i="0">
                <a:solidFill>
                  <a:srgbClr val="1A1A1A"/>
                </a:solidFill>
                <a:latin typeface="Times New Roman"/>
                <a:cs typeface="Times New Roman"/>
                <a:ea typeface="Times New Roman"/>
              </a:rPr>
              <a:t>R² rises from 0.55 / 0.46 / 0.30 (persistence) to 0.69 / 0.63 / 0.56.</a:t>
            </a:r>
          </a:p>
          <a:p>
            <a:pPr algn="l" marL="274320" indent="-228600">
              <a:spcAft>
                <a:spcPts val="900"/>
              </a:spcAft>
              <a:buFont typeface="Arial"/>
              <a:buChar char="•"/>
            </a:pPr>
            <a:r>
              <a:rPr sz="1500" b="0" i="0">
                <a:solidFill>
                  <a:srgbClr val="1A1A1A"/>
                </a:solidFill>
                <a:latin typeface="Times New Roman"/>
                <a:cs typeface="Times New Roman"/>
                <a:ea typeface="Times New Roman"/>
              </a:rPr>
              <a:t>144,205–144,217 test targets per horizon, identical for every model.</a:t>
            </a:r>
          </a:p>
          <a:p>
            <a:pPr algn="l" marL="0" indent="0">
              <a:spcAft>
                <a:spcPts val="900"/>
              </a:spcAft>
              <a:buNone/>
            </a:pPr>
            <a:r>
              <a:rPr sz="1300" b="0" i="0">
                <a:solidFill>
                  <a:srgbClr val="555F6B"/>
                </a:solidFill>
                <a:latin typeface="Times New Roman"/>
                <a:cs typeface="Times New Roman"/>
                <a:ea typeface="Times New Roman"/>
              </a:rPr>
              <a:t>Data: NYC DOT speeds [11], 1 Jan – 20 Oct 2026.</a:t>
            </a:r>
          </a:p>
        </p:txBody>
      </p:sp>
    </p:spTree>
    <p:extLst>
      <p:ext uri="{BB962C8B-B14F-4D97-AF65-F5344CB8AC3E}">
        <p14:creationId xmlns:p14="http://schemas.microsoft.com/office/powerpoint/2010/main" val="33197433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88BB3-2A5B-34AC-B39B-BAE5C65E6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D448EB-8A1A-C9A3-3C48-4830472042E6}"/>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8. OUTCOME (CONTD.)</a:t>
            </a:r>
          </a:p>
        </p:txBody>
      </p:sp>
      <p:sp>
        <p:nvSpPr>
          <p:cNvPr id="4" name="Slide Number Placeholder 3">
            <a:extLst>
              <a:ext uri="{FF2B5EF4-FFF2-40B4-BE49-F238E27FC236}">
                <a16:creationId xmlns:a16="http://schemas.microsoft.com/office/drawing/2014/main" id="{3C63C818-3FBA-7FB8-3369-BCE4AC4BD8EF}"/>
              </a:ext>
            </a:extLst>
          </p:cNvPr>
          <p:cNvSpPr>
            <a:spLocks noGrp="1"/>
          </p:cNvSpPr>
          <p:nvPr>
            <p:ph type="sldNum" sz="quarter" idx="12"/>
          </p:nvPr>
        </p:nvSpPr>
        <p:spPr/>
        <p:txBody>
          <a:bodyPr/>
          <a:lstStyle/>
          <a:p>
            <a:fld id="{C02A2637-A5A3-49FA-B214-6E67543099EF}" type="slidenum">
              <a:rPr lang="en-US" smtClean="0"/>
              <a:t>16</a:t>
            </a:fld>
            <a:endParaRPr lang="en-US"/>
          </a:p>
        </p:txBody>
      </p:sp>
      <p:graphicFrame>
        <p:nvGraphicFramePr>
          <p:cNvPr id="5" name="Advisory outcomes"/>
          <p:cNvGraphicFramePr>
            <a:graphicFrameLocks noGrp="1"/>
          </p:cNvGraphicFramePr>
          <p:nvPr/>
        </p:nvGraphicFramePr>
        <p:xfrm>
          <a:off x="365760" y="1691640"/>
          <a:ext cx="5852160" cy="3657600"/>
        </p:xfrm>
        <a:graphic>
          <a:graphicData uri="http://schemas.openxmlformats.org/drawingml/2006/chart">
            <c:chart xmlns:c="http://schemas.openxmlformats.org/drawingml/2006/chart" r:id="rId2"/>
          </a:graphicData>
        </a:graphic>
      </p:graphicFrame>
      <p:sp>
        <p:nvSpPr>
          <p:cNvPr id="6" name="TextBox 5"/>
          <p:cNvSpPr txBox="1"/>
          <p:nvPr/>
        </p:nvSpPr>
        <p:spPr>
          <a:xfrm>
            <a:off x="457200" y="5486400"/>
            <a:ext cx="5760720" cy="1188720"/>
          </a:xfrm>
          <a:prstGeom prst="rect">
            <a:avLst/>
          </a:prstGeom>
          <a:noFill/>
        </p:spPr>
        <p:txBody>
          <a:bodyPr wrap="square" lIns="36576" rIns="36576" tIns="36576" bIns="36576" anchor="t"/>
          <a:lstStyle/>
          <a:p>
            <a:pPr algn="l" marL="0" indent="0">
              <a:spcAft>
                <a:spcPts val="0"/>
              </a:spcAft>
              <a:buNone/>
            </a:pPr>
            <a:r>
              <a:rPr sz="1400" b="0" i="0">
                <a:solidFill>
                  <a:srgbClr val="1A1A1A"/>
                </a:solidFill>
                <a:latin typeface="Times New Roman"/>
                <a:cs typeface="Times New Roman"/>
                <a:ea typeface="Times New Roman"/>
              </a:rPr>
              <a:t>12 of 12 LLM responses were schema-valid. Without retrieval the model cited non-existent evidence in 3 of 3 cases (all rejected); with retrieval in 0 of 9.</a:t>
            </a:r>
          </a:p>
        </p:txBody>
      </p:sp>
      <p:sp>
        <p:nvSpPr>
          <p:cNvPr id="7" name="TextBox 6"/>
          <p:cNvSpPr txBox="1"/>
          <p:nvPr/>
        </p:nvSpPr>
        <p:spPr>
          <a:xfrm>
            <a:off x="6583680" y="1737360"/>
            <a:ext cx="5760720" cy="365760"/>
          </a:xfrm>
          <a:prstGeom prst="rect">
            <a:avLst/>
          </a:prstGeom>
          <a:noFill/>
        </p:spPr>
        <p:txBody>
          <a:bodyPr wrap="square" lIns="18288" rIns="18288" tIns="18288" bIns="18288" anchor="t"/>
          <a:lstStyle/>
          <a:p>
            <a:pPr algn="l" marL="0" indent="0">
              <a:spcAft>
                <a:spcPts val="0"/>
              </a:spcAft>
              <a:buNone/>
            </a:pPr>
            <a:r>
              <a:rPr sz="1600" b="1" i="0">
                <a:solidFill>
                  <a:srgbClr val="1F497D"/>
                </a:solidFill>
                <a:latin typeface="Times New Roman"/>
                <a:cs typeface="Times New Roman"/>
                <a:ea typeface="Times New Roman"/>
              </a:rPr>
              <a:t>SUMO testbed calibration (SIMULATION)</a:t>
            </a:r>
          </a:p>
        </p:txBody>
      </p:sp>
      <p:graphicFrame>
        <p:nvGraphicFramePr>
          <p:cNvPr id="8" name="Simulation protocols"/>
          <p:cNvGraphicFramePr>
            <a:graphicFrameLocks noGrp="1"/>
          </p:cNvGraphicFramePr>
          <p:nvPr/>
        </p:nvGraphicFramePr>
        <p:xfrm>
          <a:off x="6583680" y="2148840"/>
          <a:ext cx="5760720" cy="2286000"/>
        </p:xfrm>
        <a:graphic>
          <a:graphicData uri="http://schemas.openxmlformats.org/drawingml/2006/table">
            <a:tbl>
              <a:tblPr firstRow="1" bandRow="1">
                <a:tableStyleId>{5C22544A-7EE6-4342-B048-85BDC9FD1C3A}</a:tableStyleId>
              </a:tblPr>
              <a:tblGrid>
                <a:gridCol w="2971800"/>
                <a:gridCol w="1280160"/>
                <a:gridCol w="1508760"/>
              </a:tblGrid>
              <a:tr h="457200">
                <a:tc>
                  <a:txBody>
                    <a:bodyPr wrap="square"/>
                    <a:lstStyle/>
                    <a:p>
                      <a:pPr algn="l" marL="0" indent="0">
                        <a:spcAft>
                          <a:spcPts val="0"/>
                        </a:spcAft>
                        <a:buNone/>
                      </a:pPr>
                      <a:r>
                        <a:rPr sz="1300" b="1" i="0">
                          <a:solidFill>
                            <a:srgbClr val="FFFFFF"/>
                          </a:solidFill>
                          <a:latin typeface="Times New Roman"/>
                          <a:cs typeface="Times New Roman"/>
                          <a:ea typeface="Times New Roman"/>
                        </a:rPr>
                        <a:t>Protocol</a:t>
                      </a:r>
                    </a:p>
                  </a:txBody>
                  <a:tcPr anchor="ctr">
                    <a:solidFill>
                      <a:srgbClr val="1F497D"/>
                    </a:solidFill>
                  </a:tcPr>
                </a:tc>
                <a:tc>
                  <a:txBody>
                    <a:bodyPr wrap="square"/>
                    <a:lstStyle/>
                    <a:p>
                      <a:pPr algn="ctr" marL="0" indent="0">
                        <a:spcAft>
                          <a:spcPts val="0"/>
                        </a:spcAft>
                        <a:buNone/>
                      </a:pPr>
                      <a:r>
                        <a:rPr sz="1300" b="1" i="0">
                          <a:solidFill>
                            <a:srgbClr val="FFFFFF"/>
                          </a:solidFill>
                          <a:latin typeface="Times New Roman"/>
                          <a:cs typeface="Times New Roman"/>
                          <a:ea typeface="Times New Roman"/>
                        </a:rPr>
                        <a:t>Unfinished*</a:t>
                      </a:r>
                    </a:p>
                  </a:txBody>
                  <a:tcPr anchor="ctr">
                    <a:solidFill>
                      <a:srgbClr val="1F497D"/>
                    </a:solidFill>
                  </a:tcPr>
                </a:tc>
                <a:tc>
                  <a:txBody>
                    <a:bodyPr wrap="square"/>
                    <a:lstStyle/>
                    <a:p>
                      <a:pPr algn="ctr" marL="0" indent="0">
                        <a:spcAft>
                          <a:spcPts val="0"/>
                        </a:spcAft>
                        <a:buNone/>
                      </a:pPr>
                      <a:r>
                        <a:rPr sz="1300" b="1" i="0">
                          <a:solidFill>
                            <a:srgbClr val="FFFFFF"/>
                          </a:solidFill>
                          <a:latin typeface="Times New Roman"/>
                          <a:cs typeface="Times New Roman"/>
                          <a:ea typeface="Times New Roman"/>
                        </a:rPr>
                        <a:t>Result</a:t>
                      </a:r>
                    </a:p>
                  </a:txBody>
                  <a:tcPr anchor="ctr">
                    <a:solidFill>
                      <a:srgbClr val="1F497D"/>
                    </a:solidFill>
                  </a:tcPr>
                </a:tc>
              </a:tr>
              <a:tr h="457200">
                <a:tc>
                  <a:txBody>
                    <a:bodyPr wrap="square"/>
                    <a:lstStyle/>
                    <a:p>
                      <a:pPr algn="l" marL="0" indent="0">
                        <a:spcAft>
                          <a:spcPts val="0"/>
                        </a:spcAft>
                        <a:buNone/>
                      </a:pPr>
                      <a:r>
                        <a:rPr sz="1300" b="0" i="0">
                          <a:solidFill>
                            <a:srgbClr val="1A1A1A"/>
                          </a:solidFill>
                          <a:latin typeface="Times New Roman"/>
                          <a:cs typeface="Times New Roman"/>
                          <a:ea typeface="Times New Roman"/>
                        </a:rPr>
                        <a:t>First comparison, 20 Oct (45 runs)</a:t>
                      </a:r>
                    </a:p>
                  </a:txBody>
                  <a:tcPr anchor="ctr">
                    <a:solidFill>
                      <a:srgbClr val="E4ECF7"/>
                    </a:solidFill>
                  </a:tcPr>
                </a:tc>
                <a:tc>
                  <a:txBody>
                    <a:bodyPr wrap="square"/>
                    <a:lstStyle/>
                    <a:p>
                      <a:pPr algn="ctr" marL="0" indent="0">
                        <a:spcAft>
                          <a:spcPts val="0"/>
                        </a:spcAft>
                        <a:buNone/>
                      </a:pPr>
                      <a:r>
                        <a:rPr sz="1300" b="0" i="0">
                          <a:solidFill>
                            <a:srgbClr val="1A1A1A"/>
                          </a:solidFill>
                          <a:latin typeface="Times New Roman"/>
                          <a:cs typeface="Times New Roman"/>
                          <a:ea typeface="Times New Roman"/>
                        </a:rPr>
                        <a:t>—</a:t>
                      </a:r>
                    </a:p>
                  </a:txBody>
                  <a:tcPr anchor="ctr">
                    <a:solidFill>
                      <a:srgbClr val="E4ECF7"/>
                    </a:solidFill>
                  </a:tcPr>
                </a:tc>
                <a:tc>
                  <a:txBody>
                    <a:bodyPr wrap="square"/>
                    <a:lstStyle/>
                    <a:p>
                      <a:pPr algn="ctr" marL="0" indent="0">
                        <a:spcAft>
                          <a:spcPts val="0"/>
                        </a:spcAft>
                        <a:buNone/>
                      </a:pPr>
                      <a:r>
                        <a:rPr sz="1300" b="1" i="0">
                          <a:solidFill>
                            <a:srgbClr val="B02A22"/>
                          </a:solidFill>
                          <a:latin typeface="Times New Roman"/>
                          <a:cs typeface="Times New Roman"/>
                          <a:ea typeface="Times New Roman"/>
                        </a:rPr>
                        <a:t>Superseded</a:t>
                      </a:r>
                    </a:p>
                  </a:txBody>
                  <a:tcPr anchor="ctr">
                    <a:solidFill>
                      <a:srgbClr val="E4ECF7"/>
                    </a:solidFill>
                  </a:tcPr>
                </a:tc>
              </a:tr>
              <a:tr h="457200">
                <a:tc>
                  <a:txBody>
                    <a:bodyPr wrap="square"/>
                    <a:lstStyle/>
                    <a:p>
                      <a:pPr algn="l" marL="0" indent="0">
                        <a:spcAft>
                          <a:spcPts val="0"/>
                        </a:spcAft>
                        <a:buNone/>
                      </a:pPr>
                      <a:r>
                        <a:rPr sz="1300" b="0" i="0">
                          <a:solidFill>
                            <a:srgbClr val="1A1A1A"/>
                          </a:solidFill>
                          <a:latin typeface="Times New Roman"/>
                          <a:cs typeface="Times New Roman"/>
                          <a:ea typeface="Times New Roman"/>
                        </a:rPr>
                        <a:t>2014 / 2025 counts, generated or Webster timing</a:t>
                      </a:r>
                    </a:p>
                  </a:txBody>
                  <a:tcPr anchor="ctr">
                    <a:solidFill>
                      <a:srgbClr val="FFFFFF"/>
                    </a:solidFill>
                  </a:tcPr>
                </a:tc>
                <a:tc>
                  <a:txBody>
                    <a:bodyPr wrap="square"/>
                    <a:lstStyle/>
                    <a:p>
                      <a:pPr algn="ctr" marL="0" indent="0">
                        <a:spcAft>
                          <a:spcPts val="0"/>
                        </a:spcAft>
                        <a:buNone/>
                      </a:pPr>
                      <a:r>
                        <a:rPr sz="1300" b="0" i="0">
                          <a:solidFill>
                            <a:srgbClr val="1A1A1A"/>
                          </a:solidFill>
                          <a:latin typeface="Times New Roman"/>
                          <a:cs typeface="Times New Roman"/>
                          <a:ea typeface="Times New Roman"/>
                        </a:rPr>
                        <a:t>4.3–17.7 %</a:t>
                      </a:r>
                    </a:p>
                  </a:txBody>
                  <a:tcPr anchor="ctr">
                    <a:solidFill>
                      <a:srgbClr val="FFFFFF"/>
                    </a:solidFill>
                  </a:tcPr>
                </a:tc>
                <a:tc>
                  <a:txBody>
                    <a:bodyPr wrap="square"/>
                    <a:lstStyle/>
                    <a:p>
                      <a:pPr algn="ctr" marL="0" indent="0">
                        <a:spcAft>
                          <a:spcPts val="0"/>
                        </a:spcAft>
                        <a:buNone/>
                      </a:pPr>
                      <a:r>
                        <a:rPr sz="1300" b="1" i="0">
                          <a:solidFill>
                            <a:srgbClr val="B02A22"/>
                          </a:solidFill>
                          <a:latin typeface="Times New Roman"/>
                          <a:cs typeface="Times New Roman"/>
                          <a:ea typeface="Times New Roman"/>
                        </a:rPr>
                        <a:t>Fails test</a:t>
                      </a:r>
                    </a:p>
                  </a:txBody>
                  <a:tcPr anchor="ctr">
                    <a:solidFill>
                      <a:srgbClr val="FFFFFF"/>
                    </a:solidFill>
                  </a:tcPr>
                </a:tc>
              </a:tr>
              <a:tr h="457200">
                <a:tc>
                  <a:txBody>
                    <a:bodyPr wrap="square"/>
                    <a:lstStyle/>
                    <a:p>
                      <a:pPr algn="l" marL="0" indent="0">
                        <a:spcAft>
                          <a:spcPts val="0"/>
                        </a:spcAft>
                        <a:buNone/>
                      </a:pPr>
                      <a:r>
                        <a:rPr sz="1300" b="0" i="0">
                          <a:solidFill>
                            <a:srgbClr val="1A1A1A"/>
                          </a:solidFill>
                          <a:latin typeface="Times New Roman"/>
                          <a:cs typeface="Times New Roman"/>
                          <a:ea typeface="Times New Roman"/>
                        </a:rPr>
                        <a:t>v5: corridor green ×1.0–2.5</a:t>
                      </a:r>
                    </a:p>
                  </a:txBody>
                  <a:tcPr anchor="ctr">
                    <a:solidFill>
                      <a:srgbClr val="E4ECF7"/>
                    </a:solidFill>
                  </a:tcPr>
                </a:tc>
                <a:tc>
                  <a:txBody>
                    <a:bodyPr wrap="square"/>
                    <a:lstStyle/>
                    <a:p>
                      <a:pPr algn="ctr" marL="0" indent="0">
                        <a:spcAft>
                          <a:spcPts val="0"/>
                        </a:spcAft>
                        <a:buNone/>
                      </a:pPr>
                      <a:r>
                        <a:rPr sz="1300" b="0" i="0">
                          <a:solidFill>
                            <a:srgbClr val="1A1A1A"/>
                          </a:solidFill>
                          <a:latin typeface="Times New Roman"/>
                          <a:cs typeface="Times New Roman"/>
                          <a:ea typeface="Times New Roman"/>
                        </a:rPr>
                        <a:t>0–0.5 % at ×2.0+</a:t>
                      </a:r>
                    </a:p>
                  </a:txBody>
                  <a:tcPr anchor="ctr">
                    <a:solidFill>
                      <a:srgbClr val="E4ECF7"/>
                    </a:solidFill>
                  </a:tcPr>
                </a:tc>
                <a:tc>
                  <a:txBody>
                    <a:bodyPr wrap="square"/>
                    <a:lstStyle/>
                    <a:p>
                      <a:pPr algn="ctr" marL="0" indent="0">
                        <a:spcAft>
                          <a:spcPts val="0"/>
                        </a:spcAft>
                        <a:buNone/>
                      </a:pPr>
                      <a:r>
                        <a:rPr sz="1300" b="1" i="0">
                          <a:solidFill>
                            <a:srgbClr val="B02A22"/>
                          </a:solidFill>
                          <a:latin typeface="Times New Roman"/>
                          <a:cs typeface="Times New Roman"/>
                          <a:ea typeface="Times New Roman"/>
                        </a:rPr>
                        <a:t>8.1 of 10.95 mph</a:t>
                      </a:r>
                    </a:p>
                  </a:txBody>
                  <a:tcPr anchor="ctr">
                    <a:solidFill>
                      <a:srgbClr val="E4ECF7"/>
                    </a:solidFill>
                  </a:tcPr>
                </a:tc>
              </a:tr>
              <a:tr h="457200">
                <a:tc>
                  <a:txBody>
                    <a:bodyPr wrap="square"/>
                    <a:lstStyle/>
                    <a:p>
                      <a:pPr algn="l" marL="0" indent="0">
                        <a:spcAft>
                          <a:spcPts val="0"/>
                        </a:spcAft>
                        <a:buNone/>
                      </a:pPr>
                      <a:r>
                        <a:rPr sz="1300" b="0" i="0">
                          <a:solidFill>
                            <a:srgbClr val="1A1A1A"/>
                          </a:solidFill>
                          <a:latin typeface="Times New Roman"/>
                          <a:cs typeface="Times New Roman"/>
                          <a:ea typeface="Times New Roman"/>
                        </a:rPr>
                        <a:t>v6: 90 s cycle, green ×1.5, 25 mph offsets</a:t>
                      </a:r>
                    </a:p>
                  </a:txBody>
                  <a:tcPr anchor="ctr">
                    <a:solidFill>
                      <a:srgbClr val="FFFFFF"/>
                    </a:solidFill>
                  </a:tcPr>
                </a:tc>
                <a:tc>
                  <a:txBody>
                    <a:bodyPr wrap="square"/>
                    <a:lstStyle/>
                    <a:p>
                      <a:pPr algn="ctr" marL="0" indent="0">
                        <a:spcAft>
                          <a:spcPts val="0"/>
                        </a:spcAft>
                        <a:buNone/>
                      </a:pPr>
                      <a:r>
                        <a:rPr sz="1300" b="0" i="0">
                          <a:solidFill>
                            <a:srgbClr val="1A1A1A"/>
                          </a:solidFill>
                          <a:latin typeface="Times New Roman"/>
                          <a:cs typeface="Times New Roman"/>
                          <a:ea typeface="Times New Roman"/>
                        </a:rPr>
                        <a:t>0 %</a:t>
                      </a:r>
                    </a:p>
                  </a:txBody>
                  <a:tcPr anchor="ctr">
                    <a:solidFill>
                      <a:srgbClr val="FFFFFF"/>
                    </a:solidFill>
                  </a:tcPr>
                </a:tc>
                <a:tc>
                  <a:txBody>
                    <a:bodyPr wrap="square"/>
                    <a:lstStyle/>
                    <a:p>
                      <a:pPr algn="ctr" marL="0" indent="0">
                        <a:spcAft>
                          <a:spcPts val="0"/>
                        </a:spcAft>
                        <a:buNone/>
                      </a:pPr>
                      <a:r>
                        <a:rPr sz="1300" b="1" i="0">
                          <a:solidFill>
                            <a:srgbClr val="2E7D4F"/>
                          </a:solidFill>
                          <a:latin typeface="Times New Roman"/>
                          <a:cs typeface="Times New Roman"/>
                          <a:ea typeface="Times New Roman"/>
                        </a:rPr>
                        <a:t>10.08 mph: passes</a:t>
                      </a:r>
                    </a:p>
                  </a:txBody>
                  <a:tcPr anchor="ctr">
                    <a:solidFill>
                      <a:srgbClr val="FFFFFF"/>
                    </a:solidFill>
                  </a:tcPr>
                </a:tc>
              </a:tr>
            </a:tbl>
          </a:graphicData>
        </a:graphic>
      </p:graphicFrame>
      <p:sp>
        <p:nvSpPr>
          <p:cNvPr id="9" name="TextBox 8"/>
          <p:cNvSpPr txBox="1"/>
          <p:nvPr/>
        </p:nvSpPr>
        <p:spPr>
          <a:xfrm>
            <a:off x="6583680" y="4526280"/>
            <a:ext cx="5760720" cy="2194560"/>
          </a:xfrm>
          <a:prstGeom prst="rect">
            <a:avLst/>
          </a:prstGeom>
          <a:noFill/>
        </p:spPr>
        <p:txBody>
          <a:bodyPr wrap="square" lIns="36576" rIns="36576" tIns="36576" bIns="36576" anchor="t"/>
          <a:lstStyle/>
          <a:p>
            <a:pPr algn="l" marL="0" indent="0">
              <a:spcAft>
                <a:spcPts val="400"/>
              </a:spcAft>
              <a:buNone/>
            </a:pPr>
            <a:r>
              <a:rPr sz="1100" b="0" i="0">
                <a:solidFill>
                  <a:srgbClr val="555F6B"/>
                </a:solidFill>
                <a:latin typeface="Times New Roman"/>
                <a:cs typeface="Times New Roman"/>
                <a:ea typeface="Times New Roman"/>
              </a:rPr>
              <a:t>* Vehicles not finishing with no side-street traffic; the preregistered test allows at most 1 % and no stuck vehicles.</a:t>
            </a:r>
          </a:p>
          <a:p>
            <a:pPr algn="l" marL="0" indent="0">
              <a:spcAft>
                <a:spcPts val="400"/>
              </a:spcAft>
              <a:buNone/>
            </a:pPr>
            <a:r>
              <a:rPr sz="1200" b="0" i="0">
                <a:solidFill>
                  <a:srgbClr val="1A1A1A"/>
                </a:solidFill>
                <a:latin typeface="Times New Roman"/>
                <a:cs typeface="Times New Roman"/>
                <a:ea typeface="Times New Roman"/>
              </a:rPr>
              <a:t>The first comparison let SUMO re-route 1,120 of 2,189 main-road vehicles off West Street, so it did not test the corridor.</a:t>
            </a:r>
          </a:p>
          <a:p>
            <a:pPr algn="l" marL="0" indent="0">
              <a:spcAft>
                <a:spcPts val="400"/>
              </a:spcAft>
              <a:buNone/>
            </a:pPr>
            <a:r>
              <a:rPr sz="1200" b="0" i="0">
                <a:solidFill>
                  <a:srgbClr val="1A1A1A"/>
                </a:solidFill>
                <a:latin typeface="Times New Roman"/>
                <a:cs typeface="Times New Roman"/>
                <a:ea typeface="Times New Roman"/>
              </a:rPr>
              <a:t>Target: the real PM-peak speed of 10.95 mph (±1.5) with 2025 counts. Splits alone peaked at 8.88 mph; southbound offsets closed the gap; 120 s cells overshot (13–22 mph).</a:t>
            </a:r>
          </a:p>
          <a:p>
            <a:pPr algn="l" marL="0" indent="0">
              <a:spcAft>
                <a:spcPts val="400"/>
              </a:spcAft>
              <a:buNone/>
            </a:pPr>
            <a:r>
              <a:rPr sz="1200" b="1" i="0">
                <a:solidFill>
                  <a:srgbClr val="1A1A1A"/>
                </a:solidFill>
                <a:latin typeface="Times New Roman"/>
                <a:cs typeface="Times New Roman"/>
                <a:ea typeface="Times New Roman"/>
              </a:rPr>
              <a:t>v6 (26 Oct, 75 runs) selects 90 s / ×1.5 / 25 mph: 10.08 mph, 0 unfinished. A calibrated scenario testbed, not NYC DOT timing; only side-street demand 0.0 is admissible.</a:t>
            </a:r>
          </a:p>
        </p:txBody>
      </p:sp>
    </p:spTree>
    <p:extLst>
      <p:ext uri="{BB962C8B-B14F-4D97-AF65-F5344CB8AC3E}">
        <p14:creationId xmlns:p14="http://schemas.microsoft.com/office/powerpoint/2010/main" val="33197433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88BB3-2A5B-34AC-B39B-BAE5C65E6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D448EB-8A1A-C9A3-3C48-4830472042E6}"/>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8. OUTCOME: WORKING DASHBOARD (1/5)</a:t>
            </a:r>
          </a:p>
        </p:txBody>
      </p:sp>
      <p:sp>
        <p:nvSpPr>
          <p:cNvPr id="4" name="Slide Number Placeholder 3">
            <a:extLst>
              <a:ext uri="{FF2B5EF4-FFF2-40B4-BE49-F238E27FC236}">
                <a16:creationId xmlns:a16="http://schemas.microsoft.com/office/drawing/2014/main" id="{3C63C818-3FBA-7FB8-3369-BCE4AC4BD8EF}"/>
              </a:ext>
            </a:extLst>
          </p:cNvPr>
          <p:cNvSpPr>
            <a:spLocks noGrp="1"/>
          </p:cNvSpPr>
          <p:nvPr>
            <p:ph type="sldNum" sz="quarter" idx="12"/>
          </p:nvPr>
        </p:nvSpPr>
        <p:spPr/>
        <p:txBody>
          <a:bodyPr/>
          <a:lstStyle/>
          <a:p>
            <a:fld id="{C02A2637-A5A3-49FA-B214-6E67543099EF}" type="slidenum">
              <a:rPr lang="en-US" smtClean="0"/>
              <a:t>17</a:t>
            </a:fld>
            <a:endParaRPr lang="en-US"/>
          </a:p>
        </p:txBody>
      </p:sp>
      <p:sp>
        <p:nvSpPr>
          <p:cNvPr id="5" name="TextBox 4"/>
          <p:cNvSpPr txBox="1"/>
          <p:nvPr/>
        </p:nvSpPr>
        <p:spPr>
          <a:xfrm>
            <a:off x="50292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Multi-horizon forecast (proposed model)</a:t>
            </a:r>
            <a:r>
              <a:rPr sz="1200" b="0" i="0">
                <a:solidFill>
                  <a:srgbClr val="555F6B"/>
                </a:solidFill>
                <a:latin typeface="Arial"/>
                <a:cs typeface="Arial"/>
                <a:ea typeface="Arial"/>
              </a:rPr>
              <a:t>   Mode shown: </a:t>
            </a:r>
            <a:r>
              <a:rPr sz="1200" b="1" i="0">
                <a:solidFill>
                  <a:srgbClr val="C25E00"/>
                </a:solidFill>
                <a:latin typeface="Arial"/>
                <a:cs typeface="Arial"/>
                <a:ea typeface="Arial"/>
              </a:rPr>
              <a:t>REPLAY</a:t>
            </a:r>
          </a:p>
        </p:txBody>
      </p:sp>
      <p:pic>
        <p:nvPicPr>
          <p:cNvPr id="6" name="Dashboard: Multi-horizon forecast (proposed model)" descr="image.png"/>
          <p:cNvPicPr>
            <a:picLocks noChangeAspect="1"/>
          </p:cNvPicPr>
          <p:nvPr/>
        </p:nvPicPr>
        <p:blipFill>
          <a:blip r:embed="rId2"/>
          <a:stretch>
            <a:fillRect/>
          </a:stretch>
        </p:blipFill>
        <p:spPr>
          <a:xfrm>
            <a:off x="502920" y="1984248"/>
            <a:ext cx="5715000" cy="3981762"/>
          </a:xfrm>
          <a:prstGeom prst="rect">
            <a:avLst/>
          </a:prstGeom>
          <a:ln w="12700">
            <a:solidFill>
              <a:srgbClr val="C9D3E0"/>
            </a:solidFill>
          </a:ln>
        </p:spPr>
      </p:pic>
      <p:sp>
        <p:nvSpPr>
          <p:cNvPr id="7" name="TextBox 6"/>
          <p:cNvSpPr txBox="1"/>
          <p:nvPr/>
        </p:nvSpPr>
        <p:spPr>
          <a:xfrm>
            <a:off x="658368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Traffic map: monitored links</a:t>
            </a:r>
            <a:r>
              <a:rPr sz="1200" b="0" i="0">
                <a:solidFill>
                  <a:srgbClr val="555F6B"/>
                </a:solidFill>
                <a:latin typeface="Arial"/>
                <a:cs typeface="Arial"/>
                <a:ea typeface="Arial"/>
              </a:rPr>
              <a:t>   Mode shown: </a:t>
            </a:r>
            <a:r>
              <a:rPr sz="1200" b="1" i="0">
                <a:solidFill>
                  <a:srgbClr val="C25E00"/>
                </a:solidFill>
                <a:latin typeface="Arial"/>
                <a:cs typeface="Arial"/>
                <a:ea typeface="Arial"/>
              </a:rPr>
              <a:t>REPLAY</a:t>
            </a:r>
          </a:p>
        </p:txBody>
      </p:sp>
      <p:pic>
        <p:nvPicPr>
          <p:cNvPr id="8" name="Dashboard: Traffic map: monitored links" descr="image.png"/>
          <p:cNvPicPr>
            <a:picLocks noChangeAspect="1"/>
          </p:cNvPicPr>
          <p:nvPr/>
        </p:nvPicPr>
        <p:blipFill>
          <a:blip r:embed="rId3"/>
          <a:stretch>
            <a:fillRect/>
          </a:stretch>
        </p:blipFill>
        <p:spPr>
          <a:xfrm>
            <a:off x="6583680" y="1984248"/>
            <a:ext cx="5715000" cy="3185409"/>
          </a:xfrm>
          <a:prstGeom prst="rect">
            <a:avLst/>
          </a:prstGeom>
          <a:ln w="12700">
            <a:solidFill>
              <a:srgbClr val="C9D3E0"/>
            </a:solidFill>
          </a:ln>
        </p:spPr>
      </p:pic>
      <p:sp>
        <p:nvSpPr>
          <p:cNvPr id="9" name="TextBox 8"/>
          <p:cNvSpPr txBox="1"/>
          <p:nvPr/>
        </p:nvSpPr>
        <p:spPr>
          <a:xfrm>
            <a:off x="502920" y="6039162"/>
            <a:ext cx="11795760" cy="457200"/>
          </a:xfrm>
          <a:prstGeom prst="rect">
            <a:avLst/>
          </a:prstGeom>
          <a:noFill/>
        </p:spPr>
        <p:txBody>
          <a:bodyPr wrap="square" lIns="18288" rIns="18288" tIns="18288" bIns="18288" anchor="t"/>
          <a:lstStyle/>
          <a:p>
            <a:pPr algn="l" marL="0" indent="0">
              <a:spcAft>
                <a:spcPts val="0"/>
              </a:spcAft>
              <a:buNone/>
            </a:pPr>
            <a:r>
              <a:rPr sz="1100" b="0" i="0">
                <a:solidFill>
                  <a:srgbClr val="555F6B"/>
                </a:solidFill>
                <a:latin typeface="Arial"/>
                <a:cs typeface="Arial"/>
                <a:ea typeface="Arial"/>
              </a:rPr>
              <a:t>Captured on 23 Oct 2026 on the training laptop, which holds the trained model and the processed NYC DOT data. The forecast is a REPLAY of the held-out test period (origin 20 Oct 2026, 90 % conformal intervals); no LIVE view is shown.</a:t>
            </a:r>
          </a:p>
        </p:txBody>
      </p:sp>
    </p:spTree>
    <p:extLst>
      <p:ext uri="{BB962C8B-B14F-4D97-AF65-F5344CB8AC3E}">
        <p14:creationId xmlns:p14="http://schemas.microsoft.com/office/powerpoint/2010/main" val="33197433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88BB3-2A5B-34AC-B39B-BAE5C65E6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D448EB-8A1A-C9A3-3C48-4830472042E6}"/>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8. OUTCOME: WORKING DASHBOARD (2/5)</a:t>
            </a:r>
          </a:p>
        </p:txBody>
      </p:sp>
      <p:sp>
        <p:nvSpPr>
          <p:cNvPr id="4" name="Slide Number Placeholder 3">
            <a:extLst>
              <a:ext uri="{FF2B5EF4-FFF2-40B4-BE49-F238E27FC236}">
                <a16:creationId xmlns:a16="http://schemas.microsoft.com/office/drawing/2014/main" id="{3C63C818-3FBA-7FB8-3369-BCE4AC4BD8EF}"/>
              </a:ext>
            </a:extLst>
          </p:cNvPr>
          <p:cNvSpPr>
            <a:spLocks noGrp="1"/>
          </p:cNvSpPr>
          <p:nvPr>
            <p:ph type="sldNum" sz="quarter" idx="12"/>
          </p:nvPr>
        </p:nvSpPr>
        <p:spPr/>
        <p:txBody>
          <a:bodyPr/>
          <a:lstStyle/>
          <a:p>
            <a:fld id="{C02A2637-A5A3-49FA-B214-6E67543099EF}" type="slidenum">
              <a:rPr lang="en-US" smtClean="0"/>
              <a:t>18</a:t>
            </a:fld>
            <a:endParaRPr lang="en-US"/>
          </a:p>
        </p:txBody>
      </p:sp>
      <p:sp>
        <p:nvSpPr>
          <p:cNvPr id="5" name="TextBox 4"/>
          <p:cNvSpPr txBox="1"/>
          <p:nvPr/>
        </p:nvSpPr>
        <p:spPr>
          <a:xfrm>
            <a:off x="50292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Overview &amp; status</a:t>
            </a:r>
            <a:r>
              <a:rPr sz="1200" b="0" i="0">
                <a:solidFill>
                  <a:srgbClr val="555F6B"/>
                </a:solidFill>
                <a:latin typeface="Arial"/>
                <a:cs typeface="Arial"/>
                <a:ea typeface="Arial"/>
              </a:rPr>
              <a:t>   (status page, no mode label)</a:t>
            </a:r>
          </a:p>
        </p:txBody>
      </p:sp>
      <p:pic>
        <p:nvPicPr>
          <p:cNvPr id="6" name="Dashboard: Overview &amp; status" descr="overview.png"/>
          <p:cNvPicPr>
            <a:picLocks noChangeAspect="1"/>
          </p:cNvPicPr>
          <p:nvPr/>
        </p:nvPicPr>
        <p:blipFill>
          <a:blip r:embed="rId2"/>
          <a:stretch>
            <a:fillRect/>
          </a:stretch>
        </p:blipFill>
        <p:spPr>
          <a:xfrm>
            <a:off x="502920" y="1984248"/>
            <a:ext cx="5715000" cy="4366516"/>
          </a:xfrm>
          <a:prstGeom prst="rect">
            <a:avLst/>
          </a:prstGeom>
          <a:ln w="12700">
            <a:solidFill>
              <a:srgbClr val="C9D3E0"/>
            </a:solidFill>
          </a:ln>
        </p:spPr>
      </p:pic>
      <p:sp>
        <p:nvSpPr>
          <p:cNvPr id="7" name="TextBox 6"/>
          <p:cNvSpPr txBox="1"/>
          <p:nvPr/>
        </p:nvSpPr>
        <p:spPr>
          <a:xfrm>
            <a:off x="658368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Data audit &amp; provenance</a:t>
            </a:r>
            <a:r>
              <a:rPr sz="1200" b="0" i="0">
                <a:solidFill>
                  <a:srgbClr val="555F6B"/>
                </a:solidFill>
                <a:latin typeface="Arial"/>
                <a:cs typeface="Arial"/>
                <a:ea typeface="Arial"/>
              </a:rPr>
              <a:t>   Mode shown: </a:t>
            </a:r>
            <a:r>
              <a:rPr sz="1200" b="1" i="0">
                <a:solidFill>
                  <a:srgbClr val="C25E00"/>
                </a:solidFill>
                <a:latin typeface="Arial"/>
                <a:cs typeface="Arial"/>
                <a:ea typeface="Arial"/>
              </a:rPr>
              <a:t>REPLAY</a:t>
            </a:r>
          </a:p>
        </p:txBody>
      </p:sp>
      <p:pic>
        <p:nvPicPr>
          <p:cNvPr id="8" name="Dashboard: Data audit &amp; provenance" descr="data_audit.png"/>
          <p:cNvPicPr>
            <a:picLocks noChangeAspect="1"/>
          </p:cNvPicPr>
          <p:nvPr/>
        </p:nvPicPr>
        <p:blipFill>
          <a:blip r:embed="rId3"/>
          <a:stretch>
            <a:fillRect/>
          </a:stretch>
        </p:blipFill>
        <p:spPr>
          <a:xfrm>
            <a:off x="6583680" y="1984248"/>
            <a:ext cx="5715000" cy="4366516"/>
          </a:xfrm>
          <a:prstGeom prst="rect">
            <a:avLst/>
          </a:prstGeom>
          <a:ln w="12700">
            <a:solidFill>
              <a:srgbClr val="C9D3E0"/>
            </a:solidFill>
          </a:ln>
        </p:spPr>
      </p:pic>
      <p:sp>
        <p:nvSpPr>
          <p:cNvPr id="9" name="TextBox 8"/>
          <p:cNvSpPr txBox="1"/>
          <p:nvPr/>
        </p:nvSpPr>
        <p:spPr>
          <a:xfrm>
            <a:off x="502920" y="6423916"/>
            <a:ext cx="11795760" cy="457200"/>
          </a:xfrm>
          <a:prstGeom prst="rect">
            <a:avLst/>
          </a:prstGeom>
          <a:noFill/>
        </p:spPr>
        <p:txBody>
          <a:bodyPr wrap="square" lIns="18288" rIns="18288" tIns="18288" bIns="18288" anchor="t"/>
          <a:lstStyle/>
          <a:p>
            <a:pPr algn="l" marL="0" indent="0">
              <a:spcAft>
                <a:spcPts val="0"/>
              </a:spcAft>
              <a:buNone/>
            </a:pPr>
            <a:r>
              <a:rPr sz="1100" b="0" i="0">
                <a:solidFill>
                  <a:srgbClr val="555F6B"/>
                </a:solidFill>
                <a:latin typeface="Arial"/>
                <a:cs typeface="Arial"/>
                <a:ea typeface="Arial"/>
              </a:rPr>
              <a:t>Screenshots of the project's Streamlit dashboard (src/smartcity/dashboard/app.py) captured on 28 Oct 2026; every number on them is read from committed result files. LIVE mode is built but not yet run, so no LIVE view is shown.</a:t>
            </a:r>
          </a:p>
        </p:txBody>
      </p:sp>
    </p:spTree>
    <p:extLst>
      <p:ext uri="{BB962C8B-B14F-4D97-AF65-F5344CB8AC3E}">
        <p14:creationId xmlns:p14="http://schemas.microsoft.com/office/powerpoint/2010/main" val="33197433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88BB3-2A5B-34AC-B39B-BAE5C65E6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D448EB-8A1A-C9A3-3C48-4830472042E6}"/>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8. OUTCOME: WORKING DASHBOARD (3/5)</a:t>
            </a:r>
          </a:p>
        </p:txBody>
      </p:sp>
      <p:sp>
        <p:nvSpPr>
          <p:cNvPr id="4" name="Slide Number Placeholder 3">
            <a:extLst>
              <a:ext uri="{FF2B5EF4-FFF2-40B4-BE49-F238E27FC236}">
                <a16:creationId xmlns:a16="http://schemas.microsoft.com/office/drawing/2014/main" id="{3C63C818-3FBA-7FB8-3369-BCE4AC4BD8EF}"/>
              </a:ext>
            </a:extLst>
          </p:cNvPr>
          <p:cNvSpPr>
            <a:spLocks noGrp="1"/>
          </p:cNvSpPr>
          <p:nvPr>
            <p:ph type="sldNum" sz="quarter" idx="12"/>
          </p:nvPr>
        </p:nvSpPr>
        <p:spPr/>
        <p:txBody>
          <a:bodyPr/>
          <a:lstStyle/>
          <a:p>
            <a:fld id="{C02A2637-A5A3-49FA-B214-6E67543099EF}" type="slidenum">
              <a:rPr lang="en-US" smtClean="0"/>
              <a:t>19</a:t>
            </a:fld>
            <a:endParaRPr lang="en-US"/>
          </a:p>
        </p:txBody>
      </p:sp>
      <p:sp>
        <p:nvSpPr>
          <p:cNvPr id="5" name="TextBox 4"/>
          <p:cNvSpPr txBox="1"/>
          <p:nvPr/>
        </p:nvSpPr>
        <p:spPr>
          <a:xfrm>
            <a:off x="50292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Experiment results</a:t>
            </a:r>
            <a:r>
              <a:rPr sz="1200" b="0" i="0">
                <a:solidFill>
                  <a:srgbClr val="555F6B"/>
                </a:solidFill>
                <a:latin typeface="Arial"/>
                <a:cs typeface="Arial"/>
                <a:ea typeface="Arial"/>
              </a:rPr>
              <a:t>   Mode shown: </a:t>
            </a:r>
            <a:r>
              <a:rPr sz="1200" b="1" i="0">
                <a:solidFill>
                  <a:srgbClr val="C25E00"/>
                </a:solidFill>
                <a:latin typeface="Arial"/>
                <a:cs typeface="Arial"/>
                <a:ea typeface="Arial"/>
              </a:rPr>
              <a:t>REPLAY</a:t>
            </a:r>
          </a:p>
        </p:txBody>
      </p:sp>
      <p:pic>
        <p:nvPicPr>
          <p:cNvPr id="6" name="Dashboard: Experiment results" descr="experiments.png"/>
          <p:cNvPicPr>
            <a:picLocks noChangeAspect="1"/>
          </p:cNvPicPr>
          <p:nvPr/>
        </p:nvPicPr>
        <p:blipFill>
          <a:blip r:embed="rId2"/>
          <a:stretch>
            <a:fillRect/>
          </a:stretch>
        </p:blipFill>
        <p:spPr>
          <a:xfrm>
            <a:off x="502920" y="1984248"/>
            <a:ext cx="5715000" cy="4366516"/>
          </a:xfrm>
          <a:prstGeom prst="rect">
            <a:avLst/>
          </a:prstGeom>
          <a:ln w="12700">
            <a:solidFill>
              <a:srgbClr val="C9D3E0"/>
            </a:solidFill>
          </a:ln>
        </p:spPr>
      </p:pic>
      <p:sp>
        <p:nvSpPr>
          <p:cNvPr id="7" name="TextBox 6"/>
          <p:cNvSpPr txBox="1"/>
          <p:nvPr/>
        </p:nvSpPr>
        <p:spPr>
          <a:xfrm>
            <a:off x="658368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Uncertainty &amp; reliability</a:t>
            </a:r>
            <a:r>
              <a:rPr sz="1200" b="0" i="0">
                <a:solidFill>
                  <a:srgbClr val="555F6B"/>
                </a:solidFill>
                <a:latin typeface="Arial"/>
                <a:cs typeface="Arial"/>
                <a:ea typeface="Arial"/>
              </a:rPr>
              <a:t>   Mode shown: </a:t>
            </a:r>
            <a:r>
              <a:rPr sz="1200" b="1" i="0">
                <a:solidFill>
                  <a:srgbClr val="C25E00"/>
                </a:solidFill>
                <a:latin typeface="Arial"/>
                <a:cs typeface="Arial"/>
                <a:ea typeface="Arial"/>
              </a:rPr>
              <a:t>REPLAY</a:t>
            </a:r>
          </a:p>
        </p:txBody>
      </p:sp>
      <p:pic>
        <p:nvPicPr>
          <p:cNvPr id="8" name="Dashboard: Uncertainty &amp; reliability" descr="uncertainty.png"/>
          <p:cNvPicPr>
            <a:picLocks noChangeAspect="1"/>
          </p:cNvPicPr>
          <p:nvPr/>
        </p:nvPicPr>
        <p:blipFill>
          <a:blip r:embed="rId3"/>
          <a:stretch>
            <a:fillRect/>
          </a:stretch>
        </p:blipFill>
        <p:spPr>
          <a:xfrm>
            <a:off x="6583680" y="1984248"/>
            <a:ext cx="5715000" cy="4366516"/>
          </a:xfrm>
          <a:prstGeom prst="rect">
            <a:avLst/>
          </a:prstGeom>
          <a:ln w="12700">
            <a:solidFill>
              <a:srgbClr val="C9D3E0"/>
            </a:solidFill>
          </a:ln>
        </p:spPr>
      </p:pic>
      <p:sp>
        <p:nvSpPr>
          <p:cNvPr id="9" name="TextBox 8"/>
          <p:cNvSpPr txBox="1"/>
          <p:nvPr/>
        </p:nvSpPr>
        <p:spPr>
          <a:xfrm>
            <a:off x="502920" y="6423916"/>
            <a:ext cx="11795760" cy="457200"/>
          </a:xfrm>
          <a:prstGeom prst="rect">
            <a:avLst/>
          </a:prstGeom>
          <a:noFill/>
        </p:spPr>
        <p:txBody>
          <a:bodyPr wrap="square" lIns="18288" rIns="18288" tIns="18288" bIns="18288" anchor="t"/>
          <a:lstStyle/>
          <a:p>
            <a:pPr algn="l" marL="0" indent="0">
              <a:spcAft>
                <a:spcPts val="0"/>
              </a:spcAft>
              <a:buNone/>
            </a:pPr>
            <a:r>
              <a:rPr sz="1100" b="0" i="0">
                <a:solidFill>
                  <a:srgbClr val="555F6B"/>
                </a:solidFill>
                <a:latin typeface="Arial"/>
                <a:cs typeface="Arial"/>
                <a:ea typeface="Arial"/>
              </a:rPr>
              <a:t>Screenshots of the project's Streamlit dashboard (src/smartcity/dashboard/app.py) captured on 28 Oct 2026; every number on them is read from committed result files. LIVE mode is built but not yet run, so no LIVE view is shown. The Experiment results page shows the seed-42 runs; the three-seed results are on slide 22.</a:t>
            </a:r>
          </a:p>
        </p:txBody>
      </p:sp>
    </p:spTree>
    <p:extLst>
      <p:ext uri="{BB962C8B-B14F-4D97-AF65-F5344CB8AC3E}">
        <p14:creationId xmlns:p14="http://schemas.microsoft.com/office/powerpoint/2010/main" val="33197433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88BB3-2A5B-34AC-B39B-BAE5C65E6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D448EB-8A1A-C9A3-3C48-4830472042E6}"/>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8. OUTCOME: WORKING DASHBOARD (4/5)</a:t>
            </a:r>
          </a:p>
        </p:txBody>
      </p:sp>
      <p:sp>
        <p:nvSpPr>
          <p:cNvPr id="4" name="Slide Number Placeholder 3">
            <a:extLst>
              <a:ext uri="{FF2B5EF4-FFF2-40B4-BE49-F238E27FC236}">
                <a16:creationId xmlns:a16="http://schemas.microsoft.com/office/drawing/2014/main" id="{3C63C818-3FBA-7FB8-3369-BCE4AC4BD8EF}"/>
              </a:ext>
            </a:extLst>
          </p:cNvPr>
          <p:cNvSpPr>
            <a:spLocks noGrp="1"/>
          </p:cNvSpPr>
          <p:nvPr>
            <p:ph type="sldNum" sz="quarter" idx="12"/>
          </p:nvPr>
        </p:nvSpPr>
        <p:spPr/>
        <p:txBody>
          <a:bodyPr/>
          <a:lstStyle/>
          <a:p>
            <a:fld id="{C02A2637-A5A3-49FA-B214-6E67543099EF}" type="slidenum">
              <a:rPr lang="en-US" smtClean="0"/>
              <a:t>20</a:t>
            </a:fld>
            <a:endParaRPr lang="en-US"/>
          </a:p>
        </p:txBody>
      </p:sp>
      <p:sp>
        <p:nvSpPr>
          <p:cNvPr id="5" name="TextBox 4"/>
          <p:cNvSpPr txBox="1"/>
          <p:nvPr/>
        </p:nvSpPr>
        <p:spPr>
          <a:xfrm>
            <a:off x="50292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Explainability (proposed model)</a:t>
            </a:r>
            <a:r>
              <a:rPr sz="1200" b="0" i="0">
                <a:solidFill>
                  <a:srgbClr val="555F6B"/>
                </a:solidFill>
                <a:latin typeface="Arial"/>
                <a:cs typeface="Arial"/>
                <a:ea typeface="Arial"/>
              </a:rPr>
              <a:t>   Mode shown: </a:t>
            </a:r>
            <a:r>
              <a:rPr sz="1200" b="1" i="0">
                <a:solidFill>
                  <a:srgbClr val="C25E00"/>
                </a:solidFill>
                <a:latin typeface="Arial"/>
                <a:cs typeface="Arial"/>
                <a:ea typeface="Arial"/>
              </a:rPr>
              <a:t>REPLAY</a:t>
            </a:r>
          </a:p>
        </p:txBody>
      </p:sp>
      <p:pic>
        <p:nvPicPr>
          <p:cNvPr id="6" name="Dashboard: Explainability (proposed model)" descr="explainability.png"/>
          <p:cNvPicPr>
            <a:picLocks noChangeAspect="1"/>
          </p:cNvPicPr>
          <p:nvPr/>
        </p:nvPicPr>
        <p:blipFill>
          <a:blip r:embed="rId2"/>
          <a:stretch>
            <a:fillRect/>
          </a:stretch>
        </p:blipFill>
        <p:spPr>
          <a:xfrm>
            <a:off x="502920" y="1984248"/>
            <a:ext cx="5715000" cy="4366516"/>
          </a:xfrm>
          <a:prstGeom prst="rect">
            <a:avLst/>
          </a:prstGeom>
          <a:ln w="12700">
            <a:solidFill>
              <a:srgbClr val="C9D3E0"/>
            </a:solidFill>
          </a:ln>
        </p:spPr>
      </p:pic>
      <p:sp>
        <p:nvSpPr>
          <p:cNvPr id="7" name="TextBox 6"/>
          <p:cNvSpPr txBox="1"/>
          <p:nvPr/>
        </p:nvSpPr>
        <p:spPr>
          <a:xfrm>
            <a:off x="658368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Agent trace &amp; advisory</a:t>
            </a:r>
            <a:r>
              <a:rPr sz="1200" b="0" i="0">
                <a:solidFill>
                  <a:srgbClr val="555F6B"/>
                </a:solidFill>
                <a:latin typeface="Arial"/>
                <a:cs typeface="Arial"/>
                <a:ea typeface="Arial"/>
              </a:rPr>
              <a:t>   Mode shown: </a:t>
            </a:r>
            <a:r>
              <a:rPr sz="1200" b="1" i="0">
                <a:solidFill>
                  <a:srgbClr val="C25E00"/>
                </a:solidFill>
                <a:latin typeface="Arial"/>
                <a:cs typeface="Arial"/>
                <a:ea typeface="Arial"/>
              </a:rPr>
              <a:t>REPLAY</a:t>
            </a:r>
          </a:p>
        </p:txBody>
      </p:sp>
      <p:pic>
        <p:nvPicPr>
          <p:cNvPr id="8" name="Dashboard: Agent trace &amp; advisory" descr="agent.png"/>
          <p:cNvPicPr>
            <a:picLocks noChangeAspect="1"/>
          </p:cNvPicPr>
          <p:nvPr/>
        </p:nvPicPr>
        <p:blipFill>
          <a:blip r:embed="rId3"/>
          <a:stretch>
            <a:fillRect/>
          </a:stretch>
        </p:blipFill>
        <p:spPr>
          <a:xfrm>
            <a:off x="6583680" y="1984248"/>
            <a:ext cx="5715000" cy="4366516"/>
          </a:xfrm>
          <a:prstGeom prst="rect">
            <a:avLst/>
          </a:prstGeom>
          <a:ln w="12700">
            <a:solidFill>
              <a:srgbClr val="C9D3E0"/>
            </a:solidFill>
          </a:ln>
        </p:spPr>
      </p:pic>
      <p:sp>
        <p:nvSpPr>
          <p:cNvPr id="9" name="TextBox 8"/>
          <p:cNvSpPr txBox="1"/>
          <p:nvPr/>
        </p:nvSpPr>
        <p:spPr>
          <a:xfrm>
            <a:off x="502920" y="6423916"/>
            <a:ext cx="11795760" cy="457200"/>
          </a:xfrm>
          <a:prstGeom prst="rect">
            <a:avLst/>
          </a:prstGeom>
          <a:noFill/>
        </p:spPr>
        <p:txBody>
          <a:bodyPr wrap="square" lIns="18288" rIns="18288" tIns="18288" bIns="18288" anchor="t"/>
          <a:lstStyle/>
          <a:p>
            <a:pPr algn="l" marL="0" indent="0">
              <a:spcAft>
                <a:spcPts val="0"/>
              </a:spcAft>
              <a:buNone/>
            </a:pPr>
            <a:r>
              <a:rPr sz="1100" b="0" i="0">
                <a:solidFill>
                  <a:srgbClr val="555F6B"/>
                </a:solidFill>
                <a:latin typeface="Arial"/>
                <a:cs typeface="Arial"/>
                <a:ea typeface="Arial"/>
              </a:rPr>
              <a:t>Screenshots of the project's Streamlit dashboard (src/smartcity/dashboard/app.py) captured on 28 Oct 2026; every number on them is read from committed result files. LIVE mode is built but not yet run, so no LIVE view is shown. Agent traces end in review, deferral or rejection; nothing is sent to real signals.</a:t>
            </a:r>
          </a:p>
        </p:txBody>
      </p:sp>
    </p:spTree>
    <p:extLst>
      <p:ext uri="{BB962C8B-B14F-4D97-AF65-F5344CB8AC3E}">
        <p14:creationId xmlns:p14="http://schemas.microsoft.com/office/powerpoint/2010/main" val="33197433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88BB3-2A5B-34AC-B39B-BAE5C65E6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D448EB-8A1A-C9A3-3C48-4830472042E6}"/>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8. OUTCOME: WORKING DASHBOARD (5/5)</a:t>
            </a:r>
          </a:p>
        </p:txBody>
      </p:sp>
      <p:sp>
        <p:nvSpPr>
          <p:cNvPr id="4" name="Slide Number Placeholder 3">
            <a:extLst>
              <a:ext uri="{FF2B5EF4-FFF2-40B4-BE49-F238E27FC236}">
                <a16:creationId xmlns:a16="http://schemas.microsoft.com/office/drawing/2014/main" id="{3C63C818-3FBA-7FB8-3369-BCE4AC4BD8EF}"/>
              </a:ext>
            </a:extLst>
          </p:cNvPr>
          <p:cNvSpPr>
            <a:spLocks noGrp="1"/>
          </p:cNvSpPr>
          <p:nvPr>
            <p:ph type="sldNum" sz="quarter" idx="12"/>
          </p:nvPr>
        </p:nvSpPr>
        <p:spPr/>
        <p:txBody>
          <a:bodyPr/>
          <a:lstStyle/>
          <a:p>
            <a:fld id="{C02A2637-A5A3-49FA-B214-6E67543099EF}" type="slidenum">
              <a:rPr lang="en-US" smtClean="0"/>
              <a:t>21</a:t>
            </a:fld>
            <a:endParaRPr lang="en-US"/>
          </a:p>
        </p:txBody>
      </p:sp>
      <p:sp>
        <p:nvSpPr>
          <p:cNvPr id="5" name="TextBox 4"/>
          <p:cNvSpPr txBox="1"/>
          <p:nvPr/>
        </p:nvSpPr>
        <p:spPr>
          <a:xfrm>
            <a:off x="50292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SUMO comparisons</a:t>
            </a:r>
            <a:r>
              <a:rPr sz="1200" b="0" i="0">
                <a:solidFill>
                  <a:srgbClr val="555F6B"/>
                </a:solidFill>
                <a:latin typeface="Arial"/>
                <a:cs typeface="Arial"/>
                <a:ea typeface="Arial"/>
              </a:rPr>
              <a:t>   Mode shown: </a:t>
            </a:r>
            <a:r>
              <a:rPr sz="1200" b="1" i="0">
                <a:solidFill>
                  <a:srgbClr val="6A3FA0"/>
                </a:solidFill>
                <a:latin typeface="Arial"/>
                <a:cs typeface="Arial"/>
                <a:ea typeface="Arial"/>
              </a:rPr>
              <a:t>SIMULATION</a:t>
            </a:r>
          </a:p>
        </p:txBody>
      </p:sp>
      <p:pic>
        <p:nvPicPr>
          <p:cNvPr id="6" name="Dashboard: SUMO comparisons" descr="sumo.png"/>
          <p:cNvPicPr>
            <a:picLocks noChangeAspect="1"/>
          </p:cNvPicPr>
          <p:nvPr/>
        </p:nvPicPr>
        <p:blipFill>
          <a:blip r:embed="rId2"/>
          <a:stretch>
            <a:fillRect/>
          </a:stretch>
        </p:blipFill>
        <p:spPr>
          <a:xfrm>
            <a:off x="502920" y="1984248"/>
            <a:ext cx="5715000" cy="4366516"/>
          </a:xfrm>
          <a:prstGeom prst="rect">
            <a:avLst/>
          </a:prstGeom>
          <a:ln w="12700">
            <a:solidFill>
              <a:srgbClr val="C9D3E0"/>
            </a:solidFill>
          </a:ln>
        </p:spPr>
      </p:pic>
      <p:sp>
        <p:nvSpPr>
          <p:cNvPr id="7" name="TextBox 6"/>
          <p:cNvSpPr txBox="1"/>
          <p:nvPr/>
        </p:nvSpPr>
        <p:spPr>
          <a:xfrm>
            <a:off x="502920" y="6423916"/>
            <a:ext cx="5715000" cy="274320"/>
          </a:xfrm>
          <a:prstGeom prst="rect">
            <a:avLst/>
          </a:prstGeom>
          <a:noFill/>
        </p:spPr>
        <p:txBody>
          <a:bodyPr wrap="square" lIns="18288" rIns="18288" tIns="18288" bIns="18288" anchor="t"/>
          <a:lstStyle/>
          <a:p>
            <a:pPr algn="l" marL="0" indent="0">
              <a:spcAft>
                <a:spcPts val="0"/>
              </a:spcAft>
              <a:buNone/>
            </a:pPr>
            <a:r>
              <a:rPr sz="1000" b="0" i="0">
                <a:solidFill>
                  <a:srgbClr val="555F6B"/>
                </a:solidFill>
                <a:latin typeface="Arial"/>
                <a:cs typeface="Arial"/>
                <a:ea typeface="Arial"/>
              </a:rPr>
              <a:t>Captured 28 Oct 2026 from committed result files.</a:t>
            </a:r>
          </a:p>
        </p:txBody>
      </p:sp>
      <p:sp>
        <p:nvSpPr>
          <p:cNvPr id="8" name="TextBox 7"/>
          <p:cNvSpPr txBox="1"/>
          <p:nvPr/>
        </p:nvSpPr>
        <p:spPr>
          <a:xfrm>
            <a:off x="658368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Corrected controller comparison</a:t>
            </a:r>
            <a:r>
              <a:rPr sz="1200" b="0" i="0">
                <a:solidFill>
                  <a:srgbClr val="555F6B"/>
                </a:solidFill>
                <a:latin typeface="Arial"/>
                <a:cs typeface="Arial"/>
                <a:ea typeface="Arial"/>
              </a:rPr>
              <a:t>   Mode: </a:t>
            </a:r>
            <a:r>
              <a:rPr sz="1200" b="1" i="0">
                <a:solidFill>
                  <a:srgbClr val="6A3FA0"/>
                </a:solidFill>
                <a:latin typeface="Arial"/>
                <a:cs typeface="Arial"/>
                <a:ea typeface="Arial"/>
              </a:rPr>
              <a:t>SIMULATION</a:t>
            </a:r>
          </a:p>
        </p:txBody>
      </p:sp>
      <p:graphicFrame>
        <p:nvGraphicFramePr>
          <p:cNvPr id="9" name="Controller comparison"/>
          <p:cNvGraphicFramePr>
            <a:graphicFrameLocks noGrp="1"/>
          </p:cNvGraphicFramePr>
          <p:nvPr/>
        </p:nvGraphicFramePr>
        <p:xfrm>
          <a:off x="6583680" y="1984248"/>
          <a:ext cx="5715000" cy="2926080"/>
        </p:xfrm>
        <a:graphic>
          <a:graphicData uri="http://schemas.openxmlformats.org/drawingml/2006/chart">
            <c:chart xmlns:c="http://schemas.openxmlformats.org/drawingml/2006/chart" r:id="rId3"/>
          </a:graphicData>
        </a:graphic>
      </p:graphicFrame>
      <p:sp>
        <p:nvSpPr>
          <p:cNvPr id="10" name="Comparison notes"/>
          <p:cNvSpPr txBox="1"/>
          <p:nvPr/>
        </p:nvSpPr>
        <p:spPr>
          <a:xfrm>
            <a:off x="6583680" y="4983480"/>
            <a:ext cx="5715000" cy="1417320"/>
          </a:xfrm>
          <a:prstGeom prst="rect">
            <a:avLst/>
          </a:prstGeom>
          <a:noFill/>
        </p:spPr>
        <p:txBody>
          <a:bodyPr wrap="square" lIns="36576" rIns="36576" tIns="36576" bIns="36576" anchor="t"/>
          <a:lstStyle/>
          <a:p>
            <a:pPr algn="l" marL="274320" indent="-228600">
              <a:spcAft>
                <a:spcPts val="300"/>
              </a:spcAft>
              <a:buFont typeface="Arial"/>
              <a:buChar char="•"/>
            </a:pPr>
            <a:r>
              <a:rPr sz="1200" b="0" i="0">
                <a:solidFill>
                  <a:srgbClr val="1A1A1A"/>
                </a:solidFill>
                <a:latin typeface="Arial"/>
                <a:cs typeface="Arial"/>
                <a:ea typeface="Arial"/>
              </a:rPr>
              <a:t>45 runs on the v6 calibrated plan, 5 matched seeds, 0 teleports (28 Oct 2026).</a:t>
            </a:r>
          </a:p>
          <a:p>
            <a:pPr algn="l" marL="274320" indent="-228600">
              <a:spcAft>
                <a:spcPts val="300"/>
              </a:spcAft>
              <a:buFont typeface="Arial"/>
              <a:buChar char="•"/>
            </a:pPr>
            <a:r>
              <a:rPr sz="1200" b="0" i="0">
                <a:solidFill>
                  <a:srgbClr val="1A1A1A"/>
                </a:solidFill>
                <a:latin typeface="Arial"/>
                <a:cs typeface="Arial"/>
                <a:ea typeface="Arial"/>
              </a:rPr>
              <a:t>Surge −5.4 %, incident −4.7 % time loss; 190–194 more of 6,712 trips finish; same direction in every seed. Routine peak: identical.</a:t>
            </a:r>
          </a:p>
          <a:p>
            <a:pPr algn="l" marL="274320" indent="-228600">
              <a:spcAft>
                <a:spcPts val="300"/>
              </a:spcAft>
              <a:buFont typeface="Arial"/>
              <a:buChar char="•"/>
            </a:pPr>
            <a:r>
              <a:rPr sz="1200" b="1" i="0">
                <a:solidFill>
                  <a:srgbClr val="1A1A1A"/>
                </a:solidFill>
                <a:latin typeface="Arial"/>
                <a:cs typeface="Arial"/>
                <a:ea typeface="Arial"/>
              </a:rPr>
              <a:t>Simulated on a calibrated scenario testbed, not a real-world gain. The actuated controller is an uncalibrated reference and is not ranked.</a:t>
            </a:r>
          </a:p>
        </p:txBody>
      </p:sp>
      <p:sp>
        <p:nvSpPr>
          <p:cNvPr id="11" name="TextBox 10"/>
          <p:cNvSpPr txBox="1"/>
          <p:nvPr/>
        </p:nvSpPr>
        <p:spPr>
          <a:xfrm>
            <a:off x="6583680" y="6423916"/>
            <a:ext cx="5715000" cy="274320"/>
          </a:xfrm>
          <a:prstGeom prst="rect">
            <a:avLst/>
          </a:prstGeom>
          <a:noFill/>
        </p:spPr>
        <p:txBody>
          <a:bodyPr wrap="square" lIns="18288" rIns="18288" tIns="18288" bIns="18288" anchor="t"/>
          <a:lstStyle/>
          <a:p>
            <a:pPr algn="l" marL="0" indent="0">
              <a:spcAft>
                <a:spcPts val="0"/>
              </a:spcAft>
              <a:buNone/>
            </a:pPr>
            <a:r>
              <a:rPr sz="1000" b="0" i="0">
                <a:solidFill>
                  <a:srgbClr val="555F6B"/>
                </a:solidFill>
                <a:latin typeface="Arial"/>
                <a:cs typeface="Arial"/>
                <a:ea typeface="Arial"/>
              </a:rPr>
              <a:t>Source: reports/experiments/simulation_metrics.csv (claims C44–C46)</a:t>
            </a:r>
          </a:p>
        </p:txBody>
      </p:sp>
    </p:spTree>
    <p:extLst>
      <p:ext uri="{BB962C8B-B14F-4D97-AF65-F5344CB8AC3E}">
        <p14:creationId xmlns:p14="http://schemas.microsoft.com/office/powerpoint/2010/main" val="33197433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9. RESULTS &amp; OUTCOMES</a:t>
            </a:r>
          </a:p>
        </p:txBody>
      </p:sp>
      <p:sp>
        <p:nvSpPr>
          <p:cNvPr id="4" name="Slide Number Placeholder 3"/>
          <p:cNvSpPr>
            <a:spLocks noGrp="1"/>
          </p:cNvSpPr>
          <p:nvPr>
            <p:ph type="sldNum" sz="quarter" idx="12"/>
          </p:nvPr>
        </p:nvSpPr>
        <p:spPr/>
        <p:txBody>
          <a:bodyPr/>
          <a:lstStyle/>
          <a:p>
            <a:fld id="{C02A2637-A5A3-49FA-B214-6E67543099EF}" type="slidenum">
              <a:rPr lang="en-US" smtClean="0"/>
              <a:t>22</a:t>
            </a:fld>
            <a:endParaRPr lang="en-US"/>
          </a:p>
        </p:txBody>
      </p:sp>
      <p:sp>
        <p:nvSpPr>
          <p:cNvPr id="5" name="TextBox 4"/>
          <p:cNvSpPr txBox="1"/>
          <p:nvPr/>
        </p:nvSpPr>
        <p:spPr>
          <a:xfrm>
            <a:off x="502920" y="1600200"/>
            <a:ext cx="11795760" cy="365760"/>
          </a:xfrm>
          <a:prstGeom prst="rect">
            <a:avLst/>
          </a:prstGeom>
          <a:noFill/>
        </p:spPr>
        <p:txBody>
          <a:bodyPr wrap="square" lIns="18288" rIns="18288" tIns="18288" bIns="18288" anchor="t"/>
          <a:lstStyle/>
          <a:p>
            <a:pPr algn="l" marL="0" indent="0">
              <a:spcAft>
                <a:spcPts val="0"/>
              </a:spcAft>
              <a:buNone/>
            </a:pPr>
            <a:r>
              <a:rPr sz="1400" b="0" i="0">
                <a:solidFill>
                  <a:srgbClr val="555F6B"/>
                </a:solidFill>
                <a:latin typeface="Arial"/>
                <a:cs typeface="Arial"/>
                <a:ea typeface="Arial"/>
              </a:rPr>
              <a:t>Held-out test period 6 Sep – 20 Oct 2026, 16 Manhattan links; advisory and retrieval results from the REPLAY workflow runs</a:t>
            </a:r>
          </a:p>
        </p:txBody>
      </p:sp>
      <p:sp>
        <p:nvSpPr>
          <p:cNvPr id="6" name="TextBox 5"/>
          <p:cNvSpPr txBox="1"/>
          <p:nvPr/>
        </p:nvSpPr>
        <p:spPr>
          <a:xfrm>
            <a:off x="502920" y="2011680"/>
            <a:ext cx="6035040" cy="365760"/>
          </a:xfrm>
          <a:prstGeom prst="rect">
            <a:avLst/>
          </a:prstGeom>
          <a:noFill/>
        </p:spPr>
        <p:txBody>
          <a:bodyPr wrap="square" lIns="18288" rIns="18288" tIns="18288" bIns="18288" anchor="t"/>
          <a:lstStyle/>
          <a:p>
            <a:pPr algn="l" marL="0" indent="0">
              <a:spcAft>
                <a:spcPts val="0"/>
              </a:spcAft>
              <a:buNone/>
            </a:pPr>
            <a:r>
              <a:rPr sz="1600" b="1" i="0">
                <a:solidFill>
                  <a:srgbClr val="1F497D"/>
                </a:solidFill>
                <a:latin typeface="Arial"/>
                <a:cs typeface="Arial"/>
                <a:ea typeface="Arial"/>
              </a:rPr>
              <a:t>Test MAE (mph): mean ± s.d. over seeds 42, 1 and 2</a:t>
            </a:r>
          </a:p>
        </p:txBody>
      </p:sp>
      <p:graphicFrame>
        <p:nvGraphicFramePr>
          <p:cNvPr id="7" name="Three-seed results"/>
          <p:cNvGraphicFramePr>
            <a:graphicFrameLocks noGrp="1"/>
          </p:cNvGraphicFramePr>
          <p:nvPr/>
        </p:nvGraphicFramePr>
        <p:xfrm>
          <a:off x="502920" y="2423160"/>
          <a:ext cx="6035040" cy="2468880"/>
        </p:xfrm>
        <a:graphic>
          <a:graphicData uri="http://schemas.openxmlformats.org/drawingml/2006/table">
            <a:tbl>
              <a:tblPr firstRow="1" bandRow="1">
                <a:tableStyleId>{5C22544A-7EE6-4342-B048-85BDC9FD1C3A}</a:tableStyleId>
              </a:tblPr>
              <a:tblGrid>
                <a:gridCol w="2606040"/>
                <a:gridCol w="1143000"/>
                <a:gridCol w="1143000"/>
                <a:gridCol w="1143000"/>
              </a:tblGrid>
              <a:tr h="411480">
                <a:tc>
                  <a:txBody>
                    <a:bodyPr wrap="square"/>
                    <a:lstStyle/>
                    <a:p>
                      <a:pPr algn="l" marL="0" indent="0">
                        <a:spcAft>
                          <a:spcPts val="0"/>
                        </a:spcAft>
                        <a:buNone/>
                      </a:pPr>
                      <a:r>
                        <a:rPr sz="1400" b="1" i="0">
                          <a:solidFill>
                            <a:srgbClr val="FFFFFF"/>
                          </a:solidFill>
                          <a:latin typeface="Arial"/>
                          <a:cs typeface="Arial"/>
                          <a:ea typeface="Arial"/>
                        </a:rPr>
                        <a:t>Model</a:t>
                      </a:r>
                    </a:p>
                  </a:txBody>
                  <a:tcPr anchor="ctr">
                    <a:solidFill>
                      <a:srgbClr val="1F497D"/>
                    </a:solidFill>
                  </a:tcPr>
                </a:tc>
                <a:tc>
                  <a:txBody>
                    <a:bodyPr wrap="square"/>
                    <a:lstStyle/>
                    <a:p>
                      <a:pPr algn="ctr" marL="0" indent="0">
                        <a:spcAft>
                          <a:spcPts val="0"/>
                        </a:spcAft>
                        <a:buNone/>
                      </a:pPr>
                      <a:r>
                        <a:rPr sz="1400" b="1" i="0">
                          <a:solidFill>
                            <a:srgbClr val="FFFFFF"/>
                          </a:solidFill>
                          <a:latin typeface="Arial"/>
                          <a:cs typeface="Arial"/>
                          <a:ea typeface="Arial"/>
                        </a:rPr>
                        <a:t>15 min</a:t>
                      </a:r>
                    </a:p>
                  </a:txBody>
                  <a:tcPr anchor="ctr">
                    <a:solidFill>
                      <a:srgbClr val="1F497D"/>
                    </a:solidFill>
                  </a:tcPr>
                </a:tc>
                <a:tc>
                  <a:txBody>
                    <a:bodyPr wrap="square"/>
                    <a:lstStyle/>
                    <a:p>
                      <a:pPr algn="ctr" marL="0" indent="0">
                        <a:spcAft>
                          <a:spcPts val="0"/>
                        </a:spcAft>
                        <a:buNone/>
                      </a:pPr>
                      <a:r>
                        <a:rPr sz="1400" b="1" i="0">
                          <a:solidFill>
                            <a:srgbClr val="FFFFFF"/>
                          </a:solidFill>
                          <a:latin typeface="Arial"/>
                          <a:cs typeface="Arial"/>
                          <a:ea typeface="Arial"/>
                        </a:rPr>
                        <a:t>30 min</a:t>
                      </a:r>
                    </a:p>
                  </a:txBody>
                  <a:tcPr anchor="ctr">
                    <a:solidFill>
                      <a:srgbClr val="1F497D"/>
                    </a:solidFill>
                  </a:tcPr>
                </a:tc>
                <a:tc>
                  <a:txBody>
                    <a:bodyPr wrap="square"/>
                    <a:lstStyle/>
                    <a:p>
                      <a:pPr algn="ctr" marL="0" indent="0">
                        <a:spcAft>
                          <a:spcPts val="0"/>
                        </a:spcAft>
                        <a:buNone/>
                      </a:pPr>
                      <a:r>
                        <a:rPr sz="1400" b="1" i="0">
                          <a:solidFill>
                            <a:srgbClr val="FFFFFF"/>
                          </a:solidFill>
                          <a:latin typeface="Arial"/>
                          <a:cs typeface="Arial"/>
                          <a:ea typeface="Arial"/>
                        </a:rPr>
                        <a:t>60 min</a:t>
                      </a:r>
                    </a:p>
                  </a:txBody>
                  <a:tcPr anchor="ctr">
                    <a:solidFill>
                      <a:srgbClr val="1F497D"/>
                    </a:solidFill>
                  </a:tcPr>
                </a:tc>
              </a:tr>
              <a:tr h="411480">
                <a:tc>
                  <a:txBody>
                    <a:bodyPr wrap="square"/>
                    <a:lstStyle/>
                    <a:p>
                      <a:pPr algn="l" marL="0" indent="0">
                        <a:spcAft>
                          <a:spcPts val="0"/>
                        </a:spcAft>
                        <a:buNone/>
                      </a:pPr>
                      <a:r>
                        <a:rPr sz="1400" b="1" i="0">
                          <a:solidFill>
                            <a:srgbClr val="1A1A1A"/>
                          </a:solidFill>
                          <a:latin typeface="Arial"/>
                          <a:cs typeface="Arial"/>
                          <a:ea typeface="Arial"/>
                        </a:rPr>
                        <a:t>Proposed GATv2–Transformer</a:t>
                      </a:r>
                    </a:p>
                  </a:txBody>
                  <a:tcPr anchor="ctr">
                    <a:solidFill>
                      <a:srgbClr val="E4ECF7"/>
                    </a:solidFill>
                  </a:tcPr>
                </a:tc>
                <a:tc>
                  <a:txBody>
                    <a:bodyPr wrap="square"/>
                    <a:lstStyle/>
                    <a:p>
                      <a:pPr algn="ctr" marL="0" indent="0">
                        <a:spcAft>
                          <a:spcPts val="0"/>
                        </a:spcAft>
                        <a:buNone/>
                      </a:pPr>
                      <a:r>
                        <a:rPr sz="1400" b="1" i="0">
                          <a:solidFill>
                            <a:srgbClr val="1A1A1A"/>
                          </a:solidFill>
                          <a:latin typeface="Arial"/>
                          <a:cs typeface="Arial"/>
                          <a:ea typeface="Arial"/>
                        </a:rPr>
                        <a:t>4.69 ± 0.06</a:t>
                      </a:r>
                    </a:p>
                  </a:txBody>
                  <a:tcPr anchor="ctr">
                    <a:solidFill>
                      <a:srgbClr val="E4ECF7"/>
                    </a:solidFill>
                  </a:tcPr>
                </a:tc>
                <a:tc>
                  <a:txBody>
                    <a:bodyPr wrap="square"/>
                    <a:lstStyle/>
                    <a:p>
                      <a:pPr algn="ctr" marL="0" indent="0">
                        <a:spcAft>
                          <a:spcPts val="0"/>
                        </a:spcAft>
                        <a:buNone/>
                      </a:pPr>
                      <a:r>
                        <a:rPr sz="1400" b="1" i="0">
                          <a:solidFill>
                            <a:srgbClr val="1A1A1A"/>
                          </a:solidFill>
                          <a:latin typeface="Arial"/>
                          <a:cs typeface="Arial"/>
                          <a:ea typeface="Arial"/>
                        </a:rPr>
                        <a:t>5.34 ± 0.03</a:t>
                      </a:r>
                    </a:p>
                  </a:txBody>
                  <a:tcPr anchor="ctr">
                    <a:solidFill>
                      <a:srgbClr val="E4ECF7"/>
                    </a:solidFill>
                  </a:tcPr>
                </a:tc>
                <a:tc>
                  <a:txBody>
                    <a:bodyPr wrap="square"/>
                    <a:lstStyle/>
                    <a:p>
                      <a:pPr algn="ctr" marL="0" indent="0">
                        <a:spcAft>
                          <a:spcPts val="0"/>
                        </a:spcAft>
                        <a:buNone/>
                      </a:pPr>
                      <a:r>
                        <a:rPr sz="1400" b="1" i="0">
                          <a:solidFill>
                            <a:srgbClr val="1A1A1A"/>
                          </a:solidFill>
                          <a:latin typeface="Arial"/>
                          <a:cs typeface="Arial"/>
                          <a:ea typeface="Arial"/>
                        </a:rPr>
                        <a:t>6.15 ± 0.02</a:t>
                      </a:r>
                    </a:p>
                  </a:txBody>
                  <a:tcPr anchor="ctr">
                    <a:solidFill>
                      <a:srgbClr val="E4ECF7"/>
                    </a:solidFill>
                  </a:tcPr>
                </a:tc>
              </a:tr>
              <a:tr h="411480">
                <a:tc>
                  <a:txBody>
                    <a:bodyPr wrap="square"/>
                    <a:lstStyle/>
                    <a:p>
                      <a:pPr algn="l" marL="0" indent="0">
                        <a:spcAft>
                          <a:spcPts val="0"/>
                        </a:spcAft>
                        <a:buNone/>
                      </a:pPr>
                      <a:r>
                        <a:rPr sz="1400" b="0" i="0">
                          <a:solidFill>
                            <a:srgbClr val="1A1A1A"/>
                          </a:solidFill>
                          <a:latin typeface="Arial"/>
                          <a:cs typeface="Arial"/>
                          <a:ea typeface="Arial"/>
                        </a:rPr>
                        <a:t>GRU</a:t>
                      </a:r>
                    </a:p>
                  </a:txBody>
                  <a:tcPr anchor="ctr">
                    <a:solidFill>
                      <a:srgbClr val="FFFFFF"/>
                    </a:solidFill>
                  </a:tcPr>
                </a:tc>
                <a:tc>
                  <a:txBody>
                    <a:bodyPr wrap="square"/>
                    <a:lstStyle/>
                    <a:p>
                      <a:pPr algn="ctr" marL="0" indent="0">
                        <a:spcAft>
                          <a:spcPts val="0"/>
                        </a:spcAft>
                        <a:buNone/>
                      </a:pPr>
                      <a:r>
                        <a:rPr sz="1400" b="0" i="0">
                          <a:solidFill>
                            <a:srgbClr val="1A1A1A"/>
                          </a:solidFill>
                          <a:latin typeface="Arial"/>
                          <a:cs typeface="Arial"/>
                          <a:ea typeface="Arial"/>
                        </a:rPr>
                        <a:t>4.67 ± 0.06</a:t>
                      </a:r>
                    </a:p>
                  </a:txBody>
                  <a:tcPr anchor="ctr">
                    <a:solidFill>
                      <a:srgbClr val="FFFFFF"/>
                    </a:solidFill>
                  </a:tcPr>
                </a:tc>
                <a:tc>
                  <a:txBody>
                    <a:bodyPr wrap="square"/>
                    <a:lstStyle/>
                    <a:p>
                      <a:pPr algn="ctr" marL="0" indent="0">
                        <a:spcAft>
                          <a:spcPts val="0"/>
                        </a:spcAft>
                        <a:buNone/>
                      </a:pPr>
                      <a:r>
                        <a:rPr sz="1400" b="0" i="0">
                          <a:solidFill>
                            <a:srgbClr val="1A1A1A"/>
                          </a:solidFill>
                          <a:latin typeface="Arial"/>
                          <a:cs typeface="Arial"/>
                          <a:ea typeface="Arial"/>
                        </a:rPr>
                        <a:t>5.37 ± 0.02</a:t>
                      </a:r>
                    </a:p>
                  </a:txBody>
                  <a:tcPr anchor="ctr">
                    <a:solidFill>
                      <a:srgbClr val="FFFFFF"/>
                    </a:solidFill>
                  </a:tcPr>
                </a:tc>
                <a:tc>
                  <a:txBody>
                    <a:bodyPr wrap="square"/>
                    <a:lstStyle/>
                    <a:p>
                      <a:pPr algn="ctr" marL="0" indent="0">
                        <a:spcAft>
                          <a:spcPts val="0"/>
                        </a:spcAft>
                        <a:buNone/>
                      </a:pPr>
                      <a:r>
                        <a:rPr sz="1400" b="0" i="0">
                          <a:solidFill>
                            <a:srgbClr val="1A1A1A"/>
                          </a:solidFill>
                          <a:latin typeface="Arial"/>
                          <a:cs typeface="Arial"/>
                          <a:ea typeface="Arial"/>
                        </a:rPr>
                        <a:t>6.18 ± 0.01</a:t>
                      </a:r>
                    </a:p>
                  </a:txBody>
                  <a:tcPr anchor="ctr">
                    <a:solidFill>
                      <a:srgbClr val="FFFFFF"/>
                    </a:solidFill>
                  </a:tcPr>
                </a:tc>
              </a:tr>
              <a:tr h="411480">
                <a:tc>
                  <a:txBody>
                    <a:bodyPr wrap="square"/>
                    <a:lstStyle/>
                    <a:p>
                      <a:pPr algn="l" marL="0" indent="0">
                        <a:spcAft>
                          <a:spcPts val="0"/>
                        </a:spcAft>
                        <a:buNone/>
                      </a:pPr>
                      <a:r>
                        <a:rPr sz="1400" b="0" i="0">
                          <a:solidFill>
                            <a:srgbClr val="1A1A1A"/>
                          </a:solidFill>
                          <a:latin typeface="Arial"/>
                          <a:cs typeface="Arial"/>
                          <a:ea typeface="Arial"/>
                        </a:rPr>
                        <a:t>Temporal Transformer</a:t>
                      </a:r>
                    </a:p>
                  </a:txBody>
                  <a:tcPr anchor="ctr">
                    <a:solidFill>
                      <a:srgbClr val="E4ECF7"/>
                    </a:solidFill>
                  </a:tcPr>
                </a:tc>
                <a:tc>
                  <a:txBody>
                    <a:bodyPr wrap="square"/>
                    <a:lstStyle/>
                    <a:p>
                      <a:pPr algn="ctr" marL="0" indent="0">
                        <a:spcAft>
                          <a:spcPts val="0"/>
                        </a:spcAft>
                        <a:buNone/>
                      </a:pPr>
                      <a:r>
                        <a:rPr sz="1400" b="0" i="0">
                          <a:solidFill>
                            <a:srgbClr val="1A1A1A"/>
                          </a:solidFill>
                          <a:latin typeface="Arial"/>
                          <a:cs typeface="Arial"/>
                          <a:ea typeface="Arial"/>
                        </a:rPr>
                        <a:t>4.72 ± 0.03</a:t>
                      </a:r>
                    </a:p>
                  </a:txBody>
                  <a:tcPr anchor="ctr">
                    <a:solidFill>
                      <a:srgbClr val="E4ECF7"/>
                    </a:solidFill>
                  </a:tcPr>
                </a:tc>
                <a:tc>
                  <a:txBody>
                    <a:bodyPr wrap="square"/>
                    <a:lstStyle/>
                    <a:p>
                      <a:pPr algn="ctr" marL="0" indent="0">
                        <a:spcAft>
                          <a:spcPts val="0"/>
                        </a:spcAft>
                        <a:buNone/>
                      </a:pPr>
                      <a:r>
                        <a:rPr sz="1400" b="0" i="0">
                          <a:solidFill>
                            <a:srgbClr val="1A1A1A"/>
                          </a:solidFill>
                          <a:latin typeface="Arial"/>
                          <a:cs typeface="Arial"/>
                          <a:ea typeface="Arial"/>
                        </a:rPr>
                        <a:t>5.38 ± 0.03</a:t>
                      </a:r>
                    </a:p>
                  </a:txBody>
                  <a:tcPr anchor="ctr">
                    <a:solidFill>
                      <a:srgbClr val="E4ECF7"/>
                    </a:solidFill>
                  </a:tcPr>
                </a:tc>
                <a:tc>
                  <a:txBody>
                    <a:bodyPr wrap="square"/>
                    <a:lstStyle/>
                    <a:p>
                      <a:pPr algn="ctr" marL="0" indent="0">
                        <a:spcAft>
                          <a:spcPts val="0"/>
                        </a:spcAft>
                        <a:buNone/>
                      </a:pPr>
                      <a:r>
                        <a:rPr sz="1400" b="0" i="0">
                          <a:solidFill>
                            <a:srgbClr val="1A1A1A"/>
                          </a:solidFill>
                          <a:latin typeface="Arial"/>
                          <a:cs typeface="Arial"/>
                          <a:ea typeface="Arial"/>
                        </a:rPr>
                        <a:t>6.23 ± 0.08</a:t>
                      </a:r>
                    </a:p>
                  </a:txBody>
                  <a:tcPr anchor="ctr">
                    <a:solidFill>
                      <a:srgbClr val="E4ECF7"/>
                    </a:solidFill>
                  </a:tcPr>
                </a:tc>
              </a:tr>
              <a:tr h="411480">
                <a:tc>
                  <a:txBody>
                    <a:bodyPr wrap="square"/>
                    <a:lstStyle/>
                    <a:p>
                      <a:pPr algn="l" marL="0" indent="0">
                        <a:spcAft>
                          <a:spcPts val="0"/>
                        </a:spcAft>
                        <a:buNone/>
                      </a:pPr>
                      <a:r>
                        <a:rPr sz="1400" b="0" i="0">
                          <a:solidFill>
                            <a:srgbClr val="555F6B"/>
                          </a:solidFill>
                          <a:latin typeface="Arial"/>
                          <a:cs typeface="Arial"/>
                          <a:ea typeface="Arial"/>
                        </a:rPr>
                        <a:t>Proposed, seed 42 only</a:t>
                      </a:r>
                    </a:p>
                  </a:txBody>
                  <a:tcPr anchor="ctr">
                    <a:solidFill>
                      <a:srgbClr val="FFFFFF"/>
                    </a:solidFill>
                  </a:tcPr>
                </a:tc>
                <a:tc>
                  <a:txBody>
                    <a:bodyPr wrap="square"/>
                    <a:lstStyle/>
                    <a:p>
                      <a:pPr algn="ctr" marL="0" indent="0">
                        <a:spcAft>
                          <a:spcPts val="0"/>
                        </a:spcAft>
                        <a:buNone/>
                      </a:pPr>
                      <a:r>
                        <a:rPr sz="1400" b="0" i="0">
                          <a:solidFill>
                            <a:srgbClr val="555F6B"/>
                          </a:solidFill>
                          <a:latin typeface="Arial"/>
                          <a:cs typeface="Arial"/>
                          <a:ea typeface="Arial"/>
                        </a:rPr>
                        <a:t>4.77</a:t>
                      </a:r>
                    </a:p>
                  </a:txBody>
                  <a:tcPr anchor="ctr">
                    <a:solidFill>
                      <a:srgbClr val="FFFFFF"/>
                    </a:solidFill>
                  </a:tcPr>
                </a:tc>
                <a:tc>
                  <a:txBody>
                    <a:bodyPr wrap="square"/>
                    <a:lstStyle/>
                    <a:p>
                      <a:pPr algn="ctr" marL="0" indent="0">
                        <a:spcAft>
                          <a:spcPts val="0"/>
                        </a:spcAft>
                        <a:buNone/>
                      </a:pPr>
                      <a:r>
                        <a:rPr sz="1400" b="0" i="0">
                          <a:solidFill>
                            <a:srgbClr val="555F6B"/>
                          </a:solidFill>
                          <a:latin typeface="Arial"/>
                          <a:cs typeface="Arial"/>
                          <a:ea typeface="Arial"/>
                        </a:rPr>
                        <a:t>5.33</a:t>
                      </a:r>
                    </a:p>
                  </a:txBody>
                  <a:tcPr anchor="ctr">
                    <a:solidFill>
                      <a:srgbClr val="FFFFFF"/>
                    </a:solidFill>
                  </a:tcPr>
                </a:tc>
                <a:tc>
                  <a:txBody>
                    <a:bodyPr wrap="square"/>
                    <a:lstStyle/>
                    <a:p>
                      <a:pPr algn="ctr" marL="0" indent="0">
                        <a:spcAft>
                          <a:spcPts val="0"/>
                        </a:spcAft>
                        <a:buNone/>
                      </a:pPr>
                      <a:r>
                        <a:rPr sz="1400" b="0" i="0">
                          <a:solidFill>
                            <a:srgbClr val="555F6B"/>
                          </a:solidFill>
                          <a:latin typeface="Arial"/>
                          <a:cs typeface="Arial"/>
                          <a:ea typeface="Arial"/>
                        </a:rPr>
                        <a:t>6.15</a:t>
                      </a:r>
                    </a:p>
                  </a:txBody>
                  <a:tcPr anchor="ctr">
                    <a:solidFill>
                      <a:srgbClr val="FFFFFF"/>
                    </a:solidFill>
                  </a:tcPr>
                </a:tc>
              </a:tr>
              <a:tr h="411480">
                <a:tc>
                  <a:txBody>
                    <a:bodyPr wrap="square"/>
                    <a:lstStyle/>
                    <a:p>
                      <a:pPr algn="l" marL="0" indent="0">
                        <a:spcAft>
                          <a:spcPts val="0"/>
                        </a:spcAft>
                        <a:buNone/>
                      </a:pPr>
                      <a:r>
                        <a:rPr sz="1400" b="0" i="0">
                          <a:solidFill>
                            <a:srgbClr val="555F6B"/>
                          </a:solidFill>
                          <a:latin typeface="Arial"/>
                          <a:cs typeface="Arial"/>
                          <a:ea typeface="Arial"/>
                        </a:rPr>
                        <a:t>Persistence</a:t>
                      </a:r>
                    </a:p>
                  </a:txBody>
                  <a:tcPr anchor="ctr">
                    <a:solidFill>
                      <a:srgbClr val="E4ECF7"/>
                    </a:solidFill>
                  </a:tcPr>
                </a:tc>
                <a:tc>
                  <a:txBody>
                    <a:bodyPr wrap="square"/>
                    <a:lstStyle/>
                    <a:p>
                      <a:pPr algn="ctr" marL="0" indent="0">
                        <a:spcAft>
                          <a:spcPts val="0"/>
                        </a:spcAft>
                        <a:buNone/>
                      </a:pPr>
                      <a:r>
                        <a:rPr sz="1400" b="0" i="0">
                          <a:solidFill>
                            <a:srgbClr val="555F6B"/>
                          </a:solidFill>
                          <a:latin typeface="Arial"/>
                          <a:cs typeface="Arial"/>
                          <a:ea typeface="Arial"/>
                        </a:rPr>
                        <a:t>5.14</a:t>
                      </a:r>
                    </a:p>
                  </a:txBody>
                  <a:tcPr anchor="ctr">
                    <a:solidFill>
                      <a:srgbClr val="E4ECF7"/>
                    </a:solidFill>
                  </a:tcPr>
                </a:tc>
                <a:tc>
                  <a:txBody>
                    <a:bodyPr wrap="square"/>
                    <a:lstStyle/>
                    <a:p>
                      <a:pPr algn="ctr" marL="0" indent="0">
                        <a:spcAft>
                          <a:spcPts val="0"/>
                        </a:spcAft>
                        <a:buNone/>
                      </a:pPr>
                      <a:r>
                        <a:rPr sz="1400" b="0" i="0">
                          <a:solidFill>
                            <a:srgbClr val="555F6B"/>
                          </a:solidFill>
                          <a:latin typeface="Arial"/>
                          <a:cs typeface="Arial"/>
                          <a:ea typeface="Arial"/>
                        </a:rPr>
                        <a:t>6.06</a:t>
                      </a:r>
                    </a:p>
                  </a:txBody>
                  <a:tcPr anchor="ctr">
                    <a:solidFill>
                      <a:srgbClr val="E4ECF7"/>
                    </a:solidFill>
                  </a:tcPr>
                </a:tc>
                <a:tc>
                  <a:txBody>
                    <a:bodyPr wrap="square"/>
                    <a:lstStyle/>
                    <a:p>
                      <a:pPr algn="ctr" marL="0" indent="0">
                        <a:spcAft>
                          <a:spcPts val="0"/>
                        </a:spcAft>
                        <a:buNone/>
                      </a:pPr>
                      <a:r>
                        <a:rPr sz="1400" b="0" i="0">
                          <a:solidFill>
                            <a:srgbClr val="555F6B"/>
                          </a:solidFill>
                          <a:latin typeface="Arial"/>
                          <a:cs typeface="Arial"/>
                          <a:ea typeface="Arial"/>
                        </a:rPr>
                        <a:t>7.29</a:t>
                      </a:r>
                    </a:p>
                  </a:txBody>
                  <a:tcPr anchor="ctr">
                    <a:solidFill>
                      <a:srgbClr val="E4ECF7"/>
                    </a:solidFill>
                  </a:tcPr>
                </a:tc>
              </a:tr>
            </a:tbl>
          </a:graphicData>
        </a:graphic>
      </p:graphicFrame>
      <p:sp>
        <p:nvSpPr>
          <p:cNvPr id="8" name="TextBox 7"/>
          <p:cNvSpPr txBox="1"/>
          <p:nvPr/>
        </p:nvSpPr>
        <p:spPr>
          <a:xfrm>
            <a:off x="502920" y="4983480"/>
            <a:ext cx="6035040" cy="1737360"/>
          </a:xfrm>
          <a:prstGeom prst="rect">
            <a:avLst/>
          </a:prstGeom>
          <a:noFill/>
        </p:spPr>
        <p:txBody>
          <a:bodyPr wrap="square" lIns="18288" rIns="18288" tIns="18288" bIns="18288" anchor="t"/>
          <a:lstStyle/>
          <a:p>
            <a:pPr algn="l" marL="0" indent="0">
              <a:spcAft>
                <a:spcPts val="400"/>
              </a:spcAft>
              <a:buNone/>
            </a:pPr>
            <a:r>
              <a:rPr sz="1300" b="0" i="0">
                <a:solidFill>
                  <a:srgbClr val="1A1A1A"/>
                </a:solidFill>
                <a:latin typeface="Arial"/>
                <a:cs typeface="Arial"/>
                <a:ea typeface="Arial"/>
              </a:rPr>
              <a:t>Paired day-block bootstrap (44 test days): the proposed model is lower than the temporal Transformer at every horizon (0.035 / 0.037 / 0.080 mph) and than the GRU at 30 and 60 min (0.032 / 0.031); the GRU is lower at 15 min (0.021). All intervals exclude zero, but with three seeds the advantage is small, not decisive.</a:t>
            </a:r>
          </a:p>
          <a:p>
            <a:pPr algn="l" marL="0" indent="0">
              <a:spcAft>
                <a:spcPts val="400"/>
              </a:spcAft>
              <a:buNone/>
            </a:pPr>
            <a:r>
              <a:rPr sz="1100" b="0" i="0">
                <a:solidFill>
                  <a:srgbClr val="555F6B"/>
                </a:solidFill>
                <a:latin typeface="Arial"/>
                <a:cs typeface="Arial"/>
                <a:ea typeface="Arial"/>
              </a:rPr>
              <a:t>Source: reports/experiments/multi_seed_summary.csv (nine GPU runs, 21 Oct 2026).</a:t>
            </a:r>
          </a:p>
        </p:txBody>
      </p:sp>
      <p:sp>
        <p:nvSpPr>
          <p:cNvPr id="9" name="Result 1"/>
          <p:cNvSpPr/>
          <p:nvPr/>
        </p:nvSpPr>
        <p:spPr>
          <a:xfrm>
            <a:off x="6858000" y="2011680"/>
            <a:ext cx="2606040" cy="1344168"/>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marL="0" indent="0">
              <a:spcAft>
                <a:spcPts val="300"/>
              </a:spcAft>
              <a:buNone/>
            </a:pPr>
            <a:r>
              <a:rPr sz="2000" b="1" i="0">
                <a:solidFill>
                  <a:srgbClr val="1F497D"/>
                </a:solidFill>
                <a:latin typeface="Arial"/>
                <a:cs typeface="Arial"/>
                <a:ea typeface="Arial"/>
              </a:rPr>
              <a:t>7–16 %</a:t>
            </a:r>
          </a:p>
          <a:p>
            <a:pPr algn="ctr" marL="0" indent="0">
              <a:spcAft>
                <a:spcPts val="300"/>
              </a:spcAft>
              <a:buNone/>
            </a:pPr>
            <a:r>
              <a:rPr sz="1200" b="0" i="0">
                <a:solidFill>
                  <a:srgbClr val="1A1A1A"/>
                </a:solidFill>
                <a:latin typeface="Arial"/>
                <a:cs typeface="Arial"/>
                <a:ea typeface="Arial"/>
              </a:rPr>
              <a:t>lower MAE than persistence (seed 42 run)</a:t>
            </a:r>
          </a:p>
        </p:txBody>
      </p:sp>
      <p:sp>
        <p:nvSpPr>
          <p:cNvPr id="10" name="Result 2"/>
          <p:cNvSpPr/>
          <p:nvPr/>
        </p:nvSpPr>
        <p:spPr>
          <a:xfrm>
            <a:off x="9601200" y="2011680"/>
            <a:ext cx="2606040" cy="1344168"/>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marL="0" indent="0">
              <a:spcAft>
                <a:spcPts val="300"/>
              </a:spcAft>
              <a:buNone/>
            </a:pPr>
            <a:r>
              <a:rPr sz="2000" b="1" i="0">
                <a:solidFill>
                  <a:srgbClr val="1F497D"/>
                </a:solidFill>
                <a:latin typeface="Arial"/>
                <a:cs typeface="Arial"/>
                <a:ea typeface="Arial"/>
              </a:rPr>
              <a:t>0.91 / 0.91 / 0.90</a:t>
            </a:r>
          </a:p>
          <a:p>
            <a:pPr algn="ctr" marL="0" indent="0">
              <a:spcAft>
                <a:spcPts val="300"/>
              </a:spcAft>
              <a:buNone/>
            </a:pPr>
            <a:r>
              <a:rPr sz="1200" b="0" i="0">
                <a:solidFill>
                  <a:srgbClr val="1A1A1A"/>
                </a:solidFill>
                <a:latin typeface="Arial"/>
                <a:cs typeface="Arial"/>
                <a:ea typeface="Arial"/>
              </a:rPr>
              <a:t>coverage of the 90 % conformal intervals; 0.76–0.80 under congestion</a:t>
            </a:r>
          </a:p>
        </p:txBody>
      </p:sp>
      <p:sp>
        <p:nvSpPr>
          <p:cNvPr id="11" name="Result 3"/>
          <p:cNvSpPr/>
          <p:nvPr/>
        </p:nvSpPr>
        <p:spPr>
          <a:xfrm>
            <a:off x="6858000" y="3493008"/>
            <a:ext cx="2606040" cy="1344168"/>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marL="0" indent="0">
              <a:spcAft>
                <a:spcPts val="300"/>
              </a:spcAft>
              <a:buNone/>
            </a:pPr>
            <a:r>
              <a:rPr sz="2000" b="1" i="0">
                <a:solidFill>
                  <a:srgbClr val="1F497D"/>
                </a:solidFill>
                <a:latin typeface="Arial"/>
                <a:cs typeface="Arial"/>
                <a:ea typeface="Arial"/>
              </a:rPr>
              <a:t>15–22 %</a:t>
            </a:r>
          </a:p>
          <a:p>
            <a:pPr algn="ctr" marL="0" indent="0">
              <a:spcAft>
                <a:spcPts val="300"/>
              </a:spcAft>
              <a:buNone/>
            </a:pPr>
            <a:r>
              <a:rPr sz="1200" b="0" i="0">
                <a:solidFill>
                  <a:srgbClr val="1A1A1A"/>
                </a:solidFill>
                <a:latin typeface="Arial"/>
                <a:cs typeface="Arial"/>
                <a:ea typeface="Arial"/>
              </a:rPr>
              <a:t>lower MAE on forecasts the reliability gate keeps (≈26 % deferred)</a:t>
            </a:r>
          </a:p>
        </p:txBody>
      </p:sp>
      <p:sp>
        <p:nvSpPr>
          <p:cNvPr id="12" name="Result 4"/>
          <p:cNvSpPr/>
          <p:nvPr/>
        </p:nvSpPr>
        <p:spPr>
          <a:xfrm>
            <a:off x="9601200" y="3493008"/>
            <a:ext cx="2606040" cy="1344168"/>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marL="0" indent="0">
              <a:spcAft>
                <a:spcPts val="300"/>
              </a:spcAft>
              <a:buNone/>
            </a:pPr>
            <a:r>
              <a:rPr sz="2000" b="1" i="0">
                <a:solidFill>
                  <a:srgbClr val="1F497D"/>
                </a:solidFill>
                <a:latin typeface="Arial"/>
                <a:cs typeface="Arial"/>
                <a:ea typeface="Arial"/>
              </a:rPr>
              <a:t>36 / 36</a:t>
            </a:r>
          </a:p>
          <a:p>
            <a:pPr algn="ctr" marL="0" indent="0">
              <a:spcAft>
                <a:spcPts val="300"/>
              </a:spcAft>
              <a:buNone/>
            </a:pPr>
            <a:r>
              <a:rPr sz="1200" b="0" i="0">
                <a:solidFill>
                  <a:srgbClr val="1A1A1A"/>
                </a:solidFill>
                <a:latin typeface="Arial"/>
                <a:cs typeface="Arial"/>
                <a:ea typeface="Arial"/>
              </a:rPr>
              <a:t>local-LLM responses schema-valid over three workflow passes (qwen2.5 7B)</a:t>
            </a:r>
          </a:p>
        </p:txBody>
      </p:sp>
      <p:sp>
        <p:nvSpPr>
          <p:cNvPr id="13" name="Result 5"/>
          <p:cNvSpPr/>
          <p:nvPr/>
        </p:nvSpPr>
        <p:spPr>
          <a:xfrm>
            <a:off x="6858000" y="4974336"/>
            <a:ext cx="2606040" cy="1344168"/>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marL="0" indent="0">
              <a:spcAft>
                <a:spcPts val="300"/>
              </a:spcAft>
              <a:buNone/>
            </a:pPr>
            <a:r>
              <a:rPr sz="2000" b="1" i="0">
                <a:solidFill>
                  <a:srgbClr val="1F497D"/>
                </a:solidFill>
                <a:latin typeface="Arial"/>
                <a:cs typeface="Arial"/>
                <a:ea typeface="Arial"/>
              </a:rPr>
              <a:t>3 of 3 → 0 of 9</a:t>
            </a:r>
          </a:p>
          <a:p>
            <a:pPr algn="ctr" marL="0" indent="0">
              <a:spcAft>
                <a:spcPts val="300"/>
              </a:spcAft>
              <a:buNone/>
            </a:pPr>
            <a:r>
              <a:rPr sz="1200" b="0" i="0">
                <a:solidFill>
                  <a:srgbClr val="1A1A1A"/>
                </a:solidFill>
                <a:latin typeface="Arial"/>
                <a:cs typeface="Arial"/>
                <a:ea typeface="Arial"/>
              </a:rPr>
              <a:t>advisories citing non-existent evidence, without vs with retrieval</a:t>
            </a:r>
          </a:p>
        </p:txBody>
      </p:sp>
      <p:sp>
        <p:nvSpPr>
          <p:cNvPr id="14" name="Result 6"/>
          <p:cNvSpPr/>
          <p:nvPr/>
        </p:nvSpPr>
        <p:spPr>
          <a:xfrm>
            <a:off x="9601200" y="4974336"/>
            <a:ext cx="2606040" cy="1344168"/>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marL="0" indent="0">
              <a:spcAft>
                <a:spcPts val="300"/>
              </a:spcAft>
              <a:buNone/>
            </a:pPr>
            <a:r>
              <a:rPr sz="2000" b="1" i="0">
                <a:solidFill>
                  <a:srgbClr val="1F497D"/>
                </a:solidFill>
                <a:latin typeface="Arial"/>
                <a:cs typeface="Arial"/>
                <a:ea typeface="Arial"/>
              </a:rPr>
              <a:t>19</a:t>
            </a:r>
          </a:p>
          <a:p>
            <a:pPr algn="ctr" marL="0" indent="0">
              <a:spcAft>
                <a:spcPts val="300"/>
              </a:spcAft>
              <a:buNone/>
            </a:pPr>
            <a:r>
              <a:rPr sz="1200" b="0" i="0">
                <a:solidFill>
                  <a:srgbClr val="1A1A1A"/>
                </a:solidFill>
                <a:latin typeface="Arial"/>
                <a:cs typeface="Arial"/>
                <a:ea typeface="Arial"/>
              </a:rPr>
              <a:t>workflow runs per pass: 7 pending human review, 5 rejected by safety checks, 7 deferred</a:t>
            </a:r>
          </a:p>
        </p:txBody>
      </p:sp>
      <p:sp>
        <p:nvSpPr>
          <p:cNvPr id="15" name="TextBox 14"/>
          <p:cNvSpPr txBox="1"/>
          <p:nvPr/>
        </p:nvSpPr>
        <p:spPr>
          <a:xfrm>
            <a:off x="502920" y="6446520"/>
            <a:ext cx="11795760" cy="457200"/>
          </a:xfrm>
          <a:prstGeom prst="rect">
            <a:avLst/>
          </a:prstGeom>
          <a:noFill/>
        </p:spPr>
        <p:txBody>
          <a:bodyPr wrap="square" lIns="18288" rIns="18288" tIns="18288" bIns="18288" anchor="t"/>
          <a:lstStyle/>
          <a:p>
            <a:pPr algn="l" marL="0" indent="0">
              <a:spcAft>
                <a:spcPts val="0"/>
              </a:spcAft>
              <a:buNone/>
            </a:pPr>
            <a:r>
              <a:rPr sz="1200" b="1" i="0">
                <a:solidFill>
                  <a:srgbClr val="1F497D"/>
                </a:solidFill>
                <a:latin typeface="Arial"/>
                <a:cs typeface="Arial"/>
                <a:ea typeface="Arial"/>
              </a:rPr>
              <a:t>Also measured: </a:t>
            </a:r>
            <a:r>
              <a:rPr sz="1200" b="0" i="0">
                <a:solidFill>
                  <a:srgbClr val="1A1A1A"/>
                </a:solidFill>
                <a:latin typeface="Arial"/>
                <a:cs typeface="Arial"/>
                <a:ea typeface="Arial"/>
              </a:rPr>
              <a:t>removing the availability-aware gate raises MAE by 0.067 mph (95 % CI 0.048–0.086); removing operational weather features lowers it by 0.046 mph (a negative result). Simulated SUMO testbed: forecast rule −5.4 % / −4.7 % time loss (surge / incident) in all 5 seeds.</a:t>
            </a:r>
          </a:p>
        </p:txBody>
      </p:sp>
    </p:spTree>
    <p:extLst>
      <p:ext uri="{BB962C8B-B14F-4D97-AF65-F5344CB8AC3E}">
        <p14:creationId xmlns:p14="http://schemas.microsoft.com/office/powerpoint/2010/main" val="31872962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9. RESULTS &amp; OUTCOMES (CONTD.)</a:t>
            </a:r>
          </a:p>
        </p:txBody>
      </p:sp>
      <p:sp>
        <p:nvSpPr>
          <p:cNvPr id="4" name="Slide Number Placeholder 3"/>
          <p:cNvSpPr>
            <a:spLocks noGrp="1"/>
          </p:cNvSpPr>
          <p:nvPr>
            <p:ph type="sldNum" sz="quarter" idx="12"/>
          </p:nvPr>
        </p:nvSpPr>
        <p:spPr/>
        <p:txBody>
          <a:bodyPr/>
          <a:lstStyle/>
          <a:p>
            <a:fld id="{C02A2637-A5A3-49FA-B214-6E67543099EF}" type="slidenum">
              <a:rPr lang="en-US" smtClean="0"/>
              <a:t>23</a:t>
            </a:fld>
            <a:endParaRPr lang="en-US"/>
          </a:p>
        </p:txBody>
      </p:sp>
      <p:sp>
        <p:nvSpPr>
          <p:cNvPr id="5" name="Implemented and verified header"/>
          <p:cNvSpPr/>
          <p:nvPr/>
        </p:nvSpPr>
        <p:spPr>
          <a:xfrm>
            <a:off x="502920" y="1691640"/>
            <a:ext cx="3749039" cy="457200"/>
          </a:xfrm>
          <a:prstGeom prst="roundRect">
            <a:avLst>
              <a:gd name="adj" fmla="val 8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137160" bIns="137160" wrap="square"/>
          <a:lstStyle/>
          <a:p>
            <a:pPr algn="l" marL="0" indent="0">
              <a:spcAft>
                <a:spcPts val="0"/>
              </a:spcAft>
              <a:buNone/>
            </a:pPr>
            <a:r>
              <a:rPr sz="1700" b="1" i="0">
                <a:solidFill>
                  <a:srgbClr val="FFFFFF"/>
                </a:solidFill>
                <a:latin typeface="Arial"/>
                <a:cs typeface="Arial"/>
                <a:ea typeface="Arial"/>
              </a:rPr>
              <a:t>Implemented and verified</a:t>
            </a:r>
          </a:p>
        </p:txBody>
      </p:sp>
      <p:sp>
        <p:nvSpPr>
          <p:cNvPr id="6" name="Implemented and verified"/>
          <p:cNvSpPr/>
          <p:nvPr/>
        </p:nvSpPr>
        <p:spPr>
          <a:xfrm>
            <a:off x="502920" y="2240280"/>
            <a:ext cx="3749039" cy="4480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l" marL="274320" indent="-228600">
              <a:spcAft>
                <a:spcPts val="700"/>
              </a:spcAft>
              <a:buFont typeface="Arial"/>
              <a:buChar char="•"/>
            </a:pPr>
            <a:r>
              <a:rPr sz="1400" b="0" i="0">
                <a:solidFill>
                  <a:srgbClr val="1A1A1A"/>
                </a:solidFill>
                <a:latin typeface="Arial"/>
                <a:cs typeface="Arial"/>
                <a:ea typeface="Arial"/>
              </a:rPr>
              <a:t>Real-data pipeline on NYC DOT speeds (1 Jan – 20 Oct 2026), provenance hashed</a:t>
            </a:r>
          </a:p>
          <a:p>
            <a:pPr algn="l" marL="274320" indent="-228600">
              <a:spcAft>
                <a:spcPts val="700"/>
              </a:spcAft>
              <a:buFont typeface="Arial"/>
              <a:buChar char="•"/>
            </a:pPr>
            <a:r>
              <a:rPr sz="1400" b="0" i="0">
                <a:solidFill>
                  <a:srgbClr val="1A1A1A"/>
                </a:solidFill>
                <a:latin typeface="Arial"/>
                <a:cs typeface="Arial"/>
                <a:ea typeface="Arial"/>
              </a:rPr>
              <a:t>Seven forecasting models on identical targets; three-seed study of the deep models; ablations</a:t>
            </a:r>
          </a:p>
          <a:p>
            <a:pPr algn="l" marL="274320" indent="-228600">
              <a:spcAft>
                <a:spcPts val="700"/>
              </a:spcAft>
              <a:buFont typeface="Arial"/>
              <a:buChar char="•"/>
            </a:pPr>
            <a:r>
              <a:rPr sz="1400" b="0" i="0">
                <a:solidFill>
                  <a:srgbClr val="1A1A1A"/>
                </a:solidFill>
                <a:latin typeface="Arial"/>
                <a:cs typeface="Arial"/>
                <a:ea typeface="Arial"/>
              </a:rPr>
              <a:t>Conformal intervals, reliability gate, grouped SHAP</a:t>
            </a:r>
          </a:p>
          <a:p>
            <a:pPr algn="l" marL="274320" indent="-228600">
              <a:spcAft>
                <a:spcPts val="700"/>
              </a:spcAft>
              <a:buFont typeface="Arial"/>
              <a:buChar char="•"/>
            </a:pPr>
            <a:r>
              <a:rPr sz="1400" b="0" i="0">
                <a:solidFill>
                  <a:srgbClr val="1A1A1A"/>
                </a:solidFill>
                <a:latin typeface="Arial"/>
                <a:cs typeface="Arial"/>
                <a:ea typeface="Arial"/>
              </a:rPr>
              <a:t>FAISS retrieval (15 documents); local LLM with schema checks</a:t>
            </a:r>
          </a:p>
          <a:p>
            <a:pPr algn="l" marL="274320" indent="-228600">
              <a:spcAft>
                <a:spcPts val="700"/>
              </a:spcAft>
              <a:buFont typeface="Arial"/>
              <a:buChar char="•"/>
            </a:pPr>
            <a:r>
              <a:rPr sz="1400" b="0" i="0">
                <a:solidFill>
                  <a:srgbClr val="1A1A1A"/>
                </a:solidFill>
                <a:latin typeface="Arial"/>
                <a:cs typeface="Arial"/>
                <a:ea typeface="Arial"/>
              </a:rPr>
              <a:t>LangGraph workflow with 13 deterministic safety checks</a:t>
            </a:r>
          </a:p>
          <a:p>
            <a:pPr algn="l" marL="274320" indent="-228600">
              <a:spcAft>
                <a:spcPts val="700"/>
              </a:spcAft>
              <a:buFont typeface="Arial"/>
              <a:buChar char="•"/>
            </a:pPr>
            <a:r>
              <a:rPr sz="1400" b="0" i="0">
                <a:solidFill>
                  <a:srgbClr val="1A1A1A"/>
                </a:solidFill>
                <a:latin typeface="Arial"/>
                <a:cs typeface="Arial"/>
                <a:ea typeface="Arial"/>
              </a:rPr>
              <a:t>Calibrated SUMO testbed; 45-run controller comparison</a:t>
            </a:r>
          </a:p>
          <a:p>
            <a:pPr algn="l" marL="274320" indent="-228600">
              <a:spcAft>
                <a:spcPts val="700"/>
              </a:spcAft>
              <a:buFont typeface="Arial"/>
              <a:buChar char="•"/>
            </a:pPr>
            <a:r>
              <a:rPr sz="1400" b="0" i="0">
                <a:solidFill>
                  <a:srgbClr val="1A1A1A"/>
                </a:solidFill>
                <a:latin typeface="Arial"/>
                <a:cs typeface="Arial"/>
                <a:ea typeface="Arial"/>
              </a:rPr>
              <a:t>FastAPI, PostGIS jobs, Streamlit, MLflow, Docker Compose</a:t>
            </a:r>
          </a:p>
        </p:txBody>
      </p:sp>
      <p:sp>
        <p:nvSpPr>
          <p:cNvPr id="7" name="Partial or not run header"/>
          <p:cNvSpPr/>
          <p:nvPr/>
        </p:nvSpPr>
        <p:spPr>
          <a:xfrm>
            <a:off x="4498848" y="1691640"/>
            <a:ext cx="3749039" cy="457200"/>
          </a:xfrm>
          <a:prstGeom prst="roundRect">
            <a:avLst>
              <a:gd name="adj" fmla="val 8000"/>
            </a:avLst>
          </a:prstGeom>
          <a:solidFill>
            <a:srgbClr val="B26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137160" bIns="137160" wrap="square"/>
          <a:lstStyle/>
          <a:p>
            <a:pPr algn="l" marL="0" indent="0">
              <a:spcAft>
                <a:spcPts val="0"/>
              </a:spcAft>
              <a:buNone/>
            </a:pPr>
            <a:r>
              <a:rPr sz="1700" b="1" i="0">
                <a:solidFill>
                  <a:srgbClr val="FFFFFF"/>
                </a:solidFill>
                <a:latin typeface="Arial"/>
                <a:cs typeface="Arial"/>
                <a:ea typeface="Arial"/>
              </a:rPr>
              <a:t>Partial or not run</a:t>
            </a:r>
          </a:p>
        </p:txBody>
      </p:sp>
      <p:sp>
        <p:nvSpPr>
          <p:cNvPr id="8" name="Partial or not run"/>
          <p:cNvSpPr/>
          <p:nvPr/>
        </p:nvSpPr>
        <p:spPr>
          <a:xfrm>
            <a:off x="4498848" y="2240280"/>
            <a:ext cx="3749039" cy="4480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l" marL="274320" indent="-228600">
              <a:spcAft>
                <a:spcPts val="700"/>
              </a:spcAft>
              <a:buFont typeface="Arial"/>
              <a:buChar char="•"/>
            </a:pPr>
            <a:r>
              <a:rPr sz="1400" b="0" i="0">
                <a:solidFill>
                  <a:srgbClr val="1A1A1A"/>
                </a:solidFill>
                <a:latin typeface="Arial"/>
                <a:cs typeface="Arial"/>
                <a:ea typeface="Arial"/>
              </a:rPr>
              <a:t>SUMO gains are simulated on a calibrated scenario testbed, not NYC DOT timing; the first 45-run comparison is superseded</a:t>
            </a:r>
          </a:p>
          <a:p>
            <a:pPr algn="l" marL="274320" indent="-228600">
              <a:spcAft>
                <a:spcPts val="700"/>
              </a:spcAft>
              <a:buFont typeface="Arial"/>
              <a:buChar char="•"/>
            </a:pPr>
            <a:r>
              <a:rPr sz="1400" b="0" i="0">
                <a:solidFill>
                  <a:srgbClr val="1A1A1A"/>
                </a:solidFill>
                <a:latin typeface="Arial"/>
                <a:cs typeface="Arial"/>
                <a:ea typeface="Arial"/>
              </a:rPr>
              <a:t>LIVE observational mode is built but not yet run on the public feed</a:t>
            </a:r>
          </a:p>
          <a:p>
            <a:pPr algn="l" marL="274320" indent="-228600">
              <a:spcAft>
                <a:spcPts val="700"/>
              </a:spcAft>
              <a:buFont typeface="Arial"/>
              <a:buChar char="•"/>
            </a:pPr>
            <a:r>
              <a:rPr sz="1400" b="0" i="0">
                <a:solidFill>
                  <a:srgbClr val="1A1A1A"/>
                </a:solidFill>
                <a:latin typeface="Arial"/>
                <a:cs typeface="Arial"/>
                <a:ea typeface="Arial"/>
              </a:rPr>
              <a:t>No real advisory has reached the simulation gate (the LLM chose monitor-only in all three passes)</a:t>
            </a:r>
          </a:p>
          <a:p>
            <a:pPr algn="l" marL="274320" indent="-228600">
              <a:spcAft>
                <a:spcPts val="700"/>
              </a:spcAft>
              <a:buFont typeface="Arial"/>
              <a:buChar char="•"/>
            </a:pPr>
            <a:r>
              <a:rPr sz="1400" b="0" i="0">
                <a:solidFill>
                  <a:srgbClr val="1A1A1A"/>
                </a:solidFill>
                <a:latin typeface="Arial"/>
                <a:cs typeface="Arial"/>
                <a:ea typeface="Arial"/>
              </a:rPr>
              <a:t>Only three seeds; the proposed model is not bit-reproducible on GPU at a fixed seed</a:t>
            </a:r>
          </a:p>
          <a:p>
            <a:pPr algn="l" marL="274320" indent="-228600">
              <a:spcAft>
                <a:spcPts val="700"/>
              </a:spcAft>
              <a:buFont typeface="Arial"/>
              <a:buChar char="•"/>
            </a:pPr>
            <a:r>
              <a:rPr sz="1400" b="0" i="0">
                <a:solidFill>
                  <a:srgbClr val="1A1A1A"/>
                </a:solidFill>
                <a:latin typeface="Arial"/>
                <a:cs typeface="Arial"/>
                <a:ea typeface="Arial"/>
              </a:rPr>
              <a:t>Road graph is sparse: 26 nodes, 16 edges</a:t>
            </a:r>
          </a:p>
          <a:p>
            <a:pPr algn="l" marL="274320" indent="-228600">
              <a:spcAft>
                <a:spcPts val="700"/>
              </a:spcAft>
              <a:buFont typeface="Arial"/>
              <a:buChar char="•"/>
            </a:pPr>
            <a:r>
              <a:rPr sz="1400" b="0" i="0">
                <a:solidFill>
                  <a:srgbClr val="1A1A1A"/>
                </a:solidFill>
                <a:latin typeface="Arial"/>
                <a:cs typeface="Arial"/>
                <a:ea typeface="Arial"/>
              </a:rPr>
              <a:t>Intervals under-cover congested periods</a:t>
            </a:r>
          </a:p>
        </p:txBody>
      </p:sp>
      <p:sp>
        <p:nvSpPr>
          <p:cNvPr id="9" name="Outcomes and next steps header"/>
          <p:cNvSpPr/>
          <p:nvPr/>
        </p:nvSpPr>
        <p:spPr>
          <a:xfrm>
            <a:off x="8494776" y="1691640"/>
            <a:ext cx="3749039" cy="457200"/>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137160" bIns="137160" wrap="square"/>
          <a:lstStyle/>
          <a:p>
            <a:pPr algn="l" marL="0" indent="0">
              <a:spcAft>
                <a:spcPts val="0"/>
              </a:spcAft>
              <a:buNone/>
            </a:pPr>
            <a:r>
              <a:rPr sz="1700" b="1" i="0">
                <a:solidFill>
                  <a:srgbClr val="FFFFFF"/>
                </a:solidFill>
                <a:latin typeface="Arial"/>
                <a:cs typeface="Arial"/>
                <a:ea typeface="Arial"/>
              </a:rPr>
              <a:t>Outcomes and next steps</a:t>
            </a:r>
          </a:p>
        </p:txBody>
      </p:sp>
      <p:sp>
        <p:nvSpPr>
          <p:cNvPr id="10" name="Outcomes and next steps"/>
          <p:cNvSpPr/>
          <p:nvPr/>
        </p:nvSpPr>
        <p:spPr>
          <a:xfrm>
            <a:off x="8494776" y="2240280"/>
            <a:ext cx="3749039" cy="4480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l" marL="274320" indent="-228600">
              <a:spcAft>
                <a:spcPts val="700"/>
              </a:spcAft>
              <a:buFont typeface="Arial"/>
              <a:buChar char="•"/>
            </a:pPr>
            <a:r>
              <a:rPr sz="1400" b="0" i="0">
                <a:solidFill>
                  <a:srgbClr val="1A1A1A"/>
                </a:solidFill>
                <a:latin typeface="Arial"/>
                <a:cs typeface="Arial"/>
                <a:ea typeface="Arial"/>
              </a:rPr>
              <a:t>IEEE conference paper (LaTeX and Word), every claim traced in the claims ledger</a:t>
            </a:r>
          </a:p>
          <a:p>
            <a:pPr algn="l" marL="274320" indent="-228600">
              <a:spcAft>
                <a:spcPts val="700"/>
              </a:spcAft>
              <a:buFont typeface="Arial"/>
              <a:buChar char="•"/>
            </a:pPr>
            <a:r>
              <a:rPr sz="1400" b="0" i="0">
                <a:solidFill>
                  <a:srgbClr val="1A1A1A"/>
                </a:solidFill>
                <a:latin typeface="Arial"/>
                <a:cs typeface="Arial"/>
                <a:ea typeface="Arial"/>
              </a:rPr>
              <a:t>GitHub repository with tests, runbooks and result files</a:t>
            </a:r>
          </a:p>
          <a:p>
            <a:pPr algn="l" marL="274320" indent="-228600">
              <a:spcAft>
                <a:spcPts val="700"/>
              </a:spcAft>
              <a:buFont typeface="Arial"/>
              <a:buChar char="•"/>
            </a:pPr>
            <a:r>
              <a:rPr sz="1400" b="0" i="0">
                <a:solidFill>
                  <a:srgbClr val="1A1A1A"/>
                </a:solidFill>
                <a:latin typeface="Arial"/>
                <a:cs typeface="Arial"/>
                <a:ea typeface="Arial"/>
              </a:rPr>
              <a:t>Next: run LIVE mode on the public feed and score its saved forecasts</a:t>
            </a:r>
          </a:p>
          <a:p>
            <a:pPr algn="l" marL="274320" indent="-228600">
              <a:spcAft>
                <a:spcPts val="700"/>
              </a:spcAft>
              <a:buFont typeface="Arial"/>
              <a:buChar char="•"/>
            </a:pPr>
            <a:r>
              <a:rPr sz="1400" b="0" i="0">
                <a:solidFill>
                  <a:srgbClr val="1A1A1A"/>
                </a:solidFill>
                <a:latin typeface="Arial"/>
                <a:cs typeface="Arial"/>
                <a:ea typeface="Arial"/>
              </a:rPr>
              <a:t>Next: more seeds without the compute budget</a:t>
            </a:r>
          </a:p>
          <a:p>
            <a:pPr algn="l" marL="274320" indent="-228600">
              <a:spcAft>
                <a:spcPts val="700"/>
              </a:spcAft>
              <a:buFont typeface="Arial"/>
              <a:buChar char="•"/>
            </a:pPr>
            <a:r>
              <a:rPr sz="1400" b="0" i="0">
                <a:solidFill>
                  <a:srgbClr val="1A1A1A"/>
                </a:solidFill>
                <a:latin typeface="Arial"/>
                <a:cs typeface="Arial"/>
                <a:ea typeface="Arial"/>
              </a:rPr>
              <a:t>Next: paper submission</a:t>
            </a:r>
          </a:p>
        </p:txBody>
      </p:sp>
    </p:spTree>
    <p:extLst>
      <p:ext uri="{BB962C8B-B14F-4D97-AF65-F5344CB8AC3E}">
        <p14:creationId xmlns:p14="http://schemas.microsoft.com/office/powerpoint/2010/main" val="31872962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24EBC-07D1-5582-ECAD-FB015F64BD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93089C-2484-51E9-0A89-B13831434514}"/>
              </a:ext>
            </a:extLst>
          </p:cNvPr>
          <p:cNvSpPr>
            <a:spLocks noGrp="1"/>
          </p:cNvSpPr>
          <p:nvPr>
            <p:ph type="title"/>
          </p:nvPr>
        </p:nvSpPr>
        <p:spPr>
          <a:xfrm>
            <a:off x="0" y="0"/>
            <a:ext cx="12801600" cy="1512146"/>
          </a:xfrm>
          <a:solidFill>
            <a:schemeClr val="tx2">
              <a:lumMod val="60000"/>
              <a:lumOff val="40000"/>
            </a:schemeClr>
          </a:solidFill>
        </p:spPr>
        <p:txBody>
          <a:bodyPr vert="horz" lIns="114945" tIns="57473" rIns="114945" bIns="57473" rtlCol="0" anchor="ctr">
            <a:normAutofit/>
          </a:bodyPr>
          <a:lstStyle/>
          <a:p>
            <a:r>
              <a:rPr lang="en-US" sz="3600" b="1" dirty="0">
                <a:solidFill>
                  <a:schemeClr val="bg1"/>
                </a:solidFill>
                <a:latin typeface="Arial" panose="020B0604020202020204" pitchFamily="34" charset="0"/>
                <a:cs typeface="Arial" panose="020B0604020202020204" pitchFamily="34" charset="0"/>
              </a:rPr>
              <a:t>REFERENCES</a:t>
            </a:r>
            <a:endParaRPr lang="en-GB" sz="3600" b="1" dirty="0">
              <a:solidFill>
                <a:schemeClr val="bg1"/>
              </a:solidFill>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A9E1DF2F-2EFC-F28C-9A44-F9337C42CAAA}"/>
              </a:ext>
            </a:extLst>
          </p:cNvPr>
          <p:cNvSpPr>
            <a:spLocks noGrp="1"/>
          </p:cNvSpPr>
          <p:nvPr>
            <p:ph type="sldNum" sz="quarter" idx="12"/>
          </p:nvPr>
        </p:nvSpPr>
        <p:spPr/>
        <p:txBody>
          <a:bodyPr/>
          <a:lstStyle/>
          <a:p>
            <a:fld id="{C02A2637-A5A3-49FA-B214-6E67543099EF}" type="slidenum">
              <a:rPr lang="en-US" smtClean="0"/>
              <a:t>24</a:t>
            </a:fld>
            <a:endParaRPr lang="en-US"/>
          </a:p>
        </p:txBody>
      </p:sp>
      <p:sp>
        <p:nvSpPr>
          <p:cNvPr id="5" name="TextBox 4"/>
          <p:cNvSpPr txBox="1"/>
          <p:nvPr/>
        </p:nvSpPr>
        <p:spPr>
          <a:xfrm>
            <a:off x="548640" y="1783080"/>
            <a:ext cx="11704320" cy="4892040"/>
          </a:xfrm>
          <a:prstGeom prst="rect">
            <a:avLst/>
          </a:prstGeom>
          <a:noFill/>
        </p:spPr>
        <p:txBody>
          <a:bodyPr wrap="square" lIns="36576" rIns="36576" tIns="36576" bIns="36576" anchor="t"/>
          <a:lstStyle/>
          <a:p>
            <a:pPr algn="l" marL="0" indent="0">
              <a:spcAft>
                <a:spcPts val="500"/>
              </a:spcAft>
              <a:buNone/>
            </a:pPr>
            <a:r>
              <a:rPr sz="1400" b="0" i="0">
                <a:solidFill>
                  <a:srgbClr val="1A1A1A"/>
                </a:solidFill>
                <a:latin typeface="Times New Roman"/>
                <a:cs typeface="Times New Roman"/>
                <a:ea typeface="Times New Roman"/>
              </a:rPr>
              <a:t>[1] Y. Li, R. Yu, C. Shahabi, and Y. Liu, “Diffusion convolutional recurrent neural network: Data-driven traffic forecasting,” in Proc. ICLR, 2018.</a:t>
            </a:r>
          </a:p>
          <a:p>
            <a:pPr algn="l" marL="0" indent="0">
              <a:spcAft>
                <a:spcPts val="500"/>
              </a:spcAft>
              <a:buNone/>
            </a:pPr>
            <a:r>
              <a:rPr sz="1400" b="0" i="0">
                <a:solidFill>
                  <a:srgbClr val="1A1A1A"/>
                </a:solidFill>
                <a:latin typeface="Times New Roman"/>
                <a:cs typeface="Times New Roman"/>
                <a:ea typeface="Times New Roman"/>
              </a:rPr>
              <a:t>[2] B. Yu, H. Yin, and Z. Zhu, “Spatio-temporal graph convolutional networks: A deep learning framework for traffic forecasting,” in Proc. IJCAI, 2018, pp. 3634–3640.</a:t>
            </a:r>
          </a:p>
          <a:p>
            <a:pPr algn="l" marL="0" indent="0">
              <a:spcAft>
                <a:spcPts val="500"/>
              </a:spcAft>
              <a:buNone/>
            </a:pPr>
            <a:r>
              <a:rPr sz="1400" b="0" i="0">
                <a:solidFill>
                  <a:srgbClr val="1A1A1A"/>
                </a:solidFill>
                <a:latin typeface="Times New Roman"/>
                <a:cs typeface="Times New Roman"/>
                <a:ea typeface="Times New Roman"/>
              </a:rPr>
              <a:t>[3] Z. Wu, S. Pan, G. Long, J. Jiang, and C. Zhang, “Graph WaveNet for deep spatial-temporal graph modeling,” in Proc. IJCAI, 2019, pp. 1907–1913.</a:t>
            </a:r>
          </a:p>
          <a:p>
            <a:pPr algn="l" marL="0" indent="0">
              <a:spcAft>
                <a:spcPts val="500"/>
              </a:spcAft>
              <a:buNone/>
            </a:pPr>
            <a:r>
              <a:rPr sz="1400" b="0" i="0">
                <a:solidFill>
                  <a:srgbClr val="1A1A1A"/>
                </a:solidFill>
                <a:latin typeface="Times New Roman"/>
                <a:cs typeface="Times New Roman"/>
                <a:ea typeface="Times New Roman"/>
              </a:rPr>
              <a:t>[4] P. Lewis et al., “Retrieval-augmented generation for knowledge-intensive NLP tasks,” in Proc. NeurIPS, 2020.</a:t>
            </a:r>
          </a:p>
          <a:p>
            <a:pPr algn="l" marL="0" indent="0">
              <a:spcAft>
                <a:spcPts val="500"/>
              </a:spcAft>
              <a:buNone/>
            </a:pPr>
            <a:r>
              <a:rPr sz="1400" b="0" i="0">
                <a:solidFill>
                  <a:srgbClr val="1A1A1A"/>
                </a:solidFill>
                <a:latin typeface="Times New Roman"/>
                <a:cs typeface="Times New Roman"/>
                <a:ea typeface="Times New Roman"/>
              </a:rPr>
              <a:t>[5] P. A. Lopez et al., “Microscopic traffic simulation using SUMO,” in Proc. IEEE ITSC, 2018, pp. 2575–2582.</a:t>
            </a:r>
          </a:p>
          <a:p>
            <a:pPr algn="l" marL="0" indent="0">
              <a:spcAft>
                <a:spcPts val="500"/>
              </a:spcAft>
              <a:buNone/>
            </a:pPr>
            <a:r>
              <a:rPr sz="1400" b="0" i="0">
                <a:solidFill>
                  <a:srgbClr val="1A1A1A"/>
                </a:solidFill>
                <a:latin typeface="Times New Roman"/>
                <a:cs typeface="Times New Roman"/>
                <a:ea typeface="Times New Roman"/>
              </a:rPr>
              <a:t>[6] S. Brody, U. Alon, and E. Yahav, “How attentive are graph attention networks?,” in Proc. ICLR, 2022.</a:t>
            </a:r>
          </a:p>
          <a:p>
            <a:pPr algn="l" marL="0" indent="0">
              <a:spcAft>
                <a:spcPts val="500"/>
              </a:spcAft>
              <a:buNone/>
            </a:pPr>
            <a:r>
              <a:rPr sz="1400" b="0" i="0">
                <a:solidFill>
                  <a:srgbClr val="1A1A1A"/>
                </a:solidFill>
                <a:latin typeface="Times New Roman"/>
                <a:cs typeface="Times New Roman"/>
                <a:ea typeface="Times New Roman"/>
              </a:rPr>
              <a:t>[7] A. N. Angelopoulos and S. Bates, “A gentle introduction to conformal prediction and distribution-free uncertainty quantification,” arXiv:2107.07511, 2021.</a:t>
            </a:r>
          </a:p>
          <a:p>
            <a:pPr algn="l" marL="0" indent="0">
              <a:spcAft>
                <a:spcPts val="500"/>
              </a:spcAft>
              <a:buNone/>
            </a:pPr>
            <a:r>
              <a:rPr sz="1400" b="0" i="0">
                <a:solidFill>
                  <a:srgbClr val="1A1A1A"/>
                </a:solidFill>
                <a:latin typeface="Times New Roman"/>
                <a:cs typeface="Times New Roman"/>
                <a:ea typeface="Times New Roman"/>
              </a:rPr>
              <a:t>[8] C. Xu and Y. Xie, “Conformal prediction interval for dynamic time-series,” in Proc. ICML, PMLR vol. 139, 2021, pp. 11559–11569.</a:t>
            </a:r>
          </a:p>
          <a:p>
            <a:pPr algn="l" marL="0" indent="0">
              <a:spcAft>
                <a:spcPts val="500"/>
              </a:spcAft>
              <a:buNone/>
            </a:pPr>
            <a:r>
              <a:rPr sz="1400" b="0" i="0">
                <a:solidFill>
                  <a:srgbClr val="1A1A1A"/>
                </a:solidFill>
                <a:latin typeface="Times New Roman"/>
                <a:cs typeface="Times New Roman"/>
                <a:ea typeface="Times New Roman"/>
              </a:rPr>
              <a:t>[9] S. M. Lundberg and S.-I. Lee, “A unified approach to interpreting model predictions,” in Proc. NeurIPS, 2017.</a:t>
            </a:r>
          </a:p>
          <a:p>
            <a:pPr algn="l" marL="0" indent="0">
              <a:spcAft>
                <a:spcPts val="500"/>
              </a:spcAft>
              <a:buNone/>
            </a:pPr>
            <a:r>
              <a:rPr sz="1400" b="0" i="0">
                <a:solidFill>
                  <a:srgbClr val="1A1A1A"/>
                </a:solidFill>
                <a:latin typeface="Times New Roman"/>
                <a:cs typeface="Times New Roman"/>
                <a:ea typeface="Times New Roman"/>
              </a:rPr>
              <a:t>[10] B. Rozemberczki et al., “PyTorch Geometric Temporal: Spatiotemporal signal processing with neural machine learning models,” in Proc. ACM CIKM, 2021, pp. 4564–4573.</a:t>
            </a:r>
          </a:p>
          <a:p>
            <a:pPr algn="l" marL="0" indent="0">
              <a:spcAft>
                <a:spcPts val="500"/>
              </a:spcAft>
              <a:buNone/>
            </a:pPr>
            <a:r>
              <a:rPr sz="1400" b="0" i="0">
                <a:solidFill>
                  <a:srgbClr val="1A1A1A"/>
                </a:solidFill>
                <a:latin typeface="Times New Roman"/>
                <a:cs typeface="Times New Roman"/>
                <a:ea typeface="Times New Roman"/>
              </a:rPr>
              <a:t>[11] NYC Department of Transportation, “DOT Traffic Speeds NBE,” NYC Open Data, dataset i4gi-tjb9, accessed Oct. 2026.</a:t>
            </a:r>
          </a:p>
          <a:p>
            <a:pPr algn="l" marL="0" indent="0">
              <a:spcAft>
                <a:spcPts val="500"/>
              </a:spcAft>
              <a:buNone/>
            </a:pPr>
            <a:r>
              <a:rPr sz="1400" b="0" i="0">
                <a:solidFill>
                  <a:srgbClr val="1A1A1A"/>
                </a:solidFill>
                <a:latin typeface="Times New Roman"/>
                <a:cs typeface="Times New Roman"/>
                <a:ea typeface="Times New Roman"/>
              </a:rPr>
              <a:t>[12] NYC Department of Transportation, “Automated Traffic Volume Counts,” NYC Open Data, dataset 7ym2-wayt, accessed Oct. 2026.</a:t>
            </a:r>
          </a:p>
        </p:txBody>
      </p:sp>
    </p:spTree>
    <p:extLst>
      <p:ext uri="{BB962C8B-B14F-4D97-AF65-F5344CB8AC3E}">
        <p14:creationId xmlns:p14="http://schemas.microsoft.com/office/powerpoint/2010/main" val="42415402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0080" y="2819401"/>
            <a:ext cx="11521440" cy="1219200"/>
          </a:xfrm>
        </p:spPr>
        <p:txBody>
          <a:bodyPr>
            <a:normAutofit fontScale="90000"/>
          </a:bodyPr>
          <a:lstStyle/>
          <a:p>
            <a:r>
              <a:rPr lang="en-US" sz="10000" b="1" dirty="0">
                <a:solidFill>
                  <a:schemeClr val="tx2">
                    <a:lumMod val="60000"/>
                    <a:lumOff val="40000"/>
                  </a:schemeClr>
                </a:solidFill>
                <a:latin typeface="Arial" panose="020B0604020202020204" pitchFamily="34" charset="0"/>
                <a:cs typeface="Arial" panose="020B0604020202020204" pitchFamily="34" charset="0"/>
              </a:rPr>
              <a:t>Thank You</a:t>
            </a:r>
          </a:p>
        </p:txBody>
      </p:sp>
      <p:sp>
        <p:nvSpPr>
          <p:cNvPr id="3" name="Slide Number Placeholder 2"/>
          <p:cNvSpPr>
            <a:spLocks noGrp="1"/>
          </p:cNvSpPr>
          <p:nvPr>
            <p:ph type="sldNum" sz="quarter" idx="12"/>
          </p:nvPr>
        </p:nvSpPr>
        <p:spPr/>
        <p:txBody>
          <a:bodyPr/>
          <a:lstStyle/>
          <a:p>
            <a:fld id="{C02A2637-A5A3-49FA-B214-6E67543099EF}" type="slidenum">
              <a:rPr lang="en-US" smtClean="0"/>
              <a:t>25</a:t>
            </a:fld>
            <a:endParaRPr lang="en-US"/>
          </a:p>
        </p:txBody>
      </p:sp>
    </p:spTree>
    <p:extLst>
      <p:ext uri="{BB962C8B-B14F-4D97-AF65-F5344CB8AC3E}">
        <p14:creationId xmlns:p14="http://schemas.microsoft.com/office/powerpoint/2010/main" val="27503980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15877</TotalTime>
  <Words>376</Words>
  <Application>Microsoft Office PowerPoint</Application>
  <PresentationFormat>Custom</PresentationFormat>
  <Paragraphs>99</Paragraphs>
  <Slides>16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Wingdings</vt:lpstr>
      <vt:lpstr>Office Theme</vt:lpstr>
      <vt:lpstr>&lt;&lt;PROJECT TITLE **ARIAL FONT SIZE 40**&gt;&gt;</vt:lpstr>
      <vt:lpstr>CONTENTS</vt:lpstr>
      <vt:lpstr>1.ABSTRACT</vt:lpstr>
      <vt:lpstr>2. INTRODUCTION</vt:lpstr>
      <vt:lpstr>3.LITERATURE SURVEY</vt:lpstr>
      <vt:lpstr>4. RESEARCH GAPS</vt:lpstr>
      <vt:lpstr>5. OBJECTIVES</vt:lpstr>
      <vt:lpstr>6. RESEARCH WORK DONE</vt:lpstr>
      <vt:lpstr>MODULE IDENTIFICATION</vt:lpstr>
      <vt:lpstr>SYSTEM ARCHITECTURE</vt:lpstr>
      <vt:lpstr>DEVELOPMENT &amp; INTEGRATION</vt:lpstr>
      <vt:lpstr>PROTOTYPE / RESEARCH FRAMEWORK</vt:lpstr>
      <vt:lpstr>7. CONCLUSIONS</vt:lpstr>
      <vt:lpstr>8. OUTCOME</vt:lpstr>
      <vt:lpstr>9. TIMELINE / GANTT CHART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APPROACH TO REDUCE LOAD ON CHANGE IMPACT ANALYSIS OVER SOFTWARE DEVELOPMENT</dc:title>
  <dc:creator>admin</dc:creator>
  <cp:lastModifiedBy>Saravana Rajendran</cp:lastModifiedBy>
  <cp:revision>136</cp:revision>
  <dcterms:created xsi:type="dcterms:W3CDTF">2020-07-13T09:49:45Z</dcterms:created>
  <dcterms:modified xsi:type="dcterms:W3CDTF">2026-09-26T07:05:43Z</dcterms:modified>
</cp:coreProperties>
</file>