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324" r:id="rId3"/>
    <p:sldId id="259" r:id="rId4"/>
    <p:sldId id="260" r:id="rId5"/>
    <p:sldId id="325" r:id="rId6"/>
    <p:sldId id="336" r:id="rId23"/>
    <p:sldId id="333" r:id="rId7"/>
    <p:sldId id="334" r:id="rId8"/>
    <p:sldId id="265" r:id="rId9"/>
    <p:sldId id="335" r:id="rId10"/>
    <p:sldId id="312" r:id="rId11"/>
    <p:sldId id="328" r:id="rId12"/>
    <p:sldId id="330" r:id="rId13"/>
    <p:sldId id="332" r:id="rId14"/>
    <p:sldId id="331" r:id="rId15"/>
    <p:sldId id="337" r:id="rId24"/>
    <p:sldId id="339" r:id="rId26"/>
    <p:sldId id="340" r:id="rId27"/>
    <p:sldId id="341" r:id="rId28"/>
    <p:sldId id="342" r:id="rId29"/>
    <p:sldId id="327" r:id="rId16"/>
    <p:sldId id="343" r:id="rId30"/>
    <p:sldId id="338" r:id="rId25"/>
    <p:sldId id="321" r:id="rId17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902" y="67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21.xml"/><Relationship Id="rId17" Type="http://schemas.openxmlformats.org/officeDocument/2006/relationships/slide" Target="slides/slide2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6.xml"/><Relationship Id="rId24" Type="http://schemas.openxmlformats.org/officeDocument/2006/relationships/slide" Target="slides/slide16.xml"/><Relationship Id="rId25" Type="http://schemas.openxmlformats.org/officeDocument/2006/relationships/slide" Target="slides/slide23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F497D"/>
                </a:solidFill>
                <a:latin typeface="Times New Roman"/>
              </a:rPr>
              <a:t>Test MAE (mph) by model and horizon — lower is better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15 min</c:v>
                </c:pt>
              </c:strCache>
            </c:strRef>
          </c:tx>
          <c:spPr>
            <a:solidFill>
              <a:srgbClr val="9CBCE6"/>
            </a:solidFill>
          </c:spPr>
          <c:cat>
            <c:strRef>
              <c:f>Sheet1!$A$2:$A$8</c:f>
              <c:strCache>
                <c:ptCount val="7"/>
                <c:pt idx="0">
                  <c:v>Persistence</c:v>
                </c:pt>
                <c:pt idx="1">
                  <c:v>Historical avg</c:v>
                </c:pt>
                <c:pt idx="2">
                  <c:v>XGBoost</c:v>
                </c:pt>
                <c:pt idx="3">
                  <c:v>LightGBM</c:v>
                </c:pt>
                <c:pt idx="4">
                  <c:v>GRU</c:v>
                </c:pt>
                <c:pt idx="5">
                  <c:v>Temporal Transformer</c:v>
                </c:pt>
                <c:pt idx="6">
                  <c:v>Proposed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5.1386</c:v>
                </c:pt>
                <c:pt idx="1">
                  <c:v>7.6321</c:v>
                </c:pt>
                <c:pt idx="2">
                  <c:v>4.8229</c:v>
                </c:pt>
                <c:pt idx="3">
                  <c:v>4.8725</c:v>
                </c:pt>
                <c:pt idx="4">
                  <c:v>4.7145</c:v>
                </c:pt>
                <c:pt idx="5">
                  <c:v>4.7334</c:v>
                </c:pt>
                <c:pt idx="6">
                  <c:v>4.7726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 min</c:v>
                </c:pt>
              </c:strCache>
            </c:strRef>
          </c:tx>
          <c:spPr>
            <a:solidFill>
              <a:srgbClr val="548DD4"/>
            </a:solidFill>
          </c:spPr>
          <c:cat>
            <c:strRef>
              <c:f>Sheet1!$A$2:$A$8</c:f>
              <c:strCache>
                <c:ptCount val="7"/>
                <c:pt idx="0">
                  <c:v>Persistence</c:v>
                </c:pt>
                <c:pt idx="1">
                  <c:v>Historical avg</c:v>
                </c:pt>
                <c:pt idx="2">
                  <c:v>XGBoost</c:v>
                </c:pt>
                <c:pt idx="3">
                  <c:v>LightGBM</c:v>
                </c:pt>
                <c:pt idx="4">
                  <c:v>GRU</c:v>
                </c:pt>
                <c:pt idx="5">
                  <c:v>Temporal Transformer</c:v>
                </c:pt>
                <c:pt idx="6">
                  <c:v>Proposed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6.0556</c:v>
                </c:pt>
                <c:pt idx="1">
                  <c:v>7.6329</c:v>
                </c:pt>
                <c:pt idx="2">
                  <c:v>5.5792</c:v>
                </c:pt>
                <c:pt idx="3">
                  <c:v>5.5993</c:v>
                </c:pt>
                <c:pt idx="4">
                  <c:v>5.3731</c:v>
                </c:pt>
                <c:pt idx="5">
                  <c:v>5.3375</c:v>
                </c:pt>
                <c:pt idx="6">
                  <c:v>5.3308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60 min</c:v>
                </c:pt>
              </c:strCache>
            </c:strRef>
          </c:tx>
          <c:spPr>
            <a:solidFill>
              <a:srgbClr val="1F497D"/>
            </a:solidFill>
          </c:spPr>
          <c:cat>
            <c:strRef>
              <c:f>Sheet1!$A$2:$A$8</c:f>
              <c:strCache>
                <c:ptCount val="7"/>
                <c:pt idx="0">
                  <c:v>Persistence</c:v>
                </c:pt>
                <c:pt idx="1">
                  <c:v>Historical avg</c:v>
                </c:pt>
                <c:pt idx="2">
                  <c:v>XGBoost</c:v>
                </c:pt>
                <c:pt idx="3">
                  <c:v>LightGBM</c:v>
                </c:pt>
                <c:pt idx="4">
                  <c:v>GRU</c:v>
                </c:pt>
                <c:pt idx="5">
                  <c:v>Temporal Transformer</c:v>
                </c:pt>
                <c:pt idx="6">
                  <c:v>Proposed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7.2875</c:v>
                </c:pt>
                <c:pt idx="1">
                  <c:v>7.6369</c:v>
                </c:pt>
                <c:pt idx="2">
                  <c:v>6.3079</c:v>
                </c:pt>
                <c:pt idx="3">
                  <c:v>6.315</c:v>
                </c:pt>
                <c:pt idx="4">
                  <c:v>6.1742</c:v>
                </c:pt>
                <c:pt idx="5">
                  <c:v>6.1835</c:v>
                </c:pt>
                <c:pt idx="6">
                  <c:v>6.1546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  <a:latin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5"/>
          <c:min val="0.0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>
              <a:latin typeface="Times New Roman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F497D"/>
                </a:solidFill>
                <a:latin typeface="Times New Roman"/>
              </a:rPr>
              <a:t>Advisory decisions in 19 workflow runs (REPLAY cases)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spPr>
            <a:solidFill>
              <a:srgbClr val="1F497D"/>
            </a:solidFill>
          </c:spPr>
          <c:cat>
            <c:strRef>
              <c:f>Sheet1!$A$2:$A$6</c:f>
              <c:strCache>
                <c:ptCount val="5"/>
                <c:pt idx="0">
                  <c:v>PENDING_HUMAN_REVIEW</c:v>
                </c:pt>
                <c:pt idx="1">
                  <c:v>REJECT_CONSTRAINT</c:v>
                </c:pt>
                <c:pt idx="2">
                  <c:v>DEFER_UNCERTAINTY</c:v>
                </c:pt>
                <c:pt idx="3">
                  <c:v>DEFER_DATA</c:v>
                </c:pt>
                <c:pt idx="4">
                  <c:v>DEFER_EVIDENCE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5</c:v>
                </c:pt>
                <c:pt idx="2">
                  <c:v>5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latin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 anchor="ctr">
            <a:noAutofit/>
          </a:bodyPr>
          <a:lstStyle/>
          <a:p>
            <a:pPr algn="ctr"/>
            <a:r>
              <a:rPr lang="en-US" sz="4000" b="0" dirty="0" i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  <a:ea typeface="Arial"/>
              </a:rPr>
              <a:t>Predictive Analytics for Smart City Infrastructure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" y="3200400"/>
            <a:ext cx="12070080" cy="3977639"/>
          </a:xfrm>
        </p:spPr>
        <p:txBody>
          <a:bodyPr wrap="square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 i="0">
                <a:solidFill>
                  <a:srgbClr val="244061"/>
                </a:solidFill>
                <a:latin typeface="Times New Roman"/>
                <a:cs typeface="Times New Roman"/>
                <a:ea typeface="Times New Roman"/>
              </a:rPr>
              <a:t>M.Tech Project Work Final Review</a:t>
            </a:r>
          </a:p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 i="0">
                <a:solidFill>
                  <a:srgbClr val="244061"/>
                </a:solidFill>
                <a:latin typeface="Times New Roman"/>
                <a:cs typeface="Times New Roman"/>
                <a:ea typeface="Times New Roman"/>
              </a:rPr>
              <a:t>Presented by</a:t>
            </a:r>
          </a:p>
          <a:p>
            <a:pPr algn="ctr" marL="0" indent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244061"/>
                </a:solidFill>
                <a:latin typeface="Times New Roman"/>
                <a:cs typeface="Times New Roman"/>
                <a:ea typeface="Times New Roman"/>
              </a:rPr>
              <a:t>S K Sricharan (25MML1010)</a:t>
            </a:r>
          </a:p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 i="0">
                <a:solidFill>
                  <a:srgbClr val="244061"/>
                </a:solidFill>
                <a:latin typeface="Times New Roman"/>
                <a:cs typeface="Times New Roman"/>
                <a:ea typeface="Times New Roman"/>
              </a:rPr>
              <a:t>M.Tech Computer Science and Engineering</a:t>
            </a:r>
          </a:p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 i="0">
                <a:solidFill>
                  <a:srgbClr val="244061"/>
                </a:solidFill>
                <a:latin typeface="Times New Roman"/>
                <a:cs typeface="Times New Roman"/>
                <a:ea typeface="Times New Roman"/>
              </a:rPr>
              <a:t>(Artificial Intelligence and Machine Learning – In collaboration with LTI Mindtree)</a:t>
            </a:r>
          </a:p>
          <a:p>
            <a:pPr algn="ctr" marL="0" indent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244061"/>
                </a:solidFill>
                <a:latin typeface="Times New Roman"/>
                <a:cs typeface="Times New Roman"/>
                <a:ea typeface="Times New Roman"/>
              </a:rPr>
              <a:t>Under the Guidance of</a:t>
            </a:r>
          </a:p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 i="0">
                <a:solidFill>
                  <a:srgbClr val="244061"/>
                </a:solidFill>
                <a:latin typeface="Times New Roman"/>
                <a:cs typeface="Times New Roman"/>
                <a:ea typeface="Times New Roman"/>
              </a:rPr>
              <a:t>Dr R. Srinivasa Perumal</a:t>
            </a:r>
          </a:p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 i="0">
                <a:solidFill>
                  <a:srgbClr val="244061"/>
                </a:solidFill>
                <a:latin typeface="Times New Roman"/>
                <a:cs typeface="Times New Roman"/>
                <a:ea typeface="Times New Roman"/>
              </a:rPr>
              <a:t>Associate Professor</a:t>
            </a:r>
          </a:p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 i="0">
                <a:solidFill>
                  <a:srgbClr val="244061"/>
                </a:solidFill>
                <a:latin typeface="Times New Roman"/>
                <a:cs typeface="Times New Roman"/>
                <a:ea typeface="Times New Roman"/>
              </a:rPr>
              <a:t>School of Computer Science and Engineering</a:t>
            </a:r>
          </a:p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2000" b="0" i="0">
                <a:solidFill>
                  <a:srgbClr val="244061"/>
                </a:solidFill>
                <a:latin typeface="Times New Roman"/>
                <a:cs typeface="Times New Roman"/>
                <a:ea typeface="Times New Roman"/>
              </a:rPr>
              <a:t>Vellore Institute of Technology, Chennai.</a:t>
            </a:r>
          </a:p>
        </p:txBody>
      </p:sp>
      <p:pic>
        <p:nvPicPr>
          <p:cNvPr id="4" name="VIT Chennai 15 years logo" descr="vit_chennai_15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783080"/>
            <a:ext cx="4937760" cy="132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200" y="1600200"/>
            <a:ext cx="12649200" cy="5638800"/>
          </a:xfrm>
          <a:prstGeom prst="rect">
            <a:avLst/>
          </a:prstGeom>
        </p:spPr>
        <p:txBody>
          <a:bodyPr vert="horz" lIns="114945" tIns="57473" rIns="114945" bIns="57473" rtlCol="0">
            <a:normAutofit fontScale="925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LITERATURE SURVEY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RESEARCH GAPS 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RESEARCH WORK DONE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  <a:p>
            <a:pPr lvl="1" fontAlgn="ctr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RESULTS &amp; OUTCOMES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783080"/>
            <a:ext cx="11978640" cy="4892040"/>
          </a:xfrm>
        </p:spPr>
        <p:txBody>
          <a:bodyPr wrap="square">
            <a:normAutofit/>
          </a:bodyPr>
          <a:lstStyle/>
          <a:p>
            <a:pPr marL="0" indent="0" algn="just">
              <a:lnSpc>
                <a:spcPct val="105000"/>
              </a:lnSpc>
              <a:spcAft>
                <a:spcPts val="0"/>
              </a:spcAft>
              <a:buNone/>
            </a:pPr>
            <a:r>
              <a:rPr sz="2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Traffic control rooms can see congestion as it happens, but rarely receive forecasts that are explained, honest about their uncertainty and tested before an action is suggested. This project builds a decision-support prototype on public New York City data. A context-gated GATv2–Transformer forecasts link speeds 15, 30 and 60 minutes ahead on a graph of 16 Manhattan DOT speed links (January–October 2026), fusing weather, 311 and calendar context through an availability-aware gate. Split-conformal intervals quantify uncertainty, grouped SHAP explains the trained model, and a LangGraph workflow uses a local LLM (qwen2.5 7B) with FAISS retrieval to draft signal advisories that deterministic safety rules and a SUMO simulation must pass before human review. On a 45-day test period the model reaches 4.77, 5.33 and 6.15 mph MAE, 7–16 % below persistence; intervals reach 90 % coverage overall, and retrieval removed every fabricated citation. An audit of the simulation testbed showed it cannot yet support a controller comparison, which is therefore reported as not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83080"/>
            <a:ext cx="11795760" cy="3840480"/>
          </a:xfrm>
        </p:spPr>
        <p:txBody>
          <a:bodyPr wrap="square">
            <a:normAutofit/>
          </a:bodyPr>
          <a:lstStyle/>
          <a:p>
            <a:pPr algn="l" marL="274320" indent="-228600">
              <a:spcAft>
                <a:spcPts val="1000"/>
              </a:spcAft>
              <a:buFont typeface="Arial"/>
              <a:buChar char="•"/>
            </a:pPr>
            <a:r>
              <a:rPr sz="2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Urban congestion depends on demand, neighbouring roads, weather, events and incidents, yet control rooms mostly see only current conditions.</a:t>
            </a:r>
          </a:p>
          <a:p>
            <a:pPr algn="l" marL="274320" indent="-228600">
              <a:spcAft>
                <a:spcPts val="1000"/>
              </a:spcAft>
              <a:buFont typeface="Arial"/>
              <a:buChar char="•"/>
            </a:pPr>
            <a:r>
              <a:rPr sz="2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Graph neural networks forecast traffic on road networks [1]–[3], but give point forecasts without uncertainty or explanation.</a:t>
            </a:r>
          </a:p>
          <a:p>
            <a:pPr algn="l" marL="274320" indent="-228600">
              <a:spcAft>
                <a:spcPts val="1000"/>
              </a:spcAft>
              <a:buFont typeface="Arial"/>
              <a:buChar char="•"/>
            </a:pPr>
            <a:r>
              <a:rPr sz="2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An LLM can phrase advice convincingly without evidence; retrieval grounding [4] and simulation testing [5] are needed before any signal action.</a:t>
            </a:r>
          </a:p>
          <a:p>
            <a:pPr algn="l" marL="274320" indent="-228600">
              <a:spcAft>
                <a:spcPts val="1000"/>
              </a:spcAft>
              <a:buFont typeface="Arial"/>
              <a:buChar char="•"/>
            </a:pPr>
            <a:r>
              <a:rPr sz="2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Objective: join forecasts, uncertainty, explanations, cited evidence and simulation checks in one auditable, human-in-the-loop advisory pipeline on real NYC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5760720"/>
            <a:ext cx="11795760" cy="98755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11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[1] Y. Li, R. Yu, C. Shahabi, and Y. Liu, “Diffusion convolutional recurrent neural network: Data-driven traffic forecasting,” in Proc. ICLR, 2018.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1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[2] B. Yu, H. Yin, and Z. Zhu, “Spatio-temporal graph convolutional networks: A deep learning framework for traffic forecasting,” in Proc. IJCAI, 2018, pp. 3634–3640.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1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[3] Z. Wu, S. Pan, G. Long, J. Jiang, and C. Zhang, “Graph WaveNet for deep spatial-temporal graph modeling,” in Proc. IJCAI, 2019, pp. 1907–1913.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1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[4] P. Lewis et al., “Retrieval-augmented generation for knowledge-intensive NLP tasks,” in Proc. NeurIPS, 2020.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1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[5] P. A. Lopez et al., “Microscopic traffic simulation using SUMO,” in Proc. IEEE ITSC, 2018, pp. 2575–2582.</a:t>
            </a:r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914007"/>
              </p:ext>
            </p:extLst>
          </p:nvPr>
        </p:nvGraphicFramePr>
        <p:xfrm>
          <a:off x="685799" y="1664208"/>
          <a:ext cx="11475720" cy="426110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b="1" i="0">
                          <a:solidFill>
                            <a:srgbClr val="1F497D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ea typeface="Arial"/>
                        </a:rPr>
                        <a:t>S.No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b="1" i="0">
                          <a:solidFill>
                            <a:srgbClr val="1F497D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ea typeface="Arial"/>
                        </a:rPr>
                        <a:t>Article  Title 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b="1" i="0">
                          <a:solidFill>
                            <a:srgbClr val="1F497D"/>
                          </a:solidFill>
                          <a:effectLst/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b="1" i="0">
                          <a:solidFill>
                            <a:srgbClr val="1F497D"/>
                          </a:solidFill>
                          <a:effectLst/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b="1" i="0">
                          <a:solidFill>
                            <a:srgbClr val="1F497D"/>
                          </a:solidFill>
                          <a:effectLst/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264">
                <a:tc>
                  <a:txBody>
                    <a:bodyPr wrap="square"/>
                    <a:lstStyle/>
                    <a:p>
                      <a:pPr marL="0" marR="0" algn="ctr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1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[1] Li et al., Diffusion Convolutional Recurrent Neural Network (ICLR 2018)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Diffusion convolution on a directed road graph inside a GRU encoder–decoder (seq2seq)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Modelling traffic as diffusion on the directed graph improved multi-step speed forecasts over non-graph baselines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Fixed, predefined graph; point forecasts only; no exogenous context or uncertainty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264">
                <a:tc>
                  <a:txBody>
                    <a:bodyPr wrap="square"/>
                    <a:lstStyle/>
                    <a:p>
                      <a:pPr marL="0" marR="0" algn="ctr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2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[2] Yu et al., Spatio-Temporal Graph Convolutional Networks (IJCAI 2018)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Graph convolution combined with gated temporal convolution; fully convolutional, no recurrence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Accurate short-term forecasts with faster training and fewer parameters than recurrent models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Static graph; point forecasts; no weather or event context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264">
                <a:tc>
                  <a:txBody>
                    <a:bodyPr wrap="square"/>
                    <a:lstStyle/>
                    <a:p>
                      <a:pPr marL="0" marR="0" algn="ctr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3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tabLst/>
                        <a:defRPr/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[3] Wu et al., Graph WaveNet (IJCAI 2019)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Self-adaptive adjacency matrix learned from data plus dilated causal convolutions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Captures hidden spatial dependencies even when the given graph is incomplete; long receptive field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Learned graph is hard to interpret; no uncertainty estimates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264">
                <a:tc>
                  <a:txBody>
                    <a:bodyPr wrap="square"/>
                    <a:lstStyle/>
                    <a:p>
                      <a:pPr marL="0" marR="0" algn="ctr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4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tabLst/>
                        <a:defRPr/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[6] Brody et al., How Attentive are Graph Attention Networks? (ICLR 2022)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GATv2: reorders the attention computation so that attention becomes dynamic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Shows that GAT attention is static; GATv2 is strictly more expressive and performs better on benchmarks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General-purpose graph layer; no temporal modelling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02920" y="6053328"/>
            <a:ext cx="11795760" cy="694943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105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[1] Y. Li, R. Yu, C. Shahabi, and Y. Liu, “Diffusion convolutional recurrent neural network: Data-driven traffic forecasting,” in Proc. ICLR, 2018.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05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[2] B. Yu, H. Yin, and Z. Zhu, “Spatio-temporal graph convolutional networks: A deep learning framework for traffic forecasting,” in Proc. IJCAI, 2018, pp. 3634–3640.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05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[3] Z. Wu, S. Pan, G. Long, J. Jiang, and C. Zhang, “Graph WaveNet for deep spatial-temporal graph modeling,” in Proc. IJCAI, 2019, pp. 1907–1913.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05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[6] S. Brody, U. Alon, and E. Yahav, “How attentive are graph attention networks?,” in Proc. ICLR, 2022.</a:t>
            </a:r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3.LITERATURE SURVEY (CONTD.)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8914007"/>
              </p:ext>
            </p:extLst>
          </p:nvPr>
        </p:nvGraphicFramePr>
        <p:xfrm>
          <a:off x="685799" y="1664208"/>
          <a:ext cx="11475720" cy="426110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b="1" i="0">
                          <a:solidFill>
                            <a:srgbClr val="1F497D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ea typeface="Arial"/>
                        </a:rPr>
                        <a:t>S.No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b="1" i="0">
                          <a:solidFill>
                            <a:srgbClr val="1F497D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ea typeface="Arial"/>
                        </a:rPr>
                        <a:t>Article  Title 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b="1" i="0">
                          <a:solidFill>
                            <a:srgbClr val="1F497D"/>
                          </a:solidFill>
                          <a:effectLst/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b="1" i="0">
                          <a:solidFill>
                            <a:srgbClr val="1F497D"/>
                          </a:solidFill>
                          <a:effectLst/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b="1" i="0">
                          <a:solidFill>
                            <a:srgbClr val="1F497D"/>
                          </a:solidFill>
                          <a:effectLst/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264">
                <a:tc>
                  <a:txBody>
                    <a:bodyPr wrap="square"/>
                    <a:lstStyle/>
                    <a:p>
                      <a:pPr marL="0" marR="0" algn="ctr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5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[7] Angelopoulos &amp; Bates, A Gentle Introduction to Conformal Prediction (2021)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Split conformal prediction wrapped around any trained model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Distribution-free, finite-sample marginal coverage guarantee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Assumes exchangeable data; guarantees marginal, not conditional, coverage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264">
                <a:tc>
                  <a:txBody>
                    <a:bodyPr wrap="square"/>
                    <a:lstStyle/>
                    <a:p>
                      <a:pPr marL="0" marR="0" algn="ctr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6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[8] Xu &amp; Xie, Conformal Prediction Interval for Dynamic Time-Series (ICML 2021)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EnbPI: bootstrap ensemble with conformal-style intervals for time series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Approximately valid intervals without exchangeability, under stated assumptions on the errors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Requires an ensemble of models; validity is approximate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264">
                <a:tc>
                  <a:txBody>
                    <a:bodyPr wrap="square"/>
                    <a:lstStyle/>
                    <a:p>
                      <a:pPr marL="0" marR="0" algn="ctr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7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tabLst/>
                        <a:defRPr/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[9] Lundberg &amp; Lee, A Unified Approach to Interpreting Model Predictions (NeurIPS 2017)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SHAP: Shapley-value feature attribution (KernelSHAP and model-specific variants)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Unifies additive attribution methods with consistency guarantees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Cost grows with the number of features; attributions describe the model, not causes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264">
                <a:tc>
                  <a:txBody>
                    <a:bodyPr wrap="square"/>
                    <a:lstStyle/>
                    <a:p>
                      <a:pPr marL="0" marR="0" algn="ctr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8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tabLst/>
                        <a:defRPr/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[4] Lewis et al., Retrieval-Augmented Generation (NeurIPS 2020)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Dense passage retriever combined with a seq2seq generator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More specific and factual generation on knowledge-intensive tasks than a parametric-only model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tc>
                  <a:txBody>
                    <a:bodyPr wrap="square"/>
                    <a:lstStyle/>
                    <a:p>
                      <a:pPr marL="0" marR="0" algn="l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Bounded by corpus and retriever quality; can still produce unsupported text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54864" marR="54864"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02920" y="6053328"/>
            <a:ext cx="11795760" cy="694943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105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[4] P. Lewis et al., “Retrieval-augmented generation for knowledge-intensive NLP tasks,” in Proc. NeurIPS, 2020.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05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[7] A. N. Angelopoulos and S. Bates, “A gentle introduction to conformal prediction and distribution-free uncertainty quantification,” arXiv:2107.07511, 2021.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05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[8] C. Xu and Y. Xie, “Conformal prediction interval for dynamic time-series,” in Proc. ICML, PMLR vol. 139, 2021, pp. 11559–11569.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05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[9] S. M. Lundberg and S.-I. Lee, “A unified approach to interpreting model predictions,” in Proc. NeurIPS, 2017.</a:t>
            </a:r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RESEARCH GAPS</a:t>
            </a:r>
            <a:endParaRPr lang="en-GB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  <p:sp>
        <p:nvSpPr>
          <p:cNvPr id="5" name="Gap 1"/>
          <p:cNvSpPr/>
          <p:nvPr/>
        </p:nvSpPr>
        <p:spPr>
          <a:xfrm>
            <a:off x="457200" y="1828800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 bIns="164592" wrap="square"/>
          <a:lstStyle/>
          <a:p>
            <a:pPr algn="l" marL="0" indent="0">
              <a:spcAft>
                <a:spcPts val="800"/>
              </a:spcAft>
              <a:buNone/>
            </a:pPr>
            <a:r>
              <a:rPr sz="19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G1  Forecast stops at the number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Graph forecasting studies [1]–[3] report accuracy but do not connect the forecast to a checked, testable action.</a:t>
            </a:r>
          </a:p>
        </p:txBody>
      </p:sp>
      <p:sp>
        <p:nvSpPr>
          <p:cNvPr id="6" name="Gap 2"/>
          <p:cNvSpPr/>
          <p:nvPr/>
        </p:nvSpPr>
        <p:spPr>
          <a:xfrm>
            <a:off x="4480560" y="1828800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 bIns="164592" wrap="square"/>
          <a:lstStyle/>
          <a:p>
            <a:pPr algn="l" marL="0" indent="0">
              <a:spcAft>
                <a:spcPts val="800"/>
              </a:spcAft>
              <a:buNone/>
            </a:pPr>
            <a:r>
              <a:rPr sz="19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G2  Uncertainty does not decide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Point forecasts dominate; interval width and data quality rarely decide whether an advisory is issued.</a:t>
            </a:r>
          </a:p>
        </p:txBody>
      </p:sp>
      <p:sp>
        <p:nvSpPr>
          <p:cNvPr id="7" name="Gap 3"/>
          <p:cNvSpPr/>
          <p:nvPr/>
        </p:nvSpPr>
        <p:spPr>
          <a:xfrm>
            <a:off x="8503920" y="1828800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 bIns="164592" wrap="square"/>
          <a:lstStyle/>
          <a:p>
            <a:pPr algn="l" marL="0" indent="0">
              <a:spcAft>
                <a:spcPts val="800"/>
              </a:spcAft>
              <a:buNone/>
            </a:pPr>
            <a:r>
              <a:rPr sz="19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G3  Surrogate explanations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Explanations are often computed on simpler surrogate models instead of the deployed forecaster.</a:t>
            </a:r>
          </a:p>
        </p:txBody>
      </p:sp>
      <p:sp>
        <p:nvSpPr>
          <p:cNvPr id="8" name="Gap 4"/>
          <p:cNvSpPr/>
          <p:nvPr/>
        </p:nvSpPr>
        <p:spPr>
          <a:xfrm>
            <a:off x="457200" y="4251960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 bIns="164592" wrap="square"/>
          <a:lstStyle/>
          <a:p>
            <a:pPr algn="l" marL="0" indent="0">
              <a:spcAft>
                <a:spcPts val="800"/>
              </a:spcAft>
              <a:buNone/>
            </a:pPr>
            <a:r>
              <a:rPr sz="19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G4  Ungrounded LLM advice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LLM recommendations are rarely tied to cited, allow-listed evidence or bounded by deterministic safety rules.</a:t>
            </a:r>
          </a:p>
        </p:txBody>
      </p:sp>
      <p:sp>
        <p:nvSpPr>
          <p:cNvPr id="9" name="Gap 5"/>
          <p:cNvSpPr/>
          <p:nvPr/>
        </p:nvSpPr>
        <p:spPr>
          <a:xfrm>
            <a:off x="4480560" y="4251960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 bIns="164592" wrap="square"/>
          <a:lstStyle/>
          <a:p>
            <a:pPr algn="l" marL="0" indent="0">
              <a:spcAft>
                <a:spcPts val="800"/>
              </a:spcAft>
              <a:buNone/>
            </a:pPr>
            <a:r>
              <a:rPr sz="19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G5  Missing context is hidden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Dead sensors and unavailable feeds are usually imputed silently instead of being modelled with availability masks.</a:t>
            </a:r>
          </a:p>
        </p:txBody>
      </p:sp>
      <p:sp>
        <p:nvSpPr>
          <p:cNvPr id="10" name="Gap 6"/>
          <p:cNvSpPr/>
          <p:nvPr/>
        </p:nvSpPr>
        <p:spPr>
          <a:xfrm>
            <a:off x="8503920" y="4251960"/>
            <a:ext cx="3749039" cy="21945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 bIns="164592" wrap="square"/>
          <a:lstStyle/>
          <a:p>
            <a:pPr algn="l" marL="0" indent="0">
              <a:spcAft>
                <a:spcPts val="800"/>
              </a:spcAft>
              <a:buNone/>
            </a:pPr>
            <a:r>
              <a:rPr sz="19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G6  Untested testbeds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Simulation studies seldom audit route choice, demand and signal timing before comparing controllers.</a:t>
            </a:r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66A5-DEC6-423E-4642-6DAA4690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D02-AB68-99CB-182A-0A2671D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A4E0E-51B9-057E-EB16-03F09679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  <p:sp>
        <p:nvSpPr>
          <p:cNvPr id="5" name="Objective badge O1"/>
          <p:cNvSpPr/>
          <p:nvPr/>
        </p:nvSpPr>
        <p:spPr>
          <a:xfrm>
            <a:off x="457200" y="1965960"/>
            <a:ext cx="822960" cy="82296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O1</a:t>
            </a:r>
          </a:p>
        </p:txBody>
      </p:sp>
      <p:sp>
        <p:nvSpPr>
          <p:cNvPr id="6" name="Objective O1"/>
          <p:cNvSpPr txBox="1"/>
          <p:nvPr/>
        </p:nvSpPr>
        <p:spPr>
          <a:xfrm>
            <a:off x="1417320" y="1828800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Forecast link speeds 15, 30 and 60 min ahead with a context-gated GATv2–Transformer and compare it with six baselines on identical data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3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Addresses: G1, G5</a:t>
            </a:r>
          </a:p>
        </p:txBody>
      </p:sp>
      <p:sp>
        <p:nvSpPr>
          <p:cNvPr id="7" name="Objective badge O2"/>
          <p:cNvSpPr/>
          <p:nvPr/>
        </p:nvSpPr>
        <p:spPr>
          <a:xfrm>
            <a:off x="6492240" y="1965960"/>
            <a:ext cx="822960" cy="82296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O2</a:t>
            </a:r>
          </a:p>
        </p:txBody>
      </p:sp>
      <p:sp>
        <p:nvSpPr>
          <p:cNvPr id="8" name="Objective O2"/>
          <p:cNvSpPr txBox="1"/>
          <p:nvPr/>
        </p:nvSpPr>
        <p:spPr>
          <a:xfrm>
            <a:off x="7452360" y="1828800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Quantify uncertainty with per-horizon split-conformal intervals and defer advisories when reliability is low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3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Addresses: G2</a:t>
            </a:r>
          </a:p>
        </p:txBody>
      </p:sp>
      <p:sp>
        <p:nvSpPr>
          <p:cNvPr id="9" name="Objective badge O3"/>
          <p:cNvSpPr/>
          <p:nvPr/>
        </p:nvSpPr>
        <p:spPr>
          <a:xfrm>
            <a:off x="457200" y="3566160"/>
            <a:ext cx="822960" cy="82296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O3</a:t>
            </a:r>
          </a:p>
        </p:txBody>
      </p:sp>
      <p:sp>
        <p:nvSpPr>
          <p:cNvPr id="10" name="Objective O3"/>
          <p:cNvSpPr txBox="1"/>
          <p:nvPr/>
        </p:nvSpPr>
        <p:spPr>
          <a:xfrm>
            <a:off x="1417320" y="3429000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Explain the trained model itself with grouped SHAP and sensitivity tests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3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Addresses: G3</a:t>
            </a:r>
          </a:p>
        </p:txBody>
      </p:sp>
      <p:sp>
        <p:nvSpPr>
          <p:cNvPr id="11" name="Objective badge O4"/>
          <p:cNvSpPr/>
          <p:nvPr/>
        </p:nvSpPr>
        <p:spPr>
          <a:xfrm>
            <a:off x="6492240" y="3566160"/>
            <a:ext cx="822960" cy="82296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O4</a:t>
            </a:r>
          </a:p>
        </p:txBody>
      </p:sp>
      <p:sp>
        <p:nvSpPr>
          <p:cNvPr id="12" name="Objective O4"/>
          <p:cNvSpPr txBox="1"/>
          <p:nvPr/>
        </p:nvSpPr>
        <p:spPr>
          <a:xfrm>
            <a:off x="7452360" y="3429000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Draft advisories with a local LLM that must cite retrieved evidence and pass deterministic safety checks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3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Addresses: G4</a:t>
            </a:r>
          </a:p>
        </p:txBody>
      </p:sp>
      <p:sp>
        <p:nvSpPr>
          <p:cNvPr id="13" name="Objective badge O5"/>
          <p:cNvSpPr/>
          <p:nvPr/>
        </p:nvSpPr>
        <p:spPr>
          <a:xfrm>
            <a:off x="457200" y="5166360"/>
            <a:ext cx="822960" cy="82296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O5</a:t>
            </a:r>
          </a:p>
        </p:txBody>
      </p:sp>
      <p:sp>
        <p:nvSpPr>
          <p:cNvPr id="14" name="Objective O5"/>
          <p:cNvSpPr txBox="1"/>
          <p:nvPr/>
        </p:nvSpPr>
        <p:spPr>
          <a:xfrm>
            <a:off x="1417320" y="5029200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Test admissible advisories in a SUMO simulation, after verifying the testbed itself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3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Addresses: G6</a:t>
            </a:r>
          </a:p>
        </p:txBody>
      </p:sp>
      <p:sp>
        <p:nvSpPr>
          <p:cNvPr id="15" name="Objective badge O6"/>
          <p:cNvSpPr/>
          <p:nvPr/>
        </p:nvSpPr>
        <p:spPr>
          <a:xfrm>
            <a:off x="6492240" y="5166360"/>
            <a:ext cx="822960" cy="82296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O6</a:t>
            </a:r>
          </a:p>
        </p:txBody>
      </p:sp>
      <p:sp>
        <p:nvSpPr>
          <p:cNvPr id="16" name="Objective O6"/>
          <p:cNvSpPr txBox="1"/>
          <p:nvPr/>
        </p:nvSpPr>
        <p:spPr>
          <a:xfrm>
            <a:off x="7452360" y="5029200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Make every result reproducible and traceable: tests, MLflow, Docker, evidence registry and a paper generated from artifacts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3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Addresses: all</a:t>
            </a:r>
          </a:p>
        </p:txBody>
      </p:sp>
    </p:spTree>
    <p:extLst>
      <p:ext uri="{BB962C8B-B14F-4D97-AF65-F5344CB8AC3E}">
        <p14:creationId xmlns:p14="http://schemas.microsoft.com/office/powerpoint/2010/main" val="786986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RESEARCH WORK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83080"/>
            <a:ext cx="11521440" cy="3017520"/>
          </a:xfrm>
        </p:spPr>
        <p:txBody>
          <a:bodyPr wrap="square">
            <a:normAutofit/>
          </a:bodyPr>
          <a:lstStyle/>
          <a:p>
            <a:pPr algn="l" marL="274320" indent="-228600">
              <a:spcAft>
                <a:spcPts val="400"/>
              </a:spcAft>
              <a:buFont typeface="Arial"/>
              <a:buChar char="•"/>
            </a:pPr>
            <a:r>
              <a:rPr sz="2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The research work is organised in four parts:</a:t>
            </a:r>
          </a:p>
          <a:p>
            <a:pPr algn="l" marL="960120" indent="-384048">
              <a:spcAft>
                <a:spcPts val="400"/>
              </a:spcAft>
              <a:buFont typeface="Arial"/>
              <a:buChar char="❖"/>
            </a:pPr>
            <a:r>
              <a:rPr sz="22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MODULE IDENTIFICATION</a:t>
            </a:r>
          </a:p>
          <a:p>
            <a:pPr algn="l" marL="960120" indent="-384048">
              <a:spcAft>
                <a:spcPts val="400"/>
              </a:spcAft>
              <a:buFont typeface="Arial"/>
              <a:buChar char="❖"/>
            </a:pPr>
            <a:r>
              <a:rPr sz="22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SYSTEM ARCHITECTURE</a:t>
            </a:r>
          </a:p>
          <a:p>
            <a:pPr algn="l" marL="960120" indent="-384048">
              <a:spcAft>
                <a:spcPts val="400"/>
              </a:spcAft>
              <a:buFont typeface="Arial"/>
              <a:buChar char="❖"/>
            </a:pPr>
            <a:r>
              <a:rPr sz="22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DEVELOPMENT &amp; INTEGRATION</a:t>
            </a:r>
          </a:p>
          <a:p>
            <a:pPr algn="l" marL="960120" indent="-384048">
              <a:spcAft>
                <a:spcPts val="400"/>
              </a:spcAft>
              <a:buFont typeface="Arial"/>
              <a:buChar char="❖"/>
            </a:pPr>
            <a:r>
              <a:rPr sz="22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PROTOTYPE / RESEARCH 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  <p:sp>
        <p:nvSpPr>
          <p:cNvPr id="5" name="Stat 1"/>
          <p:cNvSpPr/>
          <p:nvPr/>
        </p:nvSpPr>
        <p:spPr>
          <a:xfrm>
            <a:off x="457200" y="4983480"/>
            <a:ext cx="2743200" cy="160020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34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1,968,303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raw speed records processed</a:t>
            </a:r>
          </a:p>
        </p:txBody>
      </p:sp>
      <p:sp>
        <p:nvSpPr>
          <p:cNvPr id="6" name="Stat 2"/>
          <p:cNvSpPr/>
          <p:nvPr/>
        </p:nvSpPr>
        <p:spPr>
          <a:xfrm>
            <a:off x="3474720" y="4983480"/>
            <a:ext cx="2743200" cy="160020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34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16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Manhattan links modelled</a:t>
            </a:r>
          </a:p>
        </p:txBody>
      </p:sp>
      <p:sp>
        <p:nvSpPr>
          <p:cNvPr id="7" name="Stat 3"/>
          <p:cNvSpPr/>
          <p:nvPr/>
        </p:nvSpPr>
        <p:spPr>
          <a:xfrm>
            <a:off x="6492240" y="4983480"/>
            <a:ext cx="2743200" cy="160020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34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7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forecasting models compared</a:t>
            </a:r>
          </a:p>
        </p:txBody>
      </p:sp>
      <p:sp>
        <p:nvSpPr>
          <p:cNvPr id="8" name="Stat 4"/>
          <p:cNvSpPr/>
          <p:nvPr/>
        </p:nvSpPr>
        <p:spPr>
          <a:xfrm>
            <a:off x="9509759" y="4983480"/>
            <a:ext cx="2743200" cy="160020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34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82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automated tests passing</a:t>
            </a:r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8DAA3-E6F2-B842-5B2C-24A7FD7C2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4116-6BAB-BDE0-8F36-5DA7BCF98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lvl="1" algn="ctr" font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MODULE IDENTIFICATION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5EFEC-6BF3-4447-1E0F-489E9855A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  <p:sp>
        <p:nvSpPr>
          <p:cNvPr id="5" name="Module 1"/>
          <p:cNvSpPr/>
          <p:nvPr/>
        </p:nvSpPr>
        <p:spPr>
          <a:xfrm>
            <a:off x="457200" y="1783080"/>
            <a:ext cx="2788920" cy="14630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M1  Data ingestion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NYC Open Data, Open-Meteo, OSM; resumable downloads with SHA-256 provenance</a:t>
            </a:r>
          </a:p>
        </p:txBody>
      </p:sp>
      <p:sp>
        <p:nvSpPr>
          <p:cNvPr id="6" name="Module 2"/>
          <p:cNvSpPr/>
          <p:nvPr/>
        </p:nvSpPr>
        <p:spPr>
          <a:xfrm>
            <a:off x="3474720" y="1783080"/>
            <a:ext cx="2788920" cy="14630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M2  Preprocessing &amp; features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5-minute grid, causal lags, availability masks, leakage-tested splits</a:t>
            </a:r>
          </a:p>
        </p:txBody>
      </p:sp>
      <p:sp>
        <p:nvSpPr>
          <p:cNvPr id="7" name="Module 3"/>
          <p:cNvSpPr/>
          <p:nvPr/>
        </p:nvSpPr>
        <p:spPr>
          <a:xfrm>
            <a:off x="6492240" y="1783080"/>
            <a:ext cx="2788920" cy="14630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M3  Road graph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Directed DOT-link graph (26 nodes, 16 edges) as a PyG Temporal signal [10]</a:t>
            </a:r>
          </a:p>
        </p:txBody>
      </p:sp>
      <p:sp>
        <p:nvSpPr>
          <p:cNvPr id="8" name="Module 4"/>
          <p:cNvSpPr/>
          <p:nvPr/>
        </p:nvSpPr>
        <p:spPr>
          <a:xfrm>
            <a:off x="9509759" y="1783080"/>
            <a:ext cx="2788920" cy="14630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M4  Forecasting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Context-gated GATv2–Transformer plus six baselines at 15/30/60 min</a:t>
            </a:r>
          </a:p>
        </p:txBody>
      </p:sp>
      <p:sp>
        <p:nvSpPr>
          <p:cNvPr id="9" name="Module 5"/>
          <p:cNvSpPr/>
          <p:nvPr/>
        </p:nvSpPr>
        <p:spPr>
          <a:xfrm>
            <a:off x="457200" y="3429000"/>
            <a:ext cx="2788920" cy="14630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M5  Uncertainty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Per-horizon split-conformal intervals and a reliability gate</a:t>
            </a:r>
          </a:p>
        </p:txBody>
      </p:sp>
      <p:sp>
        <p:nvSpPr>
          <p:cNvPr id="10" name="Module 6"/>
          <p:cNvSpPr/>
          <p:nvPr/>
        </p:nvSpPr>
        <p:spPr>
          <a:xfrm>
            <a:off x="3474720" y="3429000"/>
            <a:ext cx="2788920" cy="14630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M6  Explainability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Grouped KernelSHAP on the trained model; neighbour and window sensitivity</a:t>
            </a:r>
          </a:p>
        </p:txBody>
      </p:sp>
      <p:sp>
        <p:nvSpPr>
          <p:cNvPr id="11" name="Module 7"/>
          <p:cNvSpPr/>
          <p:nvPr/>
        </p:nvSpPr>
        <p:spPr>
          <a:xfrm>
            <a:off x="6492240" y="3429000"/>
            <a:ext cx="2788920" cy="14630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M7  Knowledge &amp; RAG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15 approved documents, MiniLM embeddings, FAISS index</a:t>
            </a:r>
          </a:p>
        </p:txBody>
      </p:sp>
      <p:sp>
        <p:nvSpPr>
          <p:cNvPr id="12" name="Module 8"/>
          <p:cNvSpPr/>
          <p:nvPr/>
        </p:nvSpPr>
        <p:spPr>
          <a:xfrm>
            <a:off x="9509759" y="3429000"/>
            <a:ext cx="2788920" cy="14630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M8  LLM agent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LangGraph workflow; local qwen2.5 7B via Ollama; schema-validated JSON</a:t>
            </a:r>
          </a:p>
        </p:txBody>
      </p:sp>
      <p:sp>
        <p:nvSpPr>
          <p:cNvPr id="13" name="Module 9"/>
          <p:cNvSpPr/>
          <p:nvPr/>
        </p:nvSpPr>
        <p:spPr>
          <a:xfrm>
            <a:off x="457200" y="5074920"/>
            <a:ext cx="2788920" cy="14630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M9  Safety constraints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13 deterministic checks; protected TraCI signal controller</a:t>
            </a:r>
          </a:p>
        </p:txBody>
      </p:sp>
      <p:sp>
        <p:nvSpPr>
          <p:cNvPr id="14" name="Module 10"/>
          <p:cNvSpPr/>
          <p:nvPr/>
        </p:nvSpPr>
        <p:spPr>
          <a:xfrm>
            <a:off x="3474720" y="5074920"/>
            <a:ext cx="2788920" cy="14630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M10  Simulation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SUMO 1.28 West Street corridor; matched seeds; testbed audit</a:t>
            </a:r>
          </a:p>
        </p:txBody>
      </p:sp>
      <p:sp>
        <p:nvSpPr>
          <p:cNvPr id="15" name="Module 11"/>
          <p:cNvSpPr/>
          <p:nvPr/>
        </p:nvSpPr>
        <p:spPr>
          <a:xfrm>
            <a:off x="6492240" y="5074920"/>
            <a:ext cx="2788920" cy="14630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M11  Services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FastAPI, PostgreSQL/PostGIS job queue, worker, Streamlit dashboard</a:t>
            </a:r>
          </a:p>
        </p:txBody>
      </p:sp>
      <p:sp>
        <p:nvSpPr>
          <p:cNvPr id="16" name="Module 12"/>
          <p:cNvSpPr/>
          <p:nvPr/>
        </p:nvSpPr>
        <p:spPr>
          <a:xfrm>
            <a:off x="9509759" y="5074920"/>
            <a:ext cx="2788920" cy="14630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l" marL="0" indent="0">
              <a:spcAft>
                <a:spcPts val="400"/>
              </a:spcAft>
              <a:buNone/>
            </a:pPr>
            <a:r>
              <a:rPr sz="17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M12  Tracking &amp; reporting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MLflow, evidence registry, claims ledger, paper tables from artifacts</a:t>
            </a:r>
          </a:p>
        </p:txBody>
      </p:sp>
    </p:spTree>
    <p:extLst>
      <p:ext uri="{BB962C8B-B14F-4D97-AF65-F5344CB8AC3E}">
        <p14:creationId xmlns:p14="http://schemas.microsoft.com/office/powerpoint/2010/main" val="2855362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  <p:sp>
        <p:nvSpPr>
          <p:cNvPr id="5" name="Arch stage 1"/>
          <p:cNvSpPr/>
          <p:nvPr/>
        </p:nvSpPr>
        <p:spPr>
          <a:xfrm>
            <a:off x="457200" y="1783080"/>
            <a:ext cx="2157984" cy="105156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Public data sources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(NYC DOT, ATR, 311, events, Open-Meteo, OSM)</a:t>
            </a:r>
          </a:p>
        </p:txBody>
      </p:sp>
      <p:sp>
        <p:nvSpPr>
          <p:cNvPr id="6" name="Arch stage 2"/>
          <p:cNvSpPr/>
          <p:nvPr/>
        </p:nvSpPr>
        <p:spPr>
          <a:xfrm>
            <a:off x="2889503" y="1783080"/>
            <a:ext cx="2157984" cy="105156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Ingestion &amp;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provenance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33472" y="2308860"/>
            <a:ext cx="237743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rch stage 3"/>
          <p:cNvSpPr/>
          <p:nvPr/>
        </p:nvSpPr>
        <p:spPr>
          <a:xfrm>
            <a:off x="5321807" y="1783080"/>
            <a:ext cx="2157984" cy="105156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Preprocessing &amp;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causal features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65775" y="2308860"/>
            <a:ext cx="237745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rch stage 4"/>
          <p:cNvSpPr/>
          <p:nvPr/>
        </p:nvSpPr>
        <p:spPr>
          <a:xfrm>
            <a:off x="7754111" y="1783080"/>
            <a:ext cx="2157984" cy="105156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Directed road graph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(PyG Temporal)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79" y="2308860"/>
            <a:ext cx="237744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rch stage 5"/>
          <p:cNvSpPr/>
          <p:nvPr/>
        </p:nvSpPr>
        <p:spPr>
          <a:xfrm>
            <a:off x="10186415" y="1783080"/>
            <a:ext cx="2157984" cy="105156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Forecasting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Times New Roman"/>
                <a:cs typeface="Times New Roman"/>
                <a:ea typeface="Times New Roman"/>
              </a:rPr>
              <a:t>(GATv2–Transformer)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30383" y="2308860"/>
            <a:ext cx="237745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dvisory stage 1"/>
          <p:cNvSpPr/>
          <p:nvPr/>
        </p:nvSpPr>
        <p:spPr>
          <a:xfrm>
            <a:off x="457200" y="3429000"/>
            <a:ext cx="1764792" cy="10515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Conformal intervals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&amp; reliability gate</a:t>
            </a:r>
          </a:p>
        </p:txBody>
      </p:sp>
      <p:sp>
        <p:nvSpPr>
          <p:cNvPr id="15" name="Advisory stage 2"/>
          <p:cNvSpPr/>
          <p:nvPr/>
        </p:nvSpPr>
        <p:spPr>
          <a:xfrm>
            <a:off x="2481681" y="3429000"/>
            <a:ext cx="1764792" cy="10515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SHAP explanation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&amp; FAISS retrieval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40280" y="3954780"/>
            <a:ext cx="223113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dvisory stage 3"/>
          <p:cNvSpPr/>
          <p:nvPr/>
        </p:nvSpPr>
        <p:spPr>
          <a:xfrm>
            <a:off x="4506163" y="3429000"/>
            <a:ext cx="1764792" cy="10515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LLM recommendation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(qwen2.5 7B)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64761" y="3954780"/>
            <a:ext cx="223114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Advisory stage 4"/>
          <p:cNvSpPr/>
          <p:nvPr/>
        </p:nvSpPr>
        <p:spPr>
          <a:xfrm>
            <a:off x="6530644" y="3429000"/>
            <a:ext cx="1764792" cy="10515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Deterministic safety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constraints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89243" y="3954780"/>
            <a:ext cx="223113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dvisory stage 5"/>
          <p:cNvSpPr/>
          <p:nvPr/>
        </p:nvSpPr>
        <p:spPr>
          <a:xfrm>
            <a:off x="8555126" y="3429000"/>
            <a:ext cx="1764792" cy="10515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SUMO / TraCI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simulation gate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13724" y="3954780"/>
            <a:ext cx="223114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dvisory stage 6"/>
          <p:cNvSpPr/>
          <p:nvPr/>
        </p:nvSpPr>
        <p:spPr>
          <a:xfrm>
            <a:off x="10579608" y="3429000"/>
            <a:ext cx="1764792" cy="10515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Human review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1200" b="0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(simulation only)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338206" y="3954780"/>
            <a:ext cx="223114" cy="0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265407" y="2843784"/>
            <a:ext cx="0" cy="283464"/>
          </a:xfrm>
          <a:prstGeom prst="line">
            <a:avLst/>
          </a:prstGeom>
          <a:ln w="22225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339595" y="3127248"/>
            <a:ext cx="9925812" cy="0"/>
          </a:xfrm>
          <a:prstGeom prst="line">
            <a:avLst/>
          </a:prstGeom>
          <a:ln w="22225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39595" y="3127248"/>
            <a:ext cx="0" cy="283464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ata flow"/>
          <p:cNvSpPr/>
          <p:nvPr/>
        </p:nvSpPr>
        <p:spPr>
          <a:xfrm>
            <a:off x="457200" y="4754880"/>
            <a:ext cx="5806440" cy="19202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37160" wrap="square"/>
          <a:lstStyle/>
          <a:p>
            <a:pPr algn="l" marL="0" indent="0">
              <a:spcAft>
                <a:spcPts val="400"/>
              </a:spcAft>
              <a:buNone/>
            </a:pPr>
            <a:r>
              <a:rPr sz="16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Data flow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Raw API responses stored verbatim with hashes → 5-minute grid per link → windows of 24 steps × nodes × features → forecasts with 90 % intervals → advisory state in LangGraph → decision and audit trail persisted in PostgreSQL/PostGIS; every run logged in MLflow.</a:t>
            </a:r>
          </a:p>
        </p:txBody>
      </p:sp>
      <p:sp>
        <p:nvSpPr>
          <p:cNvPr id="29" name="Technology stack"/>
          <p:cNvSpPr/>
          <p:nvPr/>
        </p:nvSpPr>
        <p:spPr>
          <a:xfrm>
            <a:off x="6537960" y="4754880"/>
            <a:ext cx="5806440" cy="19202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37160" wrap="square"/>
          <a:lstStyle/>
          <a:p>
            <a:pPr algn="l" marL="0" indent="0">
              <a:spcAft>
                <a:spcPts val="400"/>
              </a:spcAft>
              <a:buNone/>
            </a:pPr>
            <a:r>
              <a:rPr sz="16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Technology stack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Python 3.12 · Pandas/Polars · PyTorch + PyTorch Geometric + PyG Temporal · XGBoost/LightGBM · SHAP · sentence-transformers + FAISS · Ollama (qwen2.5:7b) · LangGraph · SUMO 1.28 / TraCI · FastAPI · Streamlit · PostgreSQL/PostGIS · MLflow · Docker Compose · Pytest</a:t>
            </a:r>
          </a:p>
        </p:txBody>
      </p:sp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4F7B-448F-5933-E4F5-9F6656AC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1540-D08A-936D-657B-2CA7AA0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&amp; INTEGRATION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9C87-894B-EA46-CE5B-2DDA46DB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  <p:sp>
        <p:nvSpPr>
          <p:cNvPr id="5" name="Implementation of modules"/>
          <p:cNvSpPr/>
          <p:nvPr/>
        </p:nvSpPr>
        <p:spPr>
          <a:xfrm>
            <a:off x="457200" y="1783080"/>
            <a:ext cx="3429000" cy="48920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/>
          <a:lstStyle/>
          <a:p>
            <a:pPr algn="l" marL="0" indent="0">
              <a:spcAft>
                <a:spcPts val="800"/>
              </a:spcAft>
              <a:buNone/>
            </a:pPr>
            <a:r>
              <a:rPr sz="18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Implementation of modules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One Python package with a staged command-line interface, YAML configuration and Pydantic contracts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Every stage writes artifacts with run IDs and SHA-256 hashes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The same code path runs the smoke tests and the full experiment</a:t>
            </a:r>
          </a:p>
        </p:txBody>
      </p:sp>
      <p:sp>
        <p:nvSpPr>
          <p:cNvPr id="6" name="Integration strategy"/>
          <p:cNvSpPr/>
          <p:nvPr/>
        </p:nvSpPr>
        <p:spPr>
          <a:xfrm>
            <a:off x="4114800" y="1783080"/>
            <a:ext cx="3429000" cy="48920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/>
          <a:lstStyle/>
          <a:p>
            <a:pPr algn="l" marL="0" indent="0">
              <a:spcAft>
                <a:spcPts val="800"/>
              </a:spcAft>
              <a:buNone/>
            </a:pPr>
            <a:r>
              <a:rPr sz="18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Integration strategy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Shared contracts frozen first: forecast, uncertainty, evidence, candidate action, decision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A stage runner executes the real-data pipeline in fixed order with a stage log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Only the recommendation node calls the LLM; every gate is deterministic code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82 automated tests: unit, leakage, safety, integration, end-to-end (CI run 65, 2026-10-21)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83080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18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Challenges faced → solutions</a:t>
            </a:r>
          </a:p>
        </p:txBody>
      </p:sp>
      <p:sp>
        <p:nvSpPr>
          <p:cNvPr id="8" name="Challenge 1"/>
          <p:cNvSpPr txBox="1"/>
          <p:nvPr/>
        </p:nvSpPr>
        <p:spPr>
          <a:xfrm>
            <a:off x="7772400" y="2240280"/>
            <a:ext cx="4572000" cy="676656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7 of 26 links report zero speed all year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400" b="0" i="0">
                <a:solidFill>
                  <a:srgbClr val="2E7D4F"/>
                </a:solidFill>
                <a:latin typeface="Times New Roman"/>
                <a:cs typeface="Times New Roman"/>
                <a:ea typeface="Times New Roman"/>
              </a:rPr>
              <a:t>→ treated as missing; 16 links kept by a train-coverage rule</a:t>
            </a:r>
          </a:p>
        </p:txBody>
      </p:sp>
      <p:sp>
        <p:nvSpPr>
          <p:cNvPr id="9" name="Challenge 2"/>
          <p:cNvSpPr txBox="1"/>
          <p:nvPr/>
        </p:nvSpPr>
        <p:spPr>
          <a:xfrm>
            <a:off x="7772400" y="2980944"/>
            <a:ext cx="4572000" cy="676656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DOT link geometries stop short of link ends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400" b="0" i="0">
                <a:solidFill>
                  <a:srgbClr val="2E7D4F"/>
                </a:solidFill>
                <a:latin typeface="Times New Roman"/>
                <a:cs typeface="Times New Roman"/>
                <a:ea typeface="Times New Roman"/>
              </a:rPr>
              <a:t>→ three documented graph-edge rules</a:t>
            </a:r>
          </a:p>
        </p:txBody>
      </p:sp>
      <p:sp>
        <p:nvSpPr>
          <p:cNvPr id="10" name="Challenge 3"/>
          <p:cNvSpPr txBox="1"/>
          <p:nvPr/>
        </p:nvSpPr>
        <p:spPr>
          <a:xfrm>
            <a:off x="7772400" y="3721608"/>
            <a:ext cx="4572000" cy="676656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GRU crash with cuDNN on Windows/CUDA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400" b="0" i="0">
                <a:solidFill>
                  <a:srgbClr val="2E7D4F"/>
                </a:solidFill>
                <a:latin typeface="Times New Roman"/>
                <a:cs typeface="Times New Roman"/>
                <a:ea typeface="Times New Roman"/>
              </a:rPr>
              <a:t>→ cuDNN disabled for GRU runs only</a:t>
            </a:r>
          </a:p>
        </p:txBody>
      </p:sp>
      <p:sp>
        <p:nvSpPr>
          <p:cNvPr id="11" name="Challenge 4"/>
          <p:cNvSpPr txBox="1"/>
          <p:nvPr/>
        </p:nvSpPr>
        <p:spPr>
          <a:xfrm>
            <a:off x="7772400" y="4462272"/>
            <a:ext cx="4572000" cy="676656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Bootstrap resampled 5-minute steps, not days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400" b="0" i="0">
                <a:solidFill>
                  <a:srgbClr val="2E7D4F"/>
                </a:solidFill>
                <a:latin typeface="Times New Roman"/>
                <a:cs typeface="Times New Roman"/>
                <a:ea typeface="Times New Roman"/>
              </a:rPr>
              <a:t>→ unit fixed and ablations re-run</a:t>
            </a:r>
          </a:p>
        </p:txBody>
      </p:sp>
      <p:sp>
        <p:nvSpPr>
          <p:cNvPr id="12" name="Challenge 5"/>
          <p:cNvSpPr txBox="1"/>
          <p:nvPr/>
        </p:nvSpPr>
        <p:spPr>
          <a:xfrm>
            <a:off x="7772400" y="5202936"/>
            <a:ext cx="4572000" cy="676656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A missing field silently blocked every LLM call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400" b="0" i="0">
                <a:solidFill>
                  <a:srgbClr val="2E7D4F"/>
                </a:solidFill>
                <a:latin typeface="Times New Roman"/>
                <a:cs typeface="Times New Roman"/>
                <a:ea typeface="Times New Roman"/>
              </a:rPr>
              <a:t>→ fixed and agent evaluation re-run</a:t>
            </a:r>
          </a:p>
        </p:txBody>
      </p:sp>
      <p:sp>
        <p:nvSpPr>
          <p:cNvPr id="13" name="Challenge 6"/>
          <p:cNvSpPr txBox="1"/>
          <p:nvPr/>
        </p:nvSpPr>
        <p:spPr>
          <a:xfrm>
            <a:off x="7772400" y="5943600"/>
            <a:ext cx="4572000" cy="676656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SUMO re-routed half the corridor traffic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1400" b="0" i="0">
                <a:solidFill>
                  <a:srgbClr val="2E7D4F"/>
                </a:solidFill>
                <a:latin typeface="Times New Roman"/>
                <a:cs typeface="Times New Roman"/>
                <a:ea typeface="Times New Roman"/>
              </a:rPr>
              <a:t>→ fixed routes and a testbed audit</a:t>
            </a:r>
          </a:p>
        </p:txBody>
      </p:sp>
    </p:spTree>
    <p:extLst>
      <p:ext uri="{BB962C8B-B14F-4D97-AF65-F5344CB8AC3E}">
        <p14:creationId xmlns:p14="http://schemas.microsoft.com/office/powerpoint/2010/main" val="3369243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F5EA-D62B-1983-B948-F514CA25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38A4-31C7-3BA3-41EC-856FFC3F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/ RESEARCH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CD9C-F660-95CA-73DE-982F8EE86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783080"/>
            <a:ext cx="6309360" cy="4892040"/>
          </a:xfrm>
        </p:spPr>
        <p:txBody>
          <a:bodyPr wrap="square">
            <a:normAutofit/>
          </a:bodyPr>
          <a:lstStyle/>
          <a:p>
            <a:pPr algn="l" marL="274320" indent="-228600">
              <a:spcAft>
                <a:spcPts val="900"/>
              </a:spcAft>
              <a:buFont typeface="Arial"/>
              <a:buChar char="•"/>
            </a:pPr>
            <a:r>
              <a:rPr sz="1700" b="1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Command-line pipeline: </a:t>
            </a:r>
            <a:r>
              <a:rPr sz="17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one command per stage, from data audit to paper tables</a:t>
            </a:r>
          </a:p>
          <a:p>
            <a:pPr algn="l" marL="274320" indent="-228600">
              <a:spcAft>
                <a:spcPts val="900"/>
              </a:spcAft>
              <a:buFont typeface="Arial"/>
              <a:buChar char="•"/>
            </a:pPr>
            <a:r>
              <a:rPr sz="1700" b="1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FastAPI service: </a:t>
            </a:r>
            <a:r>
              <a:rPr sz="17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18 endpoints for forecasts, explanations, retrieval, advisories, simulations and review; long jobs run in a PostgreSQL-backed worker</a:t>
            </a:r>
          </a:p>
          <a:p>
            <a:pPr algn="l" marL="274320" indent="-228600">
              <a:spcAft>
                <a:spcPts val="900"/>
              </a:spcAft>
              <a:buFont typeface="Arial"/>
              <a:buChar char="•"/>
            </a:pPr>
            <a:r>
              <a:rPr sz="1700" b="1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Streamlit dashboard: </a:t>
            </a:r>
            <a:r>
              <a:rPr sz="17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11 pages, from data audit and traffic map to forecasts, explanations, agent traces, SUMO results and the model card</a:t>
            </a:r>
          </a:p>
          <a:p>
            <a:pPr algn="l" marL="274320" indent="-228600">
              <a:spcAft>
                <a:spcPts val="900"/>
              </a:spcAft>
              <a:buFont typeface="Arial"/>
              <a:buChar char="•"/>
            </a:pPr>
            <a:r>
              <a:rPr sz="1700" b="1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Every view labels its mode: </a:t>
            </a:r>
            <a:r>
              <a:rPr sz="17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LIVE, REPLAY or SIMULATION</a:t>
            </a:r>
          </a:p>
          <a:p>
            <a:pPr algn="l" marL="274320" indent="-228600">
              <a:spcAft>
                <a:spcPts val="900"/>
              </a:spcAft>
              <a:buFont typeface="Arial"/>
              <a:buChar char="•"/>
            </a:pPr>
            <a:r>
              <a:rPr sz="1700" b="1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Docker Compose: </a:t>
            </a:r>
            <a:r>
              <a:rPr sz="17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PostGIS, API, worker and dashboard images, built and smoke-tested</a:t>
            </a:r>
          </a:p>
          <a:p>
            <a:pPr algn="l" marL="274320" indent="-228600">
              <a:spcAft>
                <a:spcPts val="900"/>
              </a:spcAft>
              <a:buFont typeface="Arial"/>
              <a:buChar char="•"/>
            </a:pPr>
            <a:r>
              <a:rPr sz="1700" b="1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Human review </a:t>
            </a:r>
            <a:r>
              <a:rPr sz="17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approves or rejects for simulation only; nothing is sent to real signals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3B01-BF0B-D797-AC89-252288DA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086600" y="1737360"/>
            <a:ext cx="5303520" cy="3200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15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Advisory workflow (LangGraph)</a:t>
            </a:r>
          </a:p>
        </p:txBody>
      </p:sp>
      <p:sp>
        <p:nvSpPr>
          <p:cNvPr id="6" name="Workflow step 1"/>
          <p:cNvSpPr/>
          <p:nvPr/>
        </p:nvSpPr>
        <p:spPr>
          <a:xfrm>
            <a:off x="7086600" y="2103120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1  Data quality check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81060" y="2551176"/>
            <a:ext cx="0" cy="109727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893808" y="2322576"/>
            <a:ext cx="301752" cy="0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222992" y="2139696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1100" b="1" i="0">
                <a:solidFill>
                  <a:srgbClr val="B26B00"/>
                </a:solidFill>
                <a:latin typeface="Arial"/>
                <a:cs typeface="Arial"/>
                <a:ea typeface="Arial"/>
              </a:rPr>
              <a:t>DEFER_DATA</a:t>
            </a:r>
          </a:p>
        </p:txBody>
      </p:sp>
      <p:sp>
        <p:nvSpPr>
          <p:cNvPr id="10" name="Workflow step 2"/>
          <p:cNvSpPr/>
          <p:nvPr/>
        </p:nvSpPr>
        <p:spPr>
          <a:xfrm>
            <a:off x="7086600" y="2670048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2  Forecast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81060" y="3118104"/>
            <a:ext cx="0" cy="109728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Workflow step 3"/>
          <p:cNvSpPr/>
          <p:nvPr/>
        </p:nvSpPr>
        <p:spPr>
          <a:xfrm>
            <a:off x="7086600" y="3236976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3  Uncertainty gate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81060" y="3685032"/>
            <a:ext cx="0" cy="109728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93808" y="3456432"/>
            <a:ext cx="301752" cy="0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222992" y="3273552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1100" b="1" i="0">
                <a:solidFill>
                  <a:srgbClr val="B26B00"/>
                </a:solidFill>
                <a:latin typeface="Arial"/>
                <a:cs typeface="Arial"/>
                <a:ea typeface="Arial"/>
              </a:rPr>
              <a:t>DEFER_UNCERTAINTY</a:t>
            </a:r>
          </a:p>
        </p:txBody>
      </p:sp>
      <p:sp>
        <p:nvSpPr>
          <p:cNvPr id="16" name="Workflow step 4"/>
          <p:cNvSpPr/>
          <p:nvPr/>
        </p:nvSpPr>
        <p:spPr>
          <a:xfrm>
            <a:off x="7086600" y="3803904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4  SHAP + evidence retrieval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81060" y="4251960"/>
            <a:ext cx="0" cy="109728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93808" y="4023360"/>
            <a:ext cx="301752" cy="0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22992" y="384048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1100" b="1" i="0">
                <a:solidFill>
                  <a:srgbClr val="B26B00"/>
                </a:solidFill>
                <a:latin typeface="Arial"/>
                <a:cs typeface="Arial"/>
                <a:ea typeface="Arial"/>
              </a:rPr>
              <a:t>DEFER_EVIDENCE</a:t>
            </a:r>
          </a:p>
        </p:txBody>
      </p:sp>
      <p:sp>
        <p:nvSpPr>
          <p:cNvPr id="20" name="Workflow step 5"/>
          <p:cNvSpPr/>
          <p:nvPr/>
        </p:nvSpPr>
        <p:spPr>
          <a:xfrm>
            <a:off x="7086600" y="4370831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5  LLM candidate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81060" y="4818888"/>
            <a:ext cx="0" cy="109728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893808" y="4590288"/>
            <a:ext cx="301752" cy="0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222992" y="4407407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1100" b="1" i="0">
                <a:solidFill>
                  <a:srgbClr val="B02A22"/>
                </a:solidFill>
                <a:latin typeface="Arial"/>
                <a:cs typeface="Arial"/>
                <a:ea typeface="Arial"/>
              </a:rPr>
              <a:t>REJECT_SCHEMA</a:t>
            </a:r>
          </a:p>
        </p:txBody>
      </p:sp>
      <p:sp>
        <p:nvSpPr>
          <p:cNvPr id="24" name="Workflow step 6"/>
          <p:cNvSpPr/>
          <p:nvPr/>
        </p:nvSpPr>
        <p:spPr>
          <a:xfrm>
            <a:off x="7086600" y="4937760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6  Safety constraints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81060" y="5385816"/>
            <a:ext cx="0" cy="109728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93808" y="5157216"/>
            <a:ext cx="301752" cy="0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222992" y="4974336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1100" b="1" i="0">
                <a:solidFill>
                  <a:srgbClr val="B02A22"/>
                </a:solidFill>
                <a:latin typeface="Arial"/>
                <a:cs typeface="Arial"/>
                <a:ea typeface="Arial"/>
              </a:rPr>
              <a:t>REJECT_CONSTRAINT</a:t>
            </a:r>
          </a:p>
        </p:txBody>
      </p:sp>
      <p:sp>
        <p:nvSpPr>
          <p:cNvPr id="28" name="Workflow step 7"/>
          <p:cNvSpPr/>
          <p:nvPr/>
        </p:nvSpPr>
        <p:spPr>
          <a:xfrm>
            <a:off x="7086600" y="5504688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7  SUMO simulation gate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81060" y="5952744"/>
            <a:ext cx="0" cy="109728"/>
          </a:xfrm>
          <a:prstGeom prst="line">
            <a:avLst/>
          </a:prstGeom>
          <a:ln w="22225">
            <a:solidFill>
              <a:srgbClr val="1F49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893808" y="5724144"/>
            <a:ext cx="301752" cy="0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222992" y="5541264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1100" b="1" i="0">
                <a:solidFill>
                  <a:srgbClr val="B02A22"/>
                </a:solidFill>
                <a:latin typeface="Arial"/>
                <a:cs typeface="Arial"/>
                <a:ea typeface="Arial"/>
              </a:rPr>
              <a:t>REJECT_SIMULATION</a:t>
            </a:r>
          </a:p>
        </p:txBody>
      </p:sp>
      <p:sp>
        <p:nvSpPr>
          <p:cNvPr id="32" name="Workflow step 8"/>
          <p:cNvSpPr/>
          <p:nvPr/>
        </p:nvSpPr>
        <p:spPr>
          <a:xfrm>
            <a:off x="7086600" y="6071616"/>
            <a:ext cx="2788920" cy="438912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8  Human review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93808" y="6291072"/>
            <a:ext cx="301752" cy="0"/>
          </a:xfrm>
          <a:prstGeom prst="line">
            <a:avLst/>
          </a:prstGeom>
          <a:ln w="22225">
            <a:solidFill>
              <a:srgbClr val="555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222992" y="6108192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1100" b="1" i="0">
                <a:solidFill>
                  <a:srgbClr val="2E7D4F"/>
                </a:solidFill>
                <a:latin typeface="Arial"/>
                <a:cs typeface="Arial"/>
                <a:ea typeface="Arial"/>
              </a:rPr>
              <a:t>PENDING_HUMAN_REVIEW</a:t>
            </a:r>
          </a:p>
        </p:txBody>
      </p:sp>
    </p:spTree>
    <p:extLst>
      <p:ext uri="{BB962C8B-B14F-4D97-AF65-F5344CB8AC3E}">
        <p14:creationId xmlns:p14="http://schemas.microsoft.com/office/powerpoint/2010/main" val="1145004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C8D-B43E-DA7C-E00A-0FC4EA18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6AA-E1C2-EA6C-246E-CC1479CD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B0C0-AF3E-C46D-0A00-DD8E18E7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943600" cy="3657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16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Performance metrics (test period 6 Sep – 20 Oct 2026)</a:t>
            </a:r>
          </a:p>
        </p:txBody>
      </p:sp>
      <p:graphicFrame>
        <p:nvGraphicFramePr>
          <p:cNvPr id="6" name="Performance metrics"/>
          <p:cNvGraphicFramePr>
            <a:graphicFrameLocks noGrp="1"/>
          </p:cNvGraphicFramePr>
          <p:nvPr/>
        </p:nvGraphicFramePr>
        <p:xfrm>
          <a:off x="457200" y="2148840"/>
          <a:ext cx="5943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914400"/>
                <a:gridCol w="914400"/>
                <a:gridCol w="914400"/>
              </a:tblGrid>
              <a:tr h="431074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Metric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15 min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30 min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60 min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Proposed model MAE (mph)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4.77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5.33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1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6.15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Proposed, mean of 3 seeds (mph)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4.69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5.34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6.15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Persistence MAE (mph)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5.14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6.06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7.29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90 % interval 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0.909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0.907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0.903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Coverage under congestion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0.798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0.794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0.757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</a:tr>
              <a:tr h="431076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MAE kept after gate (≈26 % deferred)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3.72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4.38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marL="0" indent="0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5.25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349240"/>
            <a:ext cx="5943600" cy="1325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300"/>
              </a:spcAft>
              <a:buNone/>
            </a:pPr>
            <a:r>
              <a:rPr sz="16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Validation of approach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Chronological splits with purge gaps and leakage tests; identical targets and masks for every model; day-block bootstrap for ablations; a preregistered simulation baseline test; failed runs kept and reported.</a:t>
            </a:r>
          </a:p>
        </p:txBody>
      </p:sp>
      <p:sp>
        <p:nvSpPr>
          <p:cNvPr id="8" name="Observations"/>
          <p:cNvSpPr/>
          <p:nvPr/>
        </p:nvSpPr>
        <p:spPr>
          <a:xfrm>
            <a:off x="6766560" y="173736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 bIns="164592" wrap="square"/>
          <a:lstStyle/>
          <a:p>
            <a:pPr algn="l" marL="0" indent="0">
              <a:spcAft>
                <a:spcPts val="900"/>
              </a:spcAft>
              <a:buNone/>
            </a:pPr>
            <a:r>
              <a:rPr sz="18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Observations</a:t>
            </a:r>
          </a:p>
          <a:p>
            <a:pPr algn="l" marL="274320" indent="-228600">
              <a:spcAft>
                <a:spcPts val="9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The proposed model beats persistence by 7–16 % and both tree models. Over three seeds it is 0.03–0.08 mph below the temporal Transformer at every horizon and the GRU at 30/60 min; the GRU is better at 15 min. Small, not decisive.</a:t>
            </a:r>
          </a:p>
          <a:p>
            <a:pPr algn="l" marL="274320" indent="-228600">
              <a:spcAft>
                <a:spcPts val="9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The availability-aware gate helps (MAE +0.067 mph when removed); operational weather features hurt (−0.046 mph), a negative result.</a:t>
            </a:r>
          </a:p>
          <a:p>
            <a:pPr algn="l" marL="274320" indent="-228600">
              <a:spcAft>
                <a:spcPts val="9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Intervals meet 90 % overall but under-cover congestion, the regime that matters for advisories.</a:t>
            </a:r>
          </a:p>
          <a:p>
            <a:pPr algn="l" marL="274320" indent="-228600">
              <a:spcAft>
                <a:spcPts val="9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Retrieval removed fabricated citations (3 of 3 without it, 0 of 9 with it); the constraint layer, not the LLM, decides admissibility.</a:t>
            </a:r>
          </a:p>
          <a:p>
            <a:pPr algn="l" marL="274320" indent="-228600">
              <a:spcAft>
                <a:spcPts val="9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The simulation testbed fails its own baseline test, so the controller comparison is not run.</a:t>
            </a:r>
          </a:p>
        </p:txBody>
      </p:sp>
    </p:spTree>
    <p:extLst>
      <p:ext uri="{BB962C8B-B14F-4D97-AF65-F5344CB8AC3E}">
        <p14:creationId xmlns:p14="http://schemas.microsoft.com/office/powerpoint/2010/main" val="1375399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5" name="MAE by model"/>
          <p:cNvGraphicFramePr>
            <a:graphicFrameLocks noGrp="1"/>
          </p:cNvGraphicFramePr>
          <p:nvPr/>
        </p:nvGraphicFramePr>
        <p:xfrm>
          <a:off x="365760" y="1691640"/>
          <a:ext cx="786384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Forecast results"/>
          <p:cNvSpPr/>
          <p:nvPr/>
        </p:nvSpPr>
        <p:spPr>
          <a:xfrm>
            <a:off x="8503920" y="1783080"/>
            <a:ext cx="3840480" cy="489204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 bIns="164592" wrap="square"/>
          <a:lstStyle/>
          <a:p>
            <a:pPr algn="l" marL="0" indent="0">
              <a:spcAft>
                <a:spcPts val="900"/>
              </a:spcAft>
              <a:buNone/>
            </a:pPr>
            <a:r>
              <a:rPr sz="18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Key results</a:t>
            </a:r>
          </a:p>
          <a:p>
            <a:pPr algn="l" marL="274320" indent="-228600">
              <a:spcAft>
                <a:spcPts val="9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Every learned model beats persistence and the historical average.</a:t>
            </a:r>
          </a:p>
          <a:p>
            <a:pPr algn="l" marL="274320" indent="-228600">
              <a:spcAft>
                <a:spcPts val="9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Proposed model: 4.77 / 5.33 / 6.15 mph; lowest at 30 and 60 min, GRU lowest at 15 min.</a:t>
            </a:r>
          </a:p>
          <a:p>
            <a:pPr algn="l" marL="274320" indent="-228600">
              <a:spcAft>
                <a:spcPts val="9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R² rises from 0.55 / 0.46 / 0.30 (persistence) to 0.69 / 0.63 / 0.56.</a:t>
            </a:r>
          </a:p>
          <a:p>
            <a:pPr algn="l" marL="274320" indent="-228600">
              <a:spcAft>
                <a:spcPts val="9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144,205–144,217 test targets per horizon, identical for every model.</a:t>
            </a:r>
          </a:p>
          <a:p>
            <a:pPr algn="l" marL="0" indent="0">
              <a:spcAft>
                <a:spcPts val="900"/>
              </a:spcAft>
              <a:buNone/>
            </a:pPr>
            <a:r>
              <a:rPr sz="1300" b="0" i="0">
                <a:solidFill>
                  <a:srgbClr val="555F6B"/>
                </a:solidFill>
                <a:latin typeface="Times New Roman"/>
                <a:cs typeface="Times New Roman"/>
                <a:ea typeface="Times New Roman"/>
              </a:rPr>
              <a:t>Data: NYC DOT speeds [11], 1 Jan – 20 Oct 2026.</a:t>
            </a:r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 (CONTD.)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5" name="Advisory outcomes"/>
          <p:cNvGraphicFramePr>
            <a:graphicFrameLocks noGrp="1"/>
          </p:cNvGraphicFramePr>
          <p:nvPr/>
        </p:nvGraphicFramePr>
        <p:xfrm>
          <a:off x="365760" y="1691640"/>
          <a:ext cx="58521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5760720" cy="118872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12 of 12 LLM responses were schema-valid. Without retrieval the model cited non-existent evidence in 3 of 3 cases (all rejected); with retrieval in 0 of 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1600" b="1" i="0">
                <a:solidFill>
                  <a:srgbClr val="1F497D"/>
                </a:solidFill>
                <a:latin typeface="Times New Roman"/>
                <a:cs typeface="Times New Roman"/>
                <a:ea typeface="Times New Roman"/>
              </a:rPr>
              <a:t>SUMO testbed outcome (simulation only)</a:t>
            </a:r>
          </a:p>
        </p:txBody>
      </p:sp>
      <p:graphicFrame>
        <p:nvGraphicFramePr>
          <p:cNvPr id="8" name="Simulation protocols"/>
          <p:cNvGraphicFramePr>
            <a:graphicFrameLocks noGrp="1"/>
          </p:cNvGraphicFramePr>
          <p:nvPr/>
        </p:nvGraphicFramePr>
        <p:xfrm>
          <a:off x="6583680" y="2148840"/>
          <a:ext cx="57607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188720"/>
                <a:gridCol w="1280160"/>
              </a:tblGrid>
              <a:tr h="448056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Protocol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Unfinished*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Result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First comparison, 20 Oct (45 runs)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B02A22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Withdrawn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2014 count, generated signal timing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17.7 %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B02A22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Fails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2014 count, Webster re-timed signals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4.3 %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B02A22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Fails test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2025 counts, Webster, no turn-lane limits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10.1 %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B02A22"/>
                          </a:solidFill>
                          <a:latin typeface="Times New Roman"/>
                          <a:cs typeface="Times New Roman"/>
                          <a:ea typeface="Times New Roman"/>
                        </a:rPr>
                        <a:t>Fails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0" y="4480560"/>
            <a:ext cx="5760720" cy="224028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500"/>
              </a:spcAft>
              <a:buNone/>
            </a:pPr>
            <a:r>
              <a:rPr sz="1200" b="0" i="0">
                <a:solidFill>
                  <a:srgbClr val="555F6B"/>
                </a:solidFill>
                <a:latin typeface="Times New Roman"/>
                <a:cs typeface="Times New Roman"/>
                <a:ea typeface="Times New Roman"/>
              </a:rPr>
              <a:t>* Vehicles not finishing with no side-street traffic; the preregistered test allows at most 1 % and no stuck vehicles.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The first comparison let SUMO re-route 1,120 of 2,189 main-road vehicles off West Street, so it did not test the corridor.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With real 2025 counts (2,510 NB / 2,444 SB veh/h) the modelled link runs at 5.8 mph; the real street runs at 10.95 mph in the PM peak.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The test was not relaxed: the comparison is reported as not run, and 10.95 mph is now the calibration target.</a:t>
            </a:r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OUTCOME: WORKING DASHBOARD (1/4)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715000" cy="329184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 marL="0" indent="0"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Overview &amp; status</a:t>
            </a:r>
            <a:r>
              <a:rPr sz="12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   (status page, no mode label)</a:t>
            </a:r>
          </a:p>
        </p:txBody>
      </p:sp>
      <p:pic>
        <p:nvPicPr>
          <p:cNvPr id="6" name="Dashboard: Overview &amp; status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84248"/>
            <a:ext cx="5715000" cy="4366516"/>
          </a:xfrm>
          <a:prstGeom prst="rect">
            <a:avLst/>
          </a:prstGeom>
          <a:ln w="12700">
            <a:solidFill>
              <a:srgbClr val="C9D3E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0" y="1600200"/>
            <a:ext cx="5715000" cy="329184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 marL="0" indent="0"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Data audit &amp; provenance</a:t>
            </a:r>
            <a:r>
              <a:rPr sz="12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   Mode shown: </a:t>
            </a:r>
            <a:r>
              <a:rPr sz="1200" b="1" i="0">
                <a:solidFill>
                  <a:srgbClr val="C25E00"/>
                </a:solidFill>
                <a:latin typeface="Arial"/>
                <a:cs typeface="Arial"/>
                <a:ea typeface="Arial"/>
              </a:rPr>
              <a:t>REPLAY</a:t>
            </a:r>
          </a:p>
        </p:txBody>
      </p:sp>
      <p:pic>
        <p:nvPicPr>
          <p:cNvPr id="8" name="Dashboard: Data audit &amp; provenance" descr="data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984248"/>
            <a:ext cx="5715000" cy="4366516"/>
          </a:xfrm>
          <a:prstGeom prst="rect">
            <a:avLst/>
          </a:prstGeom>
          <a:ln w="12700">
            <a:solidFill>
              <a:srgbClr val="C9D3E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23916"/>
            <a:ext cx="1179576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11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Screenshots of the project's Streamlit dashboard (src/smartcity/dashboard/app.py) captured on 21 Oct 2026; every number on them is read from committed result files. Live NYC feeds were not reachable from the capture machine, so no LIVE view is shown.</a:t>
            </a:r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OUTCOME: WORKING DASHBOARD (2/4)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715000" cy="329184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 marL="0" indent="0"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Experiment results</a:t>
            </a:r>
            <a:r>
              <a:rPr sz="12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   Mode shown: </a:t>
            </a:r>
            <a:r>
              <a:rPr sz="1200" b="1" i="0">
                <a:solidFill>
                  <a:srgbClr val="C25E00"/>
                </a:solidFill>
                <a:latin typeface="Arial"/>
                <a:cs typeface="Arial"/>
                <a:ea typeface="Arial"/>
              </a:rPr>
              <a:t>REPLAY</a:t>
            </a:r>
          </a:p>
        </p:txBody>
      </p:sp>
      <p:pic>
        <p:nvPicPr>
          <p:cNvPr id="6" name="Dashboard: Experiment results" descr="experi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84248"/>
            <a:ext cx="5715000" cy="4366516"/>
          </a:xfrm>
          <a:prstGeom prst="rect">
            <a:avLst/>
          </a:prstGeom>
          <a:ln w="12700">
            <a:solidFill>
              <a:srgbClr val="C9D3E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0" y="1600200"/>
            <a:ext cx="5715000" cy="329184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 marL="0" indent="0"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Uncertainty &amp; reliability</a:t>
            </a:r>
            <a:r>
              <a:rPr sz="12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   Mode shown: </a:t>
            </a:r>
            <a:r>
              <a:rPr sz="1200" b="1" i="0">
                <a:solidFill>
                  <a:srgbClr val="C25E00"/>
                </a:solidFill>
                <a:latin typeface="Arial"/>
                <a:cs typeface="Arial"/>
                <a:ea typeface="Arial"/>
              </a:rPr>
              <a:t>REPLAY</a:t>
            </a:r>
          </a:p>
        </p:txBody>
      </p:sp>
      <p:pic>
        <p:nvPicPr>
          <p:cNvPr id="8" name="Dashboard: Uncertainty &amp; reliability" descr="uncertain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984248"/>
            <a:ext cx="5715000" cy="4366516"/>
          </a:xfrm>
          <a:prstGeom prst="rect">
            <a:avLst/>
          </a:prstGeom>
          <a:ln w="12700">
            <a:solidFill>
              <a:srgbClr val="C9D3E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23916"/>
            <a:ext cx="1179576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11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Screenshots of the project's Streamlit dashboard (src/smartcity/dashboard/app.py) captured on 21 Oct 2026; every number on them is read from committed result files. Live NYC feeds were not reachable from the capture machine, so no LIVE view is shown.</a:t>
            </a:r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OUTCOME: WORKING DASHBOARD (3/4)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715000" cy="329184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 marL="0" indent="0"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Explainability (proposed model)</a:t>
            </a:r>
            <a:r>
              <a:rPr sz="12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   Mode shown: </a:t>
            </a:r>
            <a:r>
              <a:rPr sz="1200" b="1" i="0">
                <a:solidFill>
                  <a:srgbClr val="C25E00"/>
                </a:solidFill>
                <a:latin typeface="Arial"/>
                <a:cs typeface="Arial"/>
                <a:ea typeface="Arial"/>
              </a:rPr>
              <a:t>REPLAY</a:t>
            </a:r>
          </a:p>
        </p:txBody>
      </p:sp>
      <p:pic>
        <p:nvPicPr>
          <p:cNvPr id="6" name="Dashboard: Explainability (proposed model)" descr="expl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84248"/>
            <a:ext cx="5715000" cy="4366516"/>
          </a:xfrm>
          <a:prstGeom prst="rect">
            <a:avLst/>
          </a:prstGeom>
          <a:ln w="12700">
            <a:solidFill>
              <a:srgbClr val="C9D3E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0" y="1600200"/>
            <a:ext cx="5715000" cy="329184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 marL="0" indent="0"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Agent trace &amp; advisory</a:t>
            </a:r>
            <a:r>
              <a:rPr sz="12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   Mode shown: </a:t>
            </a:r>
            <a:r>
              <a:rPr sz="1200" b="1" i="0">
                <a:solidFill>
                  <a:srgbClr val="C25E00"/>
                </a:solidFill>
                <a:latin typeface="Arial"/>
                <a:cs typeface="Arial"/>
                <a:ea typeface="Arial"/>
              </a:rPr>
              <a:t>REPLAY</a:t>
            </a:r>
          </a:p>
        </p:txBody>
      </p:sp>
      <p:pic>
        <p:nvPicPr>
          <p:cNvPr id="8" name="Dashboard: Agent trace &amp; advisory" descr="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984248"/>
            <a:ext cx="5715000" cy="4366516"/>
          </a:xfrm>
          <a:prstGeom prst="rect">
            <a:avLst/>
          </a:prstGeom>
          <a:ln w="12700">
            <a:solidFill>
              <a:srgbClr val="C9D3E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23916"/>
            <a:ext cx="1179576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11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Screenshots of the project's Streamlit dashboard (src/smartcity/dashboard/app.py) captured on 21 Oct 2026; every number on them is read from committed result files. Live NYC feeds were not reachable from the capture machine, so no LIVE view is shown.</a:t>
            </a:r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OUTCOME: WORKING DASHBOARD (4/4)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715000" cy="329184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 marL="0" indent="0">
              <a:spcAft>
                <a:spcPts val="0"/>
              </a:spcAft>
              <a:buNone/>
            </a:pPr>
            <a:r>
              <a:rPr sz="14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SUMO comparisons</a:t>
            </a:r>
            <a:r>
              <a:rPr sz="12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   Mode shown: </a:t>
            </a:r>
            <a:r>
              <a:rPr sz="1200" b="1" i="0">
                <a:solidFill>
                  <a:srgbClr val="6A3FA0"/>
                </a:solidFill>
                <a:latin typeface="Arial"/>
                <a:cs typeface="Arial"/>
                <a:ea typeface="Arial"/>
              </a:rPr>
              <a:t>SIMULATION</a:t>
            </a:r>
          </a:p>
        </p:txBody>
      </p:sp>
      <p:pic>
        <p:nvPicPr>
          <p:cNvPr id="6" name="Dashboard: SUMO comparisons" descr="su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84248"/>
            <a:ext cx="5715000" cy="4366516"/>
          </a:xfrm>
          <a:prstGeom prst="rect">
            <a:avLst/>
          </a:prstGeom>
          <a:ln w="12700">
            <a:solidFill>
              <a:srgbClr val="C9D3E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6423916"/>
            <a:ext cx="1179576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11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Screenshots of the project's Streamlit dashboard (src/smartcity/dashboard/app.py) captured on 21 Oct 2026; every number on them is read from committed result files. Live NYC feeds were not reachable from the capture machine, so no LIVE view is shown.</a:t>
            </a:r>
          </a:p>
        </p:txBody>
      </p:sp>
      <p:sp>
        <p:nvSpPr>
          <p:cNvPr id="8" name="Dashboard notes"/>
          <p:cNvSpPr/>
          <p:nvPr/>
        </p:nvSpPr>
        <p:spPr>
          <a:xfrm>
            <a:off x="6583680" y="1984248"/>
            <a:ext cx="5715000" cy="4370832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 bIns="164592" wrap="square"/>
          <a:lstStyle/>
          <a:p>
            <a:pPr algn="l" marL="0" indent="0">
              <a:spcAft>
                <a:spcPts val="800"/>
              </a:spcAft>
              <a:buNone/>
            </a:pPr>
            <a:r>
              <a:rPr sz="17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What the dashboard shows, and what it does not</a:t>
            </a:r>
          </a:p>
          <a:p>
            <a:pPr algn="l" marL="27432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The SUMO page states the first 45-run comparison is SUPERSEDED and the controller comparison NOT RUN, so it shows no simulated gain.</a:t>
            </a:r>
          </a:p>
          <a:p>
            <a:pPr algn="l" marL="27432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Agent traces end in PENDING_HUMAN_REVIEW, DEFER or REJECT; approval is for simulation only and nothing is sent to real signals.</a:t>
            </a:r>
          </a:p>
          <a:p>
            <a:pPr algn="l" marL="27432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Not captured yet: the Multi-horizon forecast and Traffic map pages need the trained model file and processed data held on the training laptop; they will be captured there for the final version.</a:t>
            </a:r>
          </a:p>
          <a:p>
            <a:pPr algn="l" marL="274320" indent="-228600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The Experiment results page shows the seed-42 runs; the three-seed results are on slide 21.</a:t>
            </a:r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RESULTS &amp; OUTCOMES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795760" cy="3657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14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Held-out test period 6 Sep – 20 Oct 2026, 16 Manhattan links; advisory and retrieval results from the REPLAY workflow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6035040" cy="3657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16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Test MAE (mph): mean ± s.d. over seeds 42, 1 and 2</a:t>
            </a:r>
          </a:p>
        </p:txBody>
      </p:sp>
      <p:graphicFrame>
        <p:nvGraphicFramePr>
          <p:cNvPr id="7" name="Three-seed results"/>
          <p:cNvGraphicFramePr>
            <a:graphicFrameLocks noGrp="1"/>
          </p:cNvGraphicFramePr>
          <p:nvPr/>
        </p:nvGraphicFramePr>
        <p:xfrm>
          <a:off x="502920" y="2423160"/>
          <a:ext cx="60350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1143000"/>
                <a:gridCol w="1143000"/>
                <a:gridCol w="1143000"/>
              </a:tblGrid>
              <a:tr h="41148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  <a:ea typeface="Arial"/>
                        </a:rPr>
                        <a:t>Model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  <a:ea typeface="Arial"/>
                        </a:rPr>
                        <a:t>15 min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  <a:ea typeface="Arial"/>
                        </a:rPr>
                        <a:t>30 min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  <a:ea typeface="Arial"/>
                        </a:rPr>
                        <a:t>60 min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Proposed GATv2–Transformer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4.69 ± 0.06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5.34 ± 0.03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6.15 ± 0.02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GRU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4.67 ± 0.06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5.37 ± 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6.18 ± 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Temporal Transformer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4.72 ± 0.03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5.38 ± 0.03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  <a:cs typeface="Arial"/>
                          <a:ea typeface="Arial"/>
                        </a:rPr>
                        <a:t>6.23 ± 0.08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555F6B"/>
                          </a:solidFill>
                          <a:latin typeface="Arial"/>
                          <a:cs typeface="Arial"/>
                          <a:ea typeface="Arial"/>
                        </a:rPr>
                        <a:t>Proposed, seed 42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555F6B"/>
                          </a:solidFill>
                          <a:latin typeface="Arial"/>
                          <a:cs typeface="Arial"/>
                          <a:ea typeface="Arial"/>
                        </a:rPr>
                        <a:t>4.77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555F6B"/>
                          </a:solidFill>
                          <a:latin typeface="Arial"/>
                          <a:cs typeface="Arial"/>
                          <a:ea typeface="Arial"/>
                        </a:rPr>
                        <a:t>5.33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555F6B"/>
                          </a:solidFill>
                          <a:latin typeface="Arial"/>
                          <a:cs typeface="Arial"/>
                          <a:ea typeface="Arial"/>
                        </a:rPr>
                        <a:t>6.15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555F6B"/>
                          </a:solidFill>
                          <a:latin typeface="Arial"/>
                          <a:cs typeface="Arial"/>
                          <a:ea typeface="Arial"/>
                        </a:rPr>
                        <a:t>Persistence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555F6B"/>
                          </a:solidFill>
                          <a:latin typeface="Arial"/>
                          <a:cs typeface="Arial"/>
                          <a:ea typeface="Arial"/>
                        </a:rPr>
                        <a:t>5.14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555F6B"/>
                          </a:solidFill>
                          <a:latin typeface="Arial"/>
                          <a:cs typeface="Arial"/>
                          <a:ea typeface="Arial"/>
                        </a:rPr>
                        <a:t>6.06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555F6B"/>
                          </a:solidFill>
                          <a:latin typeface="Arial"/>
                          <a:cs typeface="Arial"/>
                          <a:ea typeface="Arial"/>
                        </a:rPr>
                        <a:t>7.29</a:t>
                      </a:r>
                    </a:p>
                  </a:txBody>
                  <a:tcPr anchor="ctr">
                    <a:solidFill>
                      <a:srgbClr val="E4EC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983480"/>
            <a:ext cx="6035040" cy="17373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40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Paired day-block bootstrap (44 test days): the proposed model is lower than the temporal Transformer at every horizon (0.035 / 0.037 / 0.080 mph) and than the GRU at 30 and 60 min (0.032 / 0.031); the GRU is lower at 15 min (0.021). All intervals exclude zero, but with three seeds the advantage is small, not decisive.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555F6B"/>
                </a:solidFill>
                <a:latin typeface="Arial"/>
                <a:cs typeface="Arial"/>
                <a:ea typeface="Arial"/>
              </a:rPr>
              <a:t>Source: reports/experiments/multi_seed_summary.csv (nine GPU runs, 21 Oct 2026).</a:t>
            </a:r>
          </a:p>
        </p:txBody>
      </p:sp>
      <p:sp>
        <p:nvSpPr>
          <p:cNvPr id="9" name="Result 1"/>
          <p:cNvSpPr/>
          <p:nvPr/>
        </p:nvSpPr>
        <p:spPr>
          <a:xfrm>
            <a:off x="6858000" y="2011680"/>
            <a:ext cx="2606040" cy="1344168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20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7–16 %</a:t>
            </a:r>
          </a:p>
          <a:p>
            <a:pPr algn="ctr" marL="0" indent="0">
              <a:spcAft>
                <a:spcPts val="30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lower MAE than persistence (seed 42 run)</a:t>
            </a:r>
          </a:p>
        </p:txBody>
      </p:sp>
      <p:sp>
        <p:nvSpPr>
          <p:cNvPr id="10" name="Result 2"/>
          <p:cNvSpPr/>
          <p:nvPr/>
        </p:nvSpPr>
        <p:spPr>
          <a:xfrm>
            <a:off x="9601200" y="2011680"/>
            <a:ext cx="2606040" cy="1344168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20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0.91 / 0.91 / 0.90</a:t>
            </a:r>
          </a:p>
          <a:p>
            <a:pPr algn="ctr" marL="0" indent="0">
              <a:spcAft>
                <a:spcPts val="30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coverage of the 90 % conformal intervals; 0.76–0.80 under congestion</a:t>
            </a:r>
          </a:p>
        </p:txBody>
      </p:sp>
      <p:sp>
        <p:nvSpPr>
          <p:cNvPr id="11" name="Result 3"/>
          <p:cNvSpPr/>
          <p:nvPr/>
        </p:nvSpPr>
        <p:spPr>
          <a:xfrm>
            <a:off x="6858000" y="3493008"/>
            <a:ext cx="2606040" cy="1344168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20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15–22 %</a:t>
            </a:r>
          </a:p>
          <a:p>
            <a:pPr algn="ctr" marL="0" indent="0">
              <a:spcAft>
                <a:spcPts val="30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lower MAE on forecasts the reliability gate keeps (≈26 % deferred)</a:t>
            </a:r>
          </a:p>
        </p:txBody>
      </p:sp>
      <p:sp>
        <p:nvSpPr>
          <p:cNvPr id="12" name="Result 4"/>
          <p:cNvSpPr/>
          <p:nvPr/>
        </p:nvSpPr>
        <p:spPr>
          <a:xfrm>
            <a:off x="9601200" y="3493008"/>
            <a:ext cx="2606040" cy="1344168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20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24 / 24</a:t>
            </a:r>
          </a:p>
          <a:p>
            <a:pPr algn="ctr" marL="0" indent="0">
              <a:spcAft>
                <a:spcPts val="30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local-LLM responses schema-valid over two workflow passes (qwen2.5 7B)</a:t>
            </a:r>
          </a:p>
        </p:txBody>
      </p:sp>
      <p:sp>
        <p:nvSpPr>
          <p:cNvPr id="13" name="Result 5"/>
          <p:cNvSpPr/>
          <p:nvPr/>
        </p:nvSpPr>
        <p:spPr>
          <a:xfrm>
            <a:off x="6858000" y="4974336"/>
            <a:ext cx="2606040" cy="1344168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20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3 of 3 → 0 of 9</a:t>
            </a:r>
          </a:p>
          <a:p>
            <a:pPr algn="ctr" marL="0" indent="0">
              <a:spcAft>
                <a:spcPts val="30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advisories citing non-existent evidence, without vs with retrieval</a:t>
            </a:r>
          </a:p>
        </p:txBody>
      </p:sp>
      <p:sp>
        <p:nvSpPr>
          <p:cNvPr id="14" name="Result 6"/>
          <p:cNvSpPr/>
          <p:nvPr/>
        </p:nvSpPr>
        <p:spPr>
          <a:xfrm>
            <a:off x="9601200" y="4974336"/>
            <a:ext cx="2606040" cy="1344168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20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19</a:t>
            </a:r>
          </a:p>
          <a:p>
            <a:pPr algn="ctr" marL="0" indent="0">
              <a:spcAft>
                <a:spcPts val="30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workflow runs per pass: 7 pending human review, 5 rejected by safety checks, 7 deferred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79576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0" indent="0">
              <a:spcAft>
                <a:spcPts val="0"/>
              </a:spcAft>
              <a:buNone/>
            </a:pPr>
            <a:r>
              <a:rPr sz="1200" b="1" i="0">
                <a:solidFill>
                  <a:srgbClr val="1F497D"/>
                </a:solidFill>
                <a:latin typeface="Arial"/>
                <a:cs typeface="Arial"/>
                <a:ea typeface="Arial"/>
              </a:rPr>
              <a:t>Also measured: </a:t>
            </a:r>
            <a:r>
              <a:rPr sz="12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removing the availability-aware gate raises MAE by 0.067 mph (95 % CI 0.048–0.086); removing operational weather features lowers it by 0.046 mph (a negative result). No simulated controller gain is claimed: the SUMO testbed fails its own baseline test (5.8 vs 10.95 mph).</a:t>
            </a:r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RESULTS &amp; OUTCOMES (CONTD.)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22</a:t>
            </a:fld>
            <a:endParaRPr lang="en-US"/>
          </a:p>
        </p:txBody>
      </p:sp>
      <p:sp>
        <p:nvSpPr>
          <p:cNvPr id="5" name="Implemented and verified header"/>
          <p:cNvSpPr/>
          <p:nvPr/>
        </p:nvSpPr>
        <p:spPr>
          <a:xfrm>
            <a:off x="502920" y="1691640"/>
            <a:ext cx="3749039" cy="45720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Implemented and verified</a:t>
            </a:r>
          </a:p>
        </p:txBody>
      </p:sp>
      <p:sp>
        <p:nvSpPr>
          <p:cNvPr id="6" name="Implemented and verified"/>
          <p:cNvSpPr/>
          <p:nvPr/>
        </p:nvSpPr>
        <p:spPr>
          <a:xfrm>
            <a:off x="502920" y="2240280"/>
            <a:ext cx="3749039" cy="44805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37160" wrap="square"/>
          <a:lstStyle/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Real-data pipeline on NYC DOT speeds, 1 Jan – 20 Oct 2026, with provenance hashes</a:t>
            </a:r>
          </a:p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Seven forecasting models on identical targets; three-seed study of the deep models; ablations</a:t>
            </a:r>
          </a:p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Conformal intervals, reliability gate and grouped SHAP on the trained model</a:t>
            </a:r>
          </a:p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FAISS retrieval over 15 approved documents; local LLM with schema validation</a:t>
            </a:r>
          </a:p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LangGraph workflow with 13 deterministic safety checks</a:t>
            </a:r>
          </a:p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FastAPI, PostGIS jobs, Streamlit, MLflow, Docker Compose</a:t>
            </a:r>
          </a:p>
        </p:txBody>
      </p:sp>
      <p:sp>
        <p:nvSpPr>
          <p:cNvPr id="7" name="Partial or not run header"/>
          <p:cNvSpPr/>
          <p:nvPr/>
        </p:nvSpPr>
        <p:spPr>
          <a:xfrm>
            <a:off x="4498848" y="1691640"/>
            <a:ext cx="3749039" cy="457200"/>
          </a:xfrm>
          <a:prstGeom prst="roundRect">
            <a:avLst>
              <a:gd name="adj" fmla="val 8000"/>
            </a:avLst>
          </a:prstGeom>
          <a:solidFill>
            <a:srgbClr val="B2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Partial or not run</a:t>
            </a:r>
          </a:p>
        </p:txBody>
      </p:sp>
      <p:sp>
        <p:nvSpPr>
          <p:cNvPr id="8" name="Partial or not run"/>
          <p:cNvSpPr/>
          <p:nvPr/>
        </p:nvSpPr>
        <p:spPr>
          <a:xfrm>
            <a:off x="4498848" y="2240280"/>
            <a:ext cx="3749039" cy="44805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37160" wrap="square"/>
          <a:lstStyle/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SUMO controller comparison NOT RUN; the first 45-run comparison is superseded</a:t>
            </a:r>
          </a:p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No real advisory has reached the simulation gate (the LLM chose monitor-only in both passes)</a:t>
            </a:r>
          </a:p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Only three seeds; the proposed model is not bit-reproducible on GPU at a fixed seed</a:t>
            </a:r>
          </a:p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Road graph is sparse: 26 nodes, 16 edges</a:t>
            </a:r>
          </a:p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Intervals under-cover congested periods</a:t>
            </a:r>
          </a:p>
        </p:txBody>
      </p:sp>
      <p:sp>
        <p:nvSpPr>
          <p:cNvPr id="9" name="Outcomes and next steps header"/>
          <p:cNvSpPr/>
          <p:nvPr/>
        </p:nvSpPr>
        <p:spPr>
          <a:xfrm>
            <a:off x="8494776" y="1691640"/>
            <a:ext cx="3749039" cy="457200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rial"/>
                <a:cs typeface="Arial"/>
                <a:ea typeface="Arial"/>
              </a:rPr>
              <a:t>Outcomes and next steps</a:t>
            </a:r>
          </a:p>
        </p:txBody>
      </p:sp>
      <p:sp>
        <p:nvSpPr>
          <p:cNvPr id="10" name="Outcomes and next steps"/>
          <p:cNvSpPr/>
          <p:nvPr/>
        </p:nvSpPr>
        <p:spPr>
          <a:xfrm>
            <a:off x="8494776" y="2240280"/>
            <a:ext cx="3749039" cy="4480560"/>
          </a:xfrm>
          <a:prstGeom prst="roundRect">
            <a:avLst>
              <a:gd name="adj" fmla="val 8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37160" wrap="square"/>
          <a:lstStyle/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IEEE conference paper (LaTeX and Word), every claim traced in the claims ledger</a:t>
            </a:r>
          </a:p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GitHub repository with tests, runbooks and result files</a:t>
            </a:r>
          </a:p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Next: calibrate West St signal timing to 10.95 mph or obtain NYC DOT timing plans, then run the comparison</a:t>
            </a:r>
          </a:p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Next: more seeds without the compute budget</a:t>
            </a:r>
          </a:p>
          <a:p>
            <a:pPr algn="l" marL="274320" indent="-228600">
              <a:spcAft>
                <a:spcPts val="7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  <a:cs typeface="Arial"/>
                <a:ea typeface="Arial"/>
              </a:rPr>
              <a:t>Next: paper submission</a:t>
            </a:r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GB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704320" cy="489204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 marL="0" indent="0">
              <a:spcAft>
                <a:spcPts val="5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[1] Y. Li, R. Yu, C. Shahabi, and Y. Liu, “Diffusion convolutional recurrent neural network: Data-driven traffic forecasting,” in Proc. ICLR, 2018.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[2] B. Yu, H. Yin, and Z. Zhu, “Spatio-temporal graph convolutional networks: A deep learning framework for traffic forecasting,” in Proc. IJCAI, 2018, pp. 3634–3640.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[3] Z. Wu, S. Pan, G. Long, J. Jiang, and C. Zhang, “Graph WaveNet for deep spatial-temporal graph modeling,” in Proc. IJCAI, 2019, pp. 1907–1913.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[4] P. Lewis et al., “Retrieval-augmented generation for knowledge-intensive NLP tasks,” in Proc. NeurIPS, 2020.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[5] P. A. Lopez et al., “Microscopic traffic simulation using SUMO,” in Proc. IEEE ITSC, 2018, pp. 2575–2582.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[6] S. Brody, U. Alon, and E. Yahav, “How attentive are graph attention networks?,” in Proc. ICLR, 2022.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[7] A. N. Angelopoulos and S. Bates, “A gentle introduction to conformal prediction and distribution-free uncertainty quantification,” arXiv:2107.07511, 2021.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[8] C. Xu and Y. Xie, “Conformal prediction interval for dynamic time-series,” in Proc. ICML, PMLR vol. 139, 2021, pp. 11559–11569.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[9] S. M. Lundberg and S.-I. Lee, “A unified approach to interpreting model predictions,” in Proc. NeurIPS, 2017.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[10] B. Rozemberczki et al., “PyTorch Geometric Temporal: Spatiotemporal signal processing with neural machine learning models,” in Proc. ACM CIKM, 2021, pp. 4564–4573.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[11] NYC Department of Transportation, “DOT Traffic Speeds NBE,” NYC Open Data, dataset i4gi-tjb9, accessed Oct. 2026.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Times New Roman"/>
                <a:cs typeface="Times New Roman"/>
                <a:ea typeface="Times New Roman"/>
              </a:rPr>
              <a:t>[12] NYC Department of Transportation, “Automated Traffic Volume Counts,” NYC Open Data, dataset 7ym2-wayt, accessed Oct. 2026.</a:t>
            </a:r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15877</TotalTime>
  <Words>376</Words>
  <Application>Microsoft Office PowerPoint</Application>
  <PresentationFormat>Custom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&lt;&lt;PROJECT TITLE **ARIAL FONT SIZE 40**&gt;&gt;</vt:lpstr>
      <vt:lpstr>CONTENTS</vt:lpstr>
      <vt:lpstr>1.ABSTRACT</vt:lpstr>
      <vt:lpstr>2. INTRODUCTION</vt:lpstr>
      <vt:lpstr>3.LITERATURE SURVEY</vt:lpstr>
      <vt:lpstr>4. RESEARCH GAPS</vt:lpstr>
      <vt:lpstr>5. OBJECTIVES</vt:lpstr>
      <vt:lpstr>6. RESEARCH WORK DONE</vt:lpstr>
      <vt:lpstr>MODULE IDENTIFICATION</vt:lpstr>
      <vt:lpstr>SYSTEM ARCHITECTURE</vt:lpstr>
      <vt:lpstr>DEVELOPMENT &amp; INTEGRATION</vt:lpstr>
      <vt:lpstr>PROTOTYPE / RESEARCH FRAMEWORK</vt:lpstr>
      <vt:lpstr>7. CONCLUSIONS</vt:lpstr>
      <vt:lpstr>8. OUTCOME</vt:lpstr>
      <vt:lpstr>9. TIMELINE / GANTT CHART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Saravana Rajendran</cp:lastModifiedBy>
  <cp:revision>136</cp:revision>
  <dcterms:created xsi:type="dcterms:W3CDTF">2020-07-13T09:49:45Z</dcterms:created>
  <dcterms:modified xsi:type="dcterms:W3CDTF">2026-09-26T07:05:43Z</dcterms:modified>
</cp:coreProperties>
</file>